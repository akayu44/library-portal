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5E6B63"/>
                </a:solidFill>
              </a:rPr>
              <a:t>Тестов на лабораторную</a:t>
            </a:r>
          </a:p>
        </c:rich>
      </c:tx>
      <c:layout/>
      <c:overlay val="0"/>
    </c:title>
    <c:autoTitleDeleted val="0"/>
    <c:plotArea>
      <c:barChart>
        <c:barDir val="col"/>
        <c:grouping val="clustered"/>
        <c:ser>
          <c:idx val="0"/>
          <c:order val="0"/>
          <c:tx>
            <c:strRef>
              <c:f>Sheet1!$B$1</c:f>
              <c:strCache>
                <c:ptCount val="1"/>
                <c:pt idx="0">
                  <c:v>Тесты</c:v>
                </c:pt>
              </c:strCache>
            </c:strRef>
          </c:tx>
          <c:spPr>
            <a:solidFill>
              <a:srgbClr val="6DB33F"/>
            </a:solidFill>
          </c:spPr>
          <c:cat>
            <c:strRef>
              <c:f>Sheet1!$A$2:$A$7</c:f>
              <c:strCache>
                <c:ptCount val="6"/>
                <c:pt idx="0">
                  <c:v>Лаб. 1</c:v>
                </c:pt>
                <c:pt idx="1">
                  <c:v>Лаб. 2</c:v>
                </c:pt>
                <c:pt idx="2">
                  <c:v>Лаб. 3</c:v>
                </c:pt>
                <c:pt idx="3">
                  <c:v>Лаб. 4</c:v>
                </c:pt>
                <c:pt idx="4">
                  <c:v>Лаб. 5</c:v>
                </c:pt>
                <c:pt idx="5">
                  <c:v>Лаб. 6</c:v>
                </c:pt>
              </c:strCache>
            </c:strRef>
          </c:cat>
          <c:val>
            <c:numRef>
              <c:f>Sheet1!$B$2:$B$7</c:f>
              <c:numCache>
                <c:formatCode>General</c:formatCode>
                <c:ptCount val="6"/>
                <c:pt idx="0">
                  <c:v>1</c:v>
                </c:pt>
                <c:pt idx="1">
                  <c:v>2</c:v>
                </c:pt>
                <c:pt idx="2">
                  <c:v>2</c:v>
                </c:pt>
                <c:pt idx="3">
                  <c:v>3</c:v>
                </c:pt>
                <c:pt idx="4">
                  <c:v>4</c:v>
                </c:pt>
                <c:pt idx="5">
                  <c:v>5</c:v>
                </c:pt>
              </c:numCache>
            </c:numRef>
          </c:val>
        </c:ser>
        <c:dLbls>
          <c:txPr>
            <a:bodyPr/>
            <a:lstStyle/>
            <a:p>
              <a:pPr>
                <a:defRPr sz="1400" b="1">
                  <a:solidFill>
                    <a:srgbClr val="142B2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9D8C0"/>
            </a:solidFill>
          </a:ln>
        </c:spPr>
        <c:txPr>
          <a:bodyPr/>
          <a:lstStyle/>
          <a:p>
            <a:pPr>
              <a:defRPr sz="1300">
                <a:solidFill>
                  <a:srgbClr val="5E6B63"/>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Здравствуйте. Я представляю итоговый учебный проект по дисциплине «Разработка веб-приложений на Spring». Это одно приложение — каталог библиотеки, — в котором собраны темы и индивидуальные варианты всех шести лабораторных работ.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лабораторные делались в одном репозитории spring-lab-01, но каждая — отдельной веткой и отдельной демонстрацией. В итоговом проекте они превращены в слои одного каталога библиотеки: REST и MVC — это вход, IoC — сборка, конфигурация — параметры, AOP — сквозная функциональность, формы — пользовательский интерфейс. Всё работает на одном BookService, и каждый эксперимент из отчётов воспроизводится автоматическим тестом.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Запрос попадает в DispatcherServlet. LocaleChangeInterceptor из шестой лабораторной выбирает язык. REST-контроллеры из первой, третьей и пятой лабораторных возвращают JSON, страничный контроллер — имя шаблона Thymeleaf. Ошибки разводятся двумя ControllerAdvice. Ниже — CGLIB-прокси BookService, через который проходят четыре аспекта из четвёртой. Сам сервис использует репозиторий, уведомления из второй и кэш цитат, параметры которого задаёт конфигурация из третьей лабораторной.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Первая лабораторная — окружение и первый проект. В итоговом проекте от неё остались parent POM, стартер webmvc, DevTools, Maven Wrapper и HelloController. Индивидуальный вариант 7 — эндпоинт wordcount: он считает слова, символы и находит самое длинное слово. Если параметр не передан, defaultValue равен пустой строке, поэтому ответ — нули, а не ошибка 400.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Вторая лабораторная — IoC-контейнер. Есть интерфейс Notifier и четыре реализации. Email помечен Primary, noop — Fallback, порядок в списке задаёт Order. NotificationService получает их всеми способами: через Primary, Qualifier, List и Map. Вариант 8 — HtmlNotifier, который экранирует угловые скобки. В итоговом проекте это не демо: при добавлении книги сервис рассылает уведомление через Primary-бин. Также есть @Bean для DateTimeFormatter, жизненный цикл и prototype-бин Ticket через ObjectProvider.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лабораторная — внешняя конфигурация. application.yml общий, dev и prod переопределяют значения. AppProperties — это record с ConfigurationProperties и Validated: если задать retry-count 99, приложение не стартует. EnvironmentBanner показывает, что для любой комбинации профилей существует ровно один бин. Вариант 7 — app.cache. В отчёте он только выводился в JSON, а здесь CitationCache реально кэширует цитаты по ttl и max-entries. Приоритет: командная строка выше системного свойства, выше переменной окружения, выше файлов.</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Четвёртая лабораторная — AOP. Pointcuts — библиотека именованных срезов: публичные методы пакета service. Аспекты упорядочены: аудит снаружи, затем логирование, затем замер времени. Аудит работает только для методов с аннотацией Audited. Сервис — CGLIB-прокси, это видно на /api/system/proxy. Самовызов: если deleteBulk вызывает this.delete, аудита нет; через self — по записи на каждый id. Вариант 8 — трассировка вызовов: вызов citation, внутри которого CitationCache.get, даёт реальный вложенный отступ.</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Пятую лабораторную выполнял мой напарник Бекбаев Гибрат; в итоговом проекте она стала основой каталога. Доменный record Book, in-memory репозиторий, сервис, REST-контроллер с пятью операциями и страничный контроллер с Thymeleaf. Важный эксперимент — коды ответа: каждый из 400, 404, 405, 415, 406 указывает, какая часть сопоставления не совпала. Вариант 6 — цитата в text/plain; при Accept application/json — 406.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Шестая лабораторная — формы. BookForm — отдельный изменяемый класс без id, это защита от mass assignment. Путь сообщения об ошибке: биндер заполняет форму, Valid запускает Hibernate Validator, ключ из фигурных скобок разрешается через MessageSource для текущей локали, ошибка попадает в BindingResult, контроллер возвращает форму, а th:errors выводит текст. Своё ограничение NoDigits, две ControllerAdvice для страниц и API. Вариант 7 — дата публикации, формат которой зависит от языка. В итоговом проекте те же ограничения проверяют и JSON в REST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Главное отличие итогового проекта от набора лабораторных — связи. Конфигурация управляет уведомлениями и кэшем. Аспекты оборачивают все операции каталога. Валидация из шестой лабораторной защищает и REST API, а IllegalArgumentException из четвёртой теперь превращается в 400, а не в 500.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защита не зависела от скриншотов, все эксперименты из отчётов оформлены как интеграционные тесты MockMvc. Их 17, они проверяют коды ответа, ошибки валидации, русские сообщения, прокси, самовызов, профиль dev. Команда mvnw test — и всё зелёное.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Демонстрация занимает около пяти минут. Сначала тесты, затем стартовая страница с карточками по лабораторным, форма на русском с ошибками, корректное добавление книги и лог аспектов в консоли, эксперимент с самовызовом, две разные 404 и перезапуск с профилем dev.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собраны самые частые вопросы по всем лабораторным. Полный список с ответами — в docs/DEFENSE.md.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шесть лабораторных работ собраны в одно работающее приложение, где каждая тема — слой системы, индивидуальные варианты реализованы и связаны между собой, а эксперименты проверяются тестами. Спасибо за внимание, готов ответить на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B22"/>
        </a:solidFill>
        <a:effectLst/>
      </p:bgPr>
    </p:bg>
    <p:spTree>
      <p:nvGrpSpPr>
        <p:cNvPr id="1" name=""/>
        <p:cNvGrpSpPr/>
        <p:nvPr/>
      </p:nvGrpSpPr>
      <p:grpSpPr/>
      <p:sp>
        <p:nvSpPr>
          <p:cNvPr id="2" name="Oval 1"/>
          <p:cNvSpPr/>
          <p:nvPr/>
        </p:nvSpPr>
        <p:spPr>
          <a:xfrm>
            <a:off x="822960" y="1188720"/>
            <a:ext cx="822960" cy="8229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3000">
                <a:solidFill>
                  <a:srgbClr val="FFFFFF"/>
                </a:solidFill>
                <a:latin typeface="Cambria"/>
              </a:rPr>
              <a:t>6</a:t>
            </a:r>
          </a:p>
        </p:txBody>
      </p:sp>
      <p:sp>
        <p:nvSpPr>
          <p:cNvPr id="3" name="TextBox 2"/>
          <p:cNvSpPr txBox="1"/>
          <p:nvPr/>
        </p:nvSpPr>
        <p:spPr>
          <a:xfrm>
            <a:off x="822960" y="2240280"/>
            <a:ext cx="10515600" cy="1097280"/>
          </a:xfrm>
          <a:prstGeom prst="rect">
            <a:avLst/>
          </a:prstGeom>
          <a:noFill/>
        </p:spPr>
        <p:txBody>
          <a:bodyPr wrap="square" anchor="t" lIns="0" rIns="0" tIns="0" bIns="0">
            <a:spAutoFit/>
          </a:bodyPr>
          <a:lstStyle/>
          <a:p>
            <a:pPr algn="l">
              <a:spcAft>
                <a:spcPts val="0"/>
              </a:spcAft>
            </a:pPr>
            <a:r>
              <a:rPr sz="6000" b="1" i="0">
                <a:solidFill>
                  <a:srgbClr val="FFFFFF"/>
                </a:solidFill>
                <a:latin typeface="Cambria"/>
              </a:rPr>
              <a:t>Library Portal</a:t>
            </a:r>
          </a:p>
        </p:txBody>
      </p:sp>
      <p:sp>
        <p:nvSpPr>
          <p:cNvPr id="4" name="TextBox 3"/>
          <p:cNvSpPr txBox="1"/>
          <p:nvPr/>
        </p:nvSpPr>
        <p:spPr>
          <a:xfrm>
            <a:off x="822960" y="3337560"/>
            <a:ext cx="10515600" cy="731520"/>
          </a:xfrm>
          <a:prstGeom prst="rect">
            <a:avLst/>
          </a:prstGeom>
          <a:noFill/>
        </p:spPr>
        <p:txBody>
          <a:bodyPr wrap="square" anchor="t" lIns="0" rIns="0" tIns="0" bIns="0">
            <a:spAutoFit/>
          </a:bodyPr>
          <a:lstStyle/>
          <a:p>
            <a:pPr algn="l">
              <a:spcAft>
                <a:spcPts val="0"/>
              </a:spcAft>
            </a:pPr>
            <a:r>
              <a:rPr sz="2400" b="0" i="0">
                <a:solidFill>
                  <a:srgbClr val="D8F0C8"/>
                </a:solidFill>
                <a:latin typeface="Calibri"/>
              </a:rPr>
              <a:t>Итоговый учебный проект: шесть лабораторных работ — одно Spring Boot приложение</a:t>
            </a:r>
          </a:p>
        </p:txBody>
      </p:sp>
      <p:sp>
        <p:nvSpPr>
          <p:cNvPr id="5" name="TextBox 4"/>
          <p:cNvSpPr txBox="1"/>
          <p:nvPr/>
        </p:nvSpPr>
        <p:spPr>
          <a:xfrm>
            <a:off x="822960" y="4754880"/>
            <a:ext cx="7315200" cy="1280160"/>
          </a:xfrm>
          <a:prstGeom prst="rect">
            <a:avLst/>
          </a:prstGeom>
          <a:noFill/>
        </p:spPr>
        <p:txBody>
          <a:bodyPr wrap="square" anchor="t" lIns="0" rIns="0" tIns="0" bIns="0">
            <a:spAutoFit/>
          </a:bodyPr>
          <a:lstStyle/>
          <a:p>
            <a:pPr algn="l">
              <a:spcAft>
                <a:spcPts val="400"/>
              </a:spcAft>
            </a:pPr>
            <a:r>
              <a:rPr sz="1600" b="1" i="0">
                <a:solidFill>
                  <a:srgbClr val="FFFFFF"/>
                </a:solidFill>
                <a:latin typeface="Calibri"/>
              </a:rPr>
              <a:t>Бектурсын Куат</a:t>
            </a:r>
          </a:p>
          <a:p>
            <a:pPr algn="l">
              <a:spcAft>
                <a:spcPts val="400"/>
              </a:spcAft>
            </a:pPr>
            <a:r>
              <a:rPr sz="1600" b="0" i="0">
                <a:solidFill>
                  <a:srgbClr val="D8F0C8"/>
                </a:solidFill>
                <a:latin typeface="Calibri"/>
              </a:rPr>
              <a:t>Группа IT1-2409IS  ·  RWPSF 3305 — Web Application Development with Spring Framework</a:t>
            </a:r>
          </a:p>
          <a:p>
            <a:pPr algn="l">
              <a:spcAft>
                <a:spcPts val="400"/>
              </a:spcAft>
            </a:pPr>
            <a:r>
              <a:rPr sz="1600" b="0" i="0">
                <a:solidFill>
                  <a:srgbClr val="D8F0C8"/>
                </a:solidFill>
                <a:latin typeface="Calibri"/>
              </a:rPr>
              <a:t>IITU, Алматы, 2026</a:t>
            </a:r>
          </a:p>
        </p:txBody>
      </p:sp>
      <p:sp>
        <p:nvSpPr>
          <p:cNvPr id="6" name="TextBox 5"/>
          <p:cNvSpPr txBox="1"/>
          <p:nvPr/>
        </p:nvSpPr>
        <p:spPr>
          <a:xfrm>
            <a:off x="8138160" y="5715000"/>
            <a:ext cx="3474720" cy="365760"/>
          </a:xfrm>
          <a:prstGeom prst="rect">
            <a:avLst/>
          </a:prstGeom>
          <a:noFill/>
        </p:spPr>
        <p:txBody>
          <a:bodyPr wrap="square" anchor="t" lIns="0" rIns="0" tIns="0" bIns="0">
            <a:spAutoFit/>
          </a:bodyPr>
          <a:lstStyle/>
          <a:p>
            <a:pPr algn="r">
              <a:spcAft>
                <a:spcPts val="0"/>
              </a:spcAft>
            </a:pPr>
            <a:r>
              <a:rPr sz="1400" b="0" i="0">
                <a:solidFill>
                  <a:srgbClr val="6DB33F"/>
                </a:solidFill>
                <a:latin typeface="Calibri"/>
              </a:rPr>
              <a:t>github.com/AkAyu44/library-portal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Идея: шесть лабораторных как шесть слоёв</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2</a:t>
            </a:r>
          </a:p>
        </p:txBody>
      </p:sp>
      <p:sp>
        <p:nvSpPr>
          <p:cNvPr id="5" name="Rounded Rectangle 4"/>
          <p:cNvSpPr/>
          <p:nvPr/>
        </p:nvSpPr>
        <p:spPr>
          <a:xfrm>
            <a:off x="548640" y="1508760"/>
            <a:ext cx="2587752" cy="205740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2587752" cy="1005840"/>
          </a:xfrm>
          <a:prstGeom prst="rect">
            <a:avLst/>
          </a:prstGeom>
          <a:noFill/>
        </p:spPr>
        <p:txBody>
          <a:bodyPr wrap="square" anchor="t" lIns="0" rIns="0" tIns="0" bIns="0">
            <a:spAutoFit/>
          </a:bodyPr>
          <a:lstStyle/>
          <a:p>
            <a:pPr algn="ctr">
              <a:spcAft>
                <a:spcPts val="0"/>
              </a:spcAft>
            </a:pPr>
            <a:r>
              <a:rPr sz="6000" b="1" i="0">
                <a:solidFill>
                  <a:srgbClr val="6DB33F"/>
                </a:solidFill>
                <a:latin typeface="Cambria"/>
              </a:rPr>
              <a:t>6</a:t>
            </a:r>
          </a:p>
        </p:txBody>
      </p:sp>
      <p:sp>
        <p:nvSpPr>
          <p:cNvPr id="7" name="TextBox 6"/>
          <p:cNvSpPr txBox="1"/>
          <p:nvPr/>
        </p:nvSpPr>
        <p:spPr>
          <a:xfrm>
            <a:off x="685800" y="2697480"/>
            <a:ext cx="2313432" cy="777240"/>
          </a:xfrm>
          <a:prstGeom prst="rect">
            <a:avLst/>
          </a:prstGeom>
          <a:noFill/>
        </p:spPr>
        <p:txBody>
          <a:bodyPr wrap="square" anchor="t" lIns="0" rIns="0" tIns="0" bIns="0">
            <a:spAutoFit/>
          </a:bodyPr>
          <a:lstStyle/>
          <a:p>
            <a:pPr algn="ctr">
              <a:spcAft>
                <a:spcPts val="0"/>
              </a:spcAft>
            </a:pPr>
            <a:r>
              <a:rPr sz="1400" b="0" i="0">
                <a:solidFill>
                  <a:srgbClr val="1D2621"/>
                </a:solidFill>
                <a:latin typeface="Calibri"/>
              </a:rPr>
              <a:t>лабораторных работ
в одном приложении</a:t>
            </a:r>
          </a:p>
        </p:txBody>
      </p:sp>
      <p:sp>
        <p:nvSpPr>
          <p:cNvPr id="8" name="Rounded Rectangle 7"/>
          <p:cNvSpPr/>
          <p:nvPr/>
        </p:nvSpPr>
        <p:spPr>
          <a:xfrm>
            <a:off x="3364992" y="1508760"/>
            <a:ext cx="2587752" cy="205740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4992" y="1645920"/>
            <a:ext cx="2587752" cy="1005840"/>
          </a:xfrm>
          <a:prstGeom prst="rect">
            <a:avLst/>
          </a:prstGeom>
          <a:noFill/>
        </p:spPr>
        <p:txBody>
          <a:bodyPr wrap="square" anchor="t" lIns="0" rIns="0" tIns="0" bIns="0">
            <a:spAutoFit/>
          </a:bodyPr>
          <a:lstStyle/>
          <a:p>
            <a:pPr algn="ctr">
              <a:spcAft>
                <a:spcPts val="0"/>
              </a:spcAft>
            </a:pPr>
            <a:r>
              <a:rPr sz="6000" b="1" i="0">
                <a:solidFill>
                  <a:srgbClr val="6DB33F"/>
                </a:solidFill>
                <a:latin typeface="Cambria"/>
              </a:rPr>
              <a:t>17</a:t>
            </a:r>
          </a:p>
        </p:txBody>
      </p:sp>
      <p:sp>
        <p:nvSpPr>
          <p:cNvPr id="10" name="TextBox 9"/>
          <p:cNvSpPr txBox="1"/>
          <p:nvPr/>
        </p:nvSpPr>
        <p:spPr>
          <a:xfrm>
            <a:off x="3502152" y="2697480"/>
            <a:ext cx="2313432" cy="777240"/>
          </a:xfrm>
          <a:prstGeom prst="rect">
            <a:avLst/>
          </a:prstGeom>
          <a:noFill/>
        </p:spPr>
        <p:txBody>
          <a:bodyPr wrap="square" anchor="t" lIns="0" rIns="0" tIns="0" bIns="0">
            <a:spAutoFit/>
          </a:bodyPr>
          <a:lstStyle/>
          <a:p>
            <a:pPr algn="ctr">
              <a:spcAft>
                <a:spcPts val="0"/>
              </a:spcAft>
            </a:pPr>
            <a:r>
              <a:rPr sz="1400" b="0" i="0">
                <a:solidFill>
                  <a:srgbClr val="1D2621"/>
                </a:solidFill>
                <a:latin typeface="Calibri"/>
              </a:rPr>
              <a:t>интеграционных тестов —
каждый эксперимент</a:t>
            </a:r>
          </a:p>
        </p:txBody>
      </p:sp>
      <p:sp>
        <p:nvSpPr>
          <p:cNvPr id="11" name="Rounded Rectangle 10"/>
          <p:cNvSpPr/>
          <p:nvPr/>
        </p:nvSpPr>
        <p:spPr>
          <a:xfrm>
            <a:off x="6181344" y="1508760"/>
            <a:ext cx="2587752" cy="205740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1645920"/>
            <a:ext cx="2587752" cy="1005840"/>
          </a:xfrm>
          <a:prstGeom prst="rect">
            <a:avLst/>
          </a:prstGeom>
          <a:noFill/>
        </p:spPr>
        <p:txBody>
          <a:bodyPr wrap="square" anchor="t" lIns="0" rIns="0" tIns="0" bIns="0">
            <a:spAutoFit/>
          </a:bodyPr>
          <a:lstStyle/>
          <a:p>
            <a:pPr algn="ctr">
              <a:spcAft>
                <a:spcPts val="0"/>
              </a:spcAft>
            </a:pPr>
            <a:r>
              <a:rPr sz="6000" b="1" i="0">
                <a:solidFill>
                  <a:srgbClr val="6DB33F"/>
                </a:solidFill>
                <a:latin typeface="Cambria"/>
              </a:rPr>
              <a:t>6</a:t>
            </a:r>
          </a:p>
        </p:txBody>
      </p:sp>
      <p:sp>
        <p:nvSpPr>
          <p:cNvPr id="13" name="TextBox 12"/>
          <p:cNvSpPr txBox="1"/>
          <p:nvPr/>
        </p:nvSpPr>
        <p:spPr>
          <a:xfrm>
            <a:off x="6318504" y="2697480"/>
            <a:ext cx="2313432" cy="777240"/>
          </a:xfrm>
          <a:prstGeom prst="rect">
            <a:avLst/>
          </a:prstGeom>
          <a:noFill/>
        </p:spPr>
        <p:txBody>
          <a:bodyPr wrap="square" anchor="t" lIns="0" rIns="0" tIns="0" bIns="0">
            <a:spAutoFit/>
          </a:bodyPr>
          <a:lstStyle/>
          <a:p>
            <a:pPr algn="ctr">
              <a:spcAft>
                <a:spcPts val="0"/>
              </a:spcAft>
            </a:pPr>
            <a:r>
              <a:rPr sz="1400" b="0" i="0">
                <a:solidFill>
                  <a:srgbClr val="1D2621"/>
                </a:solidFill>
                <a:latin typeface="Calibri"/>
              </a:rPr>
              <a:t>индивидуальных вариантов
реализованы</a:t>
            </a:r>
          </a:p>
        </p:txBody>
      </p:sp>
      <p:sp>
        <p:nvSpPr>
          <p:cNvPr id="14" name="Rounded Rectangle 13"/>
          <p:cNvSpPr/>
          <p:nvPr/>
        </p:nvSpPr>
        <p:spPr>
          <a:xfrm>
            <a:off x="8997696" y="1508760"/>
            <a:ext cx="2587752" cy="205740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97696" y="1645920"/>
            <a:ext cx="2587752" cy="1005840"/>
          </a:xfrm>
          <a:prstGeom prst="rect">
            <a:avLst/>
          </a:prstGeom>
          <a:noFill/>
        </p:spPr>
        <p:txBody>
          <a:bodyPr wrap="square" anchor="t" lIns="0" rIns="0" tIns="0" bIns="0">
            <a:spAutoFit/>
          </a:bodyPr>
          <a:lstStyle/>
          <a:p>
            <a:pPr algn="ctr">
              <a:spcAft>
                <a:spcPts val="0"/>
              </a:spcAft>
            </a:pPr>
            <a:r>
              <a:rPr sz="6000" b="1" i="0">
                <a:solidFill>
                  <a:srgbClr val="6DB33F"/>
                </a:solidFill>
                <a:latin typeface="Cambria"/>
              </a:rPr>
              <a:t>1</a:t>
            </a:r>
          </a:p>
        </p:txBody>
      </p:sp>
      <p:sp>
        <p:nvSpPr>
          <p:cNvPr id="16" name="TextBox 15"/>
          <p:cNvSpPr txBox="1"/>
          <p:nvPr/>
        </p:nvSpPr>
        <p:spPr>
          <a:xfrm>
            <a:off x="9134856" y="2697480"/>
            <a:ext cx="2313432" cy="777240"/>
          </a:xfrm>
          <a:prstGeom prst="rect">
            <a:avLst/>
          </a:prstGeom>
          <a:noFill/>
        </p:spPr>
        <p:txBody>
          <a:bodyPr wrap="square" anchor="t" lIns="0" rIns="0" tIns="0" bIns="0">
            <a:spAutoFit/>
          </a:bodyPr>
          <a:lstStyle/>
          <a:p>
            <a:pPr algn="ctr">
              <a:spcAft>
                <a:spcPts val="0"/>
              </a:spcAft>
            </a:pPr>
            <a:r>
              <a:rPr sz="1400" b="0" i="0">
                <a:solidFill>
                  <a:srgbClr val="1D2621"/>
                </a:solidFill>
                <a:latin typeface="Calibri"/>
              </a:rPr>
              <a:t>общий BookService
для всех слоёв</a:t>
            </a:r>
          </a:p>
        </p:txBody>
      </p:sp>
      <p:sp>
        <p:nvSpPr>
          <p:cNvPr id="17" name="TextBox 16"/>
          <p:cNvSpPr txBox="1"/>
          <p:nvPr/>
        </p:nvSpPr>
        <p:spPr>
          <a:xfrm>
            <a:off x="548640" y="3931920"/>
            <a:ext cx="4572000" cy="365760"/>
          </a:xfrm>
          <a:prstGeom prst="rect">
            <a:avLst/>
          </a:prstGeom>
          <a:noFill/>
        </p:spPr>
        <p:txBody>
          <a:bodyPr wrap="square" anchor="t" lIns="0" rIns="0" tIns="0" bIns="0">
            <a:spAutoFit/>
          </a:bodyPr>
          <a:lstStyle/>
          <a:p>
            <a:pPr algn="l">
              <a:spcAft>
                <a:spcPts val="0"/>
              </a:spcAft>
            </a:pPr>
            <a:r>
              <a:rPr sz="2000" b="1" i="0">
                <a:solidFill>
                  <a:srgbClr val="142B22"/>
                </a:solidFill>
                <a:latin typeface="Cambria"/>
              </a:rPr>
              <a:t>Технологии</a:t>
            </a:r>
          </a:p>
        </p:txBody>
      </p:sp>
      <p:sp>
        <p:nvSpPr>
          <p:cNvPr id="18" name="TextBox 17"/>
          <p:cNvSpPr txBox="1"/>
          <p:nvPr/>
        </p:nvSpPr>
        <p:spPr>
          <a:xfrm>
            <a:off x="548640" y="4389120"/>
            <a:ext cx="5303520" cy="1828800"/>
          </a:xfrm>
          <a:prstGeom prst="rect">
            <a:avLst/>
          </a:prstGeom>
          <a:noFill/>
        </p:spPr>
        <p:txBody>
          <a:bodyPr wrap="square" lIns="0" rIns="0" tIns="0" bIns="0">
            <a:spAutoFit/>
          </a:bodyPr>
          <a:lstStyle/>
          <a:p>
            <a:pPr marL="274320" indent="-274320">
              <a:spcAft>
                <a:spcPts val="800"/>
              </a:spcAft>
              <a:buClr>
                <a:srgbClr val="6DB33F"/>
              </a:buClr>
              <a:buFont typeface="Arial"/>
              <a:buChar char="•"/>
            </a:pPr>
            <a:r>
              <a:rPr sz="1500" b="0">
                <a:solidFill>
                  <a:srgbClr val="1D2621"/>
                </a:solidFill>
                <a:latin typeface="Calibri"/>
              </a:rPr>
              <a:t>Java 25, Spring Boot 4.1.1 (Spring Framework 7), Maven 3.9</a:t>
            </a:r>
          </a:p>
          <a:p>
            <a:pPr marL="274320" indent="-274320">
              <a:spcAft>
                <a:spcPts val="800"/>
              </a:spcAft>
              <a:buClr>
                <a:srgbClr val="6DB33F"/>
              </a:buClr>
              <a:buFont typeface="Arial"/>
              <a:buChar char="•"/>
            </a:pPr>
            <a:r>
              <a:rPr sz="1500" b="0">
                <a:solidFill>
                  <a:srgbClr val="1D2621"/>
                </a:solidFill>
                <a:latin typeface="Calibri"/>
              </a:rPr>
              <a:t>Spring MVC + Thymeleaf, Hibernate Validator</a:t>
            </a:r>
          </a:p>
          <a:p>
            <a:pPr marL="274320" indent="-274320">
              <a:spcAft>
                <a:spcPts val="800"/>
              </a:spcAft>
              <a:buClr>
                <a:srgbClr val="6DB33F"/>
              </a:buClr>
              <a:buFont typeface="Arial"/>
              <a:buChar char="•"/>
            </a:pPr>
            <a:r>
              <a:rPr sz="1500" b="0">
                <a:solidFill>
                  <a:srgbClr val="1D2621"/>
                </a:solidFill>
                <a:latin typeface="Calibri"/>
              </a:rPr>
              <a:t>Spring AOP (AspectJ-аннотации), Spring Boot Actuator</a:t>
            </a:r>
          </a:p>
        </p:txBody>
      </p:sp>
      <p:sp>
        <p:nvSpPr>
          <p:cNvPr id="19" name="TextBox 18"/>
          <p:cNvSpPr txBox="1"/>
          <p:nvPr/>
        </p:nvSpPr>
        <p:spPr>
          <a:xfrm>
            <a:off x="6309360" y="3931920"/>
            <a:ext cx="5303520" cy="365760"/>
          </a:xfrm>
          <a:prstGeom prst="rect">
            <a:avLst/>
          </a:prstGeom>
          <a:noFill/>
        </p:spPr>
        <p:txBody>
          <a:bodyPr wrap="square" anchor="t" lIns="0" rIns="0" tIns="0" bIns="0">
            <a:spAutoFit/>
          </a:bodyPr>
          <a:lstStyle/>
          <a:p>
            <a:pPr algn="l">
              <a:spcAft>
                <a:spcPts val="0"/>
              </a:spcAft>
            </a:pPr>
            <a:r>
              <a:rPr sz="2000" b="1" i="0">
                <a:solidFill>
                  <a:srgbClr val="142B22"/>
                </a:solidFill>
                <a:latin typeface="Cambria"/>
              </a:rPr>
              <a:t>Предметная область</a:t>
            </a:r>
          </a:p>
        </p:txBody>
      </p:sp>
      <p:sp>
        <p:nvSpPr>
          <p:cNvPr id="20" name="TextBox 19"/>
          <p:cNvSpPr txBox="1"/>
          <p:nvPr/>
        </p:nvSpPr>
        <p:spPr>
          <a:xfrm>
            <a:off x="6309360" y="4389120"/>
            <a:ext cx="5303520" cy="1828800"/>
          </a:xfrm>
          <a:prstGeom prst="rect">
            <a:avLst/>
          </a:prstGeom>
          <a:noFill/>
        </p:spPr>
        <p:txBody>
          <a:bodyPr wrap="square" lIns="0" rIns="0" tIns="0" bIns="0">
            <a:spAutoFit/>
          </a:bodyPr>
          <a:lstStyle/>
          <a:p>
            <a:pPr marL="274320" indent="-274320">
              <a:spcAft>
                <a:spcPts val="800"/>
              </a:spcAft>
              <a:buClr>
                <a:srgbClr val="6DB33F"/>
              </a:buClr>
              <a:buFont typeface="Arial"/>
              <a:buChar char="•"/>
            </a:pPr>
            <a:r>
              <a:rPr sz="1500" b="0">
                <a:solidFill>
                  <a:srgbClr val="1D2621"/>
                </a:solidFill>
                <a:latin typeface="Calibri"/>
              </a:rPr>
              <a:t>Каталог книг: список, карточка, добавление, удаление</a:t>
            </a:r>
          </a:p>
          <a:p>
            <a:pPr marL="274320" indent="-274320">
              <a:spcAft>
                <a:spcPts val="800"/>
              </a:spcAft>
              <a:buClr>
                <a:srgbClr val="6DB33F"/>
              </a:buClr>
              <a:buFont typeface="Arial"/>
              <a:buChar char="•"/>
            </a:pPr>
            <a:r>
              <a:rPr sz="1500" b="0">
                <a:solidFill>
                  <a:srgbClr val="1D2621"/>
                </a:solidFill>
                <a:latin typeface="Calibri"/>
              </a:rPr>
              <a:t>REST API /api/books и HTML-страницы /books</a:t>
            </a:r>
          </a:p>
          <a:p>
            <a:pPr marL="274320" indent="-274320">
              <a:spcAft>
                <a:spcPts val="800"/>
              </a:spcAft>
              <a:buClr>
                <a:srgbClr val="6DB33F"/>
              </a:buClr>
              <a:buFont typeface="Arial"/>
              <a:buChar char="•"/>
            </a:pPr>
            <a:r>
              <a:rPr sz="1500" b="0">
                <a:solidFill>
                  <a:srgbClr val="1D2621"/>
                </a:solidFill>
                <a:latin typeface="Calibri"/>
              </a:rPr>
              <a:t>Два языка интерфейса — EN и RU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Архитектура: где живёт каждая лабораторная</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3</a:t>
            </a:r>
          </a:p>
        </p:txBody>
      </p:sp>
      <p:sp>
        <p:nvSpPr>
          <p:cNvPr id="5" name="Rounded Rectangle 4"/>
          <p:cNvSpPr/>
          <p:nvPr/>
        </p:nvSpPr>
        <p:spPr>
          <a:xfrm>
            <a:off x="548640" y="1508760"/>
            <a:ext cx="329184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18488"/>
            <a:ext cx="292608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DispatcherServlet</a:t>
            </a:r>
          </a:p>
        </p:txBody>
      </p:sp>
      <p:sp>
        <p:nvSpPr>
          <p:cNvPr id="7" name="TextBox 6"/>
          <p:cNvSpPr txBox="1"/>
          <p:nvPr/>
        </p:nvSpPr>
        <p:spPr>
          <a:xfrm>
            <a:off x="731520" y="1965960"/>
            <a:ext cx="292608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LocaleChangeInterceptor · ?lang=ru</a:t>
            </a:r>
          </a:p>
        </p:txBody>
      </p:sp>
      <p:sp>
        <p:nvSpPr>
          <p:cNvPr id="8" name="Oval 7"/>
          <p:cNvSpPr/>
          <p:nvPr/>
        </p:nvSpPr>
        <p:spPr>
          <a:xfrm>
            <a:off x="3383280" y="134416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6</a:t>
            </a:r>
          </a:p>
        </p:txBody>
      </p:sp>
      <p:sp>
        <p:nvSpPr>
          <p:cNvPr id="9" name="Rounded Rectangle 8"/>
          <p:cNvSpPr/>
          <p:nvPr/>
        </p:nvSpPr>
        <p:spPr>
          <a:xfrm>
            <a:off x="4389120" y="1508760"/>
            <a:ext cx="347472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18488"/>
            <a:ext cx="31089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@RestController</a:t>
            </a:r>
          </a:p>
        </p:txBody>
      </p:sp>
      <p:sp>
        <p:nvSpPr>
          <p:cNvPr id="11" name="TextBox 10"/>
          <p:cNvSpPr txBox="1"/>
          <p:nvPr/>
        </p:nvSpPr>
        <p:spPr>
          <a:xfrm>
            <a:off x="4572000" y="1965960"/>
            <a:ext cx="310896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Book, Hello, Config, System API</a:t>
            </a:r>
          </a:p>
        </p:txBody>
      </p:sp>
      <p:sp>
        <p:nvSpPr>
          <p:cNvPr id="12" name="Oval 11"/>
          <p:cNvSpPr/>
          <p:nvPr/>
        </p:nvSpPr>
        <p:spPr>
          <a:xfrm>
            <a:off x="7406640" y="134416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1·5</a:t>
            </a:r>
          </a:p>
        </p:txBody>
      </p:sp>
      <p:sp>
        <p:nvSpPr>
          <p:cNvPr id="13" name="Rounded Rectangle 12"/>
          <p:cNvSpPr/>
          <p:nvPr/>
        </p:nvSpPr>
        <p:spPr>
          <a:xfrm>
            <a:off x="8412480" y="1508760"/>
            <a:ext cx="320040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59" y="1618488"/>
            <a:ext cx="283464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@Controller + Thymeleaf</a:t>
            </a:r>
          </a:p>
        </p:txBody>
      </p:sp>
      <p:sp>
        <p:nvSpPr>
          <p:cNvPr id="15" name="TextBox 14"/>
          <p:cNvSpPr txBox="1"/>
          <p:nvPr/>
        </p:nvSpPr>
        <p:spPr>
          <a:xfrm>
            <a:off x="8595359" y="1965960"/>
            <a:ext cx="283464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BookPageController · /books</a:t>
            </a:r>
          </a:p>
        </p:txBody>
      </p:sp>
      <p:sp>
        <p:nvSpPr>
          <p:cNvPr id="16" name="Oval 15"/>
          <p:cNvSpPr/>
          <p:nvPr/>
        </p:nvSpPr>
        <p:spPr>
          <a:xfrm>
            <a:off x="11155680" y="134416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5·6</a:t>
            </a:r>
          </a:p>
        </p:txBody>
      </p:sp>
      <p:sp>
        <p:nvSpPr>
          <p:cNvPr id="17" name="Rounded Rectangle 16"/>
          <p:cNvSpPr/>
          <p:nvPr/>
        </p:nvSpPr>
        <p:spPr>
          <a:xfrm>
            <a:off x="4389120" y="3063240"/>
            <a:ext cx="7223760" cy="100584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172968"/>
            <a:ext cx="6858000" cy="365760"/>
          </a:xfrm>
          <a:prstGeom prst="rect">
            <a:avLst/>
          </a:prstGeom>
          <a:noFill/>
        </p:spPr>
        <p:txBody>
          <a:bodyPr wrap="square" anchor="t" lIns="0" rIns="0" tIns="0" bIns="0">
            <a:spAutoFit/>
          </a:bodyPr>
          <a:lstStyle/>
          <a:p>
            <a:pPr algn="l">
              <a:spcAft>
                <a:spcPts val="0"/>
              </a:spcAft>
            </a:pPr>
            <a:r>
              <a:rPr sz="1500" b="1" i="0">
                <a:solidFill>
                  <a:srgbClr val="FFFFFF"/>
                </a:solidFill>
                <a:latin typeface="Calibri"/>
              </a:rPr>
              <a:t>CGLIB-прокси BookService</a:t>
            </a:r>
          </a:p>
        </p:txBody>
      </p:sp>
      <p:sp>
        <p:nvSpPr>
          <p:cNvPr id="19" name="TextBox 18"/>
          <p:cNvSpPr txBox="1"/>
          <p:nvPr/>
        </p:nvSpPr>
        <p:spPr>
          <a:xfrm>
            <a:off x="4572000" y="3520440"/>
            <a:ext cx="6858000" cy="502920"/>
          </a:xfrm>
          <a:prstGeom prst="rect">
            <a:avLst/>
          </a:prstGeom>
          <a:noFill/>
        </p:spPr>
        <p:txBody>
          <a:bodyPr wrap="square" anchor="t" lIns="0" rIns="0" tIns="0" bIns="0">
            <a:spAutoFit/>
          </a:bodyPr>
          <a:lstStyle/>
          <a:p>
            <a:pPr algn="l">
              <a:spcAft>
                <a:spcPts val="0"/>
              </a:spcAft>
            </a:pPr>
            <a:r>
              <a:rPr sz="1200" b="0" i="0">
                <a:solidFill>
                  <a:srgbClr val="FFFFFF"/>
                </a:solidFill>
                <a:latin typeface="Calibri"/>
              </a:rPr>
              <a:t>Audit(1) → Logging(2) → Timing(3) → CallTracing</a:t>
            </a:r>
          </a:p>
        </p:txBody>
      </p:sp>
      <p:sp>
        <p:nvSpPr>
          <p:cNvPr id="20" name="Oval 19"/>
          <p:cNvSpPr/>
          <p:nvPr/>
        </p:nvSpPr>
        <p:spPr>
          <a:xfrm>
            <a:off x="11155680" y="289864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4</a:t>
            </a:r>
          </a:p>
        </p:txBody>
      </p:sp>
      <p:sp>
        <p:nvSpPr>
          <p:cNvPr id="21" name="Rounded Rectangle 20"/>
          <p:cNvSpPr/>
          <p:nvPr/>
        </p:nvSpPr>
        <p:spPr>
          <a:xfrm>
            <a:off x="548640" y="3063240"/>
            <a:ext cx="329184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172968"/>
            <a:ext cx="292608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@ControllerAdvice</a:t>
            </a:r>
          </a:p>
        </p:txBody>
      </p:sp>
      <p:sp>
        <p:nvSpPr>
          <p:cNvPr id="23" name="TextBox 22"/>
          <p:cNvSpPr txBox="1"/>
          <p:nvPr/>
        </p:nvSpPr>
        <p:spPr>
          <a:xfrm>
            <a:off x="731520" y="3520440"/>
            <a:ext cx="292608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HTML 404  ·  ProblemDetail</a:t>
            </a:r>
          </a:p>
        </p:txBody>
      </p:sp>
      <p:sp>
        <p:nvSpPr>
          <p:cNvPr id="24" name="Oval 23"/>
          <p:cNvSpPr/>
          <p:nvPr/>
        </p:nvSpPr>
        <p:spPr>
          <a:xfrm>
            <a:off x="3383280" y="289864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6</a:t>
            </a:r>
          </a:p>
        </p:txBody>
      </p:sp>
      <p:sp>
        <p:nvSpPr>
          <p:cNvPr id="25" name="Rounded Rectangle 24"/>
          <p:cNvSpPr/>
          <p:nvPr/>
        </p:nvSpPr>
        <p:spPr>
          <a:xfrm>
            <a:off x="548640" y="4709160"/>
            <a:ext cx="329184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818888"/>
            <a:ext cx="292608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BookRepository</a:t>
            </a:r>
          </a:p>
        </p:txBody>
      </p:sp>
      <p:sp>
        <p:nvSpPr>
          <p:cNvPr id="27" name="TextBox 26"/>
          <p:cNvSpPr txBox="1"/>
          <p:nvPr/>
        </p:nvSpPr>
        <p:spPr>
          <a:xfrm>
            <a:off x="731520" y="5166360"/>
            <a:ext cx="292608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in-memory, ConcurrentHashMap</a:t>
            </a:r>
          </a:p>
        </p:txBody>
      </p:sp>
      <p:sp>
        <p:nvSpPr>
          <p:cNvPr id="28" name="Oval 27"/>
          <p:cNvSpPr/>
          <p:nvPr/>
        </p:nvSpPr>
        <p:spPr>
          <a:xfrm>
            <a:off x="3383280" y="454456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5</a:t>
            </a:r>
          </a:p>
        </p:txBody>
      </p:sp>
      <p:sp>
        <p:nvSpPr>
          <p:cNvPr id="29" name="Rounded Rectangle 28"/>
          <p:cNvSpPr/>
          <p:nvPr/>
        </p:nvSpPr>
        <p:spPr>
          <a:xfrm>
            <a:off x="4389120" y="4709160"/>
            <a:ext cx="347472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4818888"/>
            <a:ext cx="31089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NotificationService</a:t>
            </a:r>
          </a:p>
        </p:txBody>
      </p:sp>
      <p:sp>
        <p:nvSpPr>
          <p:cNvPr id="31" name="TextBox 30"/>
          <p:cNvSpPr txBox="1"/>
          <p:nvPr/>
        </p:nvSpPr>
        <p:spPr>
          <a:xfrm>
            <a:off x="4572000" y="5166360"/>
            <a:ext cx="310896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@Primary EmailNotifier ← app.mail</a:t>
            </a:r>
          </a:p>
        </p:txBody>
      </p:sp>
      <p:sp>
        <p:nvSpPr>
          <p:cNvPr id="32" name="Oval 31"/>
          <p:cNvSpPr/>
          <p:nvPr/>
        </p:nvSpPr>
        <p:spPr>
          <a:xfrm>
            <a:off x="7406640" y="454456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2·3</a:t>
            </a:r>
          </a:p>
        </p:txBody>
      </p:sp>
      <p:sp>
        <p:nvSpPr>
          <p:cNvPr id="33" name="Rounded Rectangle 32"/>
          <p:cNvSpPr/>
          <p:nvPr/>
        </p:nvSpPr>
        <p:spPr>
          <a:xfrm>
            <a:off x="8412480" y="4709160"/>
            <a:ext cx="3200400" cy="1005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59" y="4818888"/>
            <a:ext cx="283464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CitationCache</a:t>
            </a:r>
          </a:p>
        </p:txBody>
      </p:sp>
      <p:sp>
        <p:nvSpPr>
          <p:cNvPr id="35" name="TextBox 34"/>
          <p:cNvSpPr txBox="1"/>
          <p:nvPr/>
        </p:nvSpPr>
        <p:spPr>
          <a:xfrm>
            <a:off x="8595359" y="5166360"/>
            <a:ext cx="2834640" cy="5029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app.cache.ttl / max-entries</a:t>
            </a:r>
          </a:p>
        </p:txBody>
      </p:sp>
      <p:sp>
        <p:nvSpPr>
          <p:cNvPr id="36" name="Oval 35"/>
          <p:cNvSpPr/>
          <p:nvPr/>
        </p:nvSpPr>
        <p:spPr>
          <a:xfrm>
            <a:off x="11155680" y="4544568"/>
            <a:ext cx="384048" cy="384048"/>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mbria"/>
              </a:rPr>
              <a:t>3</a:t>
            </a:r>
          </a:p>
        </p:txBody>
      </p:sp>
      <p:cxnSp>
        <p:nvCxnSpPr>
          <p:cNvPr id="37" name="Connector 36"/>
          <p:cNvCxnSpPr/>
          <p:nvPr/>
        </p:nvCxnSpPr>
        <p:spPr>
          <a:xfrm>
            <a:off x="3840480" y="2011680"/>
            <a:ext cx="548640" cy="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63840" y="2011680"/>
            <a:ext cx="548640" cy="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26480" y="2514600"/>
            <a:ext cx="0" cy="54864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012680" y="2514600"/>
            <a:ext cx="0" cy="54864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3840480" y="3566160"/>
            <a:ext cx="548640" cy="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2194560" y="4069080"/>
            <a:ext cx="2926080" cy="64008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26480" y="4069080"/>
            <a:ext cx="0" cy="64008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012680" y="4069080"/>
            <a:ext cx="0" cy="640080"/>
          </a:xfrm>
          <a:prstGeom prst="line">
            <a:avLst/>
          </a:prstGeom>
          <a:ln w="25400">
            <a:solidFill>
              <a:srgbClr val="6DB33F"/>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Spring Boot и первый REST-контроллер</a:t>
            </a:r>
          </a:p>
        </p:txBody>
      </p:sp>
      <p:sp>
        <p:nvSpPr>
          <p:cNvPr id="3" name="Rounded Rectangle 2"/>
          <p:cNvSpPr/>
          <p:nvPr/>
        </p:nvSpPr>
        <p:spPr>
          <a:xfrm>
            <a:off x="9646920" y="502920"/>
            <a:ext cx="2011680" cy="502920"/>
          </a:xfrm>
          <a:prstGeom prst="roundRect">
            <a:avLst>
              <a:gd name="adj" fmla="val 50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Лаб. 1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4</a:t>
            </a:r>
          </a:p>
        </p:txBody>
      </p:sp>
      <p:sp>
        <p:nvSpPr>
          <p:cNvPr id="7" name="TextBox 6"/>
          <p:cNvSpPr txBox="1"/>
          <p:nvPr/>
        </p:nvSpPr>
        <p:spPr>
          <a:xfrm>
            <a:off x="548640" y="1508760"/>
            <a:ext cx="5120640" cy="2926080"/>
          </a:xfrm>
          <a:prstGeom prst="rect">
            <a:avLst/>
          </a:prstGeom>
          <a:noFill/>
        </p:spPr>
        <p:txBody>
          <a:bodyPr wrap="square" lIns="0" rIns="0" tIns="0" bIns="0">
            <a:spAutoFit/>
          </a:bodyPr>
          <a:lstStyle/>
          <a:p>
            <a:pPr marL="274320" indent="-274320">
              <a:spcAft>
                <a:spcPts val="800"/>
              </a:spcAft>
              <a:buClr>
                <a:srgbClr val="6DB33F"/>
              </a:buClr>
              <a:buFont typeface="Arial"/>
              <a:buChar char="•"/>
            </a:pPr>
            <a:r>
              <a:rPr sz="1500" b="1">
                <a:solidFill>
                  <a:srgbClr val="1D2621"/>
                </a:solidFill>
                <a:latin typeface="Calibri"/>
              </a:rPr>
              <a:t>Проект: </a:t>
            </a:r>
            <a:r>
              <a:rPr sz="1500" b="0">
                <a:solidFill>
                  <a:srgbClr val="1D2621"/>
                </a:solidFill>
                <a:latin typeface="Calibri"/>
              </a:rPr>
              <a:t>Spring Initializr, parent POM 4.1.1, Java 25, Maven Wrapper</a:t>
            </a:r>
          </a:p>
          <a:p>
            <a:pPr marL="274320" indent="-274320">
              <a:spcAft>
                <a:spcPts val="800"/>
              </a:spcAft>
              <a:buClr>
                <a:srgbClr val="6DB33F"/>
              </a:buClr>
              <a:buFont typeface="Arial"/>
              <a:buChar char="•"/>
            </a:pPr>
            <a:r>
              <a:rPr sz="1500" b="1">
                <a:solidFill>
                  <a:srgbClr val="1D2621"/>
                </a:solidFill>
                <a:latin typeface="Calibri"/>
              </a:rPr>
              <a:t>Стартеры: </a:t>
            </a:r>
            <a:r>
              <a:rPr sz="1500" b="0">
                <a:solidFill>
                  <a:srgbClr val="1D2621"/>
                </a:solidFill>
                <a:latin typeface="Calibri"/>
              </a:rPr>
              <a:t>webmvc (Tomcat, Jackson транзитивно), DevTools</a:t>
            </a:r>
          </a:p>
          <a:p>
            <a:pPr marL="274320" indent="-274320">
              <a:spcAft>
                <a:spcPts val="800"/>
              </a:spcAft>
              <a:buClr>
                <a:srgbClr val="6DB33F"/>
              </a:buClr>
              <a:buFont typeface="Arial"/>
              <a:buChar char="•"/>
            </a:pPr>
            <a:r>
              <a:rPr sz="1500" b="1">
                <a:solidFill>
                  <a:srgbClr val="1D2621"/>
                </a:solidFill>
                <a:latin typeface="Calibri"/>
              </a:rPr>
              <a:t>HelloController: </a:t>
            </a:r>
            <a:r>
              <a:rPr sz="1500" b="0">
                <a:solidFill>
                  <a:srgbClr val="1D2621"/>
                </a:solidFill>
                <a:latin typeface="Calibri"/>
              </a:rPr>
              <a:t>@RestController, @GetMapping, @RequestParam, @Value</a:t>
            </a:r>
          </a:p>
          <a:p>
            <a:pPr marL="274320" indent="-274320">
              <a:spcAft>
                <a:spcPts val="800"/>
              </a:spcAft>
              <a:buClr>
                <a:srgbClr val="6DB33F"/>
              </a:buClr>
              <a:buFont typeface="Arial"/>
              <a:buChar char="•"/>
            </a:pPr>
            <a:r>
              <a:rPr sz="1500" b="1">
                <a:solidFill>
                  <a:srgbClr val="1D2621"/>
                </a:solidFill>
                <a:latin typeface="Calibri"/>
              </a:rPr>
              <a:t>Эндпоинты: </a:t>
            </a:r>
            <a:r>
              <a:rPr sz="1500" b="0">
                <a:solidFill>
                  <a:srgbClr val="1D2621"/>
                </a:solidFill>
                <a:latin typeface="Calibri"/>
              </a:rPr>
              <a:t>/api/hello, /api/info</a:t>
            </a:r>
          </a:p>
          <a:p>
            <a:pPr marL="274320" indent="-274320">
              <a:spcAft>
                <a:spcPts val="800"/>
              </a:spcAft>
              <a:buClr>
                <a:srgbClr val="6DB33F"/>
              </a:buClr>
              <a:buFont typeface="Arial"/>
              <a:buChar char="•"/>
            </a:pPr>
            <a:r>
              <a:rPr sz="1500" b="1">
                <a:solidFill>
                  <a:srgbClr val="6DB33F"/>
                </a:solidFill>
                <a:latin typeface="Calibri"/>
              </a:rPr>
              <a:t>Вариант 7: </a:t>
            </a:r>
            <a:r>
              <a:rPr sz="1500" b="0">
                <a:solidFill>
                  <a:srgbClr val="1D2621"/>
                </a:solidFill>
                <a:latin typeface="Calibri"/>
              </a:rPr>
              <a:t>/api/wordcount — слова, символы, самое длинное слово</a:t>
            </a:r>
          </a:p>
        </p:txBody>
      </p:sp>
      <p:sp>
        <p:nvSpPr>
          <p:cNvPr id="8" name="Rounded Rectangle 7"/>
          <p:cNvSpPr/>
          <p:nvPr/>
        </p:nvSpPr>
        <p:spPr>
          <a:xfrm>
            <a:off x="6126480" y="1508760"/>
            <a:ext cx="5486400" cy="260604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19"/>
            <a:ext cx="4937760" cy="320040"/>
          </a:xfrm>
          <a:prstGeom prst="rect">
            <a:avLst/>
          </a:prstGeom>
          <a:noFill/>
        </p:spPr>
        <p:txBody>
          <a:bodyPr wrap="square" anchor="t" lIns="0" rIns="0" tIns="0" bIns="0">
            <a:spAutoFit/>
          </a:bodyPr>
          <a:lstStyle/>
          <a:p>
            <a:pPr algn="l">
              <a:spcAft>
                <a:spcPts val="0"/>
              </a:spcAft>
            </a:pPr>
            <a:r>
              <a:rPr sz="1100" b="1" i="0">
                <a:solidFill>
                  <a:srgbClr val="6DB33F"/>
                </a:solidFill>
                <a:latin typeface="Calibri"/>
              </a:rPr>
              <a:t>web/HelloController.java</a:t>
            </a:r>
          </a:p>
        </p:txBody>
      </p:sp>
      <p:sp>
        <p:nvSpPr>
          <p:cNvPr id="10" name="TextBox 9"/>
          <p:cNvSpPr txBox="1"/>
          <p:nvPr/>
        </p:nvSpPr>
        <p:spPr>
          <a:xfrm>
            <a:off x="6400800" y="2011680"/>
            <a:ext cx="4937760" cy="1965960"/>
          </a:xfrm>
          <a:prstGeom prst="rect">
            <a:avLst/>
          </a:prstGeom>
          <a:noFill/>
        </p:spPr>
        <p:txBody>
          <a:bodyPr wrap="square" anchor="t" lIns="0" rIns="0" tIns="0" bIns="0">
            <a:spAutoFit/>
          </a:bodyPr>
          <a:lstStyle/>
          <a:p>
            <a:pPr algn="l">
              <a:lnSpc>
                <a:spcPct val="105000"/>
              </a:lnSpc>
              <a:spcAft>
                <a:spcPts val="0"/>
              </a:spcAft>
            </a:pPr>
            <a:r>
              <a:rPr sz="1200" b="0" i="0">
                <a:solidFill>
                  <a:srgbClr val="D8F0C8"/>
                </a:solidFill>
                <a:latin typeface="Courier New"/>
              </a:rPr>
              <a:t>@GetMapping("/wordcount")</a:t>
            </a:r>
          </a:p>
          <a:p>
            <a:pPr algn="l">
              <a:lnSpc>
                <a:spcPct val="105000"/>
              </a:lnSpc>
              <a:spcAft>
                <a:spcPts val="0"/>
              </a:spcAft>
            </a:pPr>
            <a:r>
              <a:rPr sz="1200" b="0" i="0">
                <a:solidFill>
                  <a:srgbClr val="D8F0C8"/>
                </a:solidFill>
                <a:latin typeface="Courier New"/>
              </a:rPr>
              <a:t>public WordCount wordCount(</a:t>
            </a:r>
          </a:p>
          <a:p>
            <a:pPr algn="l">
              <a:lnSpc>
                <a:spcPct val="105000"/>
              </a:lnSpc>
              <a:spcAft>
                <a:spcPts val="0"/>
              </a:spcAft>
            </a:pPr>
            <a:r>
              <a:rPr sz="1200" b="0" i="0">
                <a:solidFill>
                  <a:srgbClr val="D8F0C8"/>
                </a:solidFill>
                <a:latin typeface="Courier New"/>
              </a:rPr>
              <a:t>    @RequestParam(defaultValue = "") String text) {</a:t>
            </a:r>
          </a:p>
          <a:p>
            <a:pPr algn="l">
              <a:lnSpc>
                <a:spcPct val="105000"/>
              </a:lnSpc>
              <a:spcAft>
                <a:spcPts val="0"/>
              </a:spcAft>
            </a:pPr>
            <a:r>
              <a:rPr sz="1200" b="0" i="0">
                <a:solidFill>
                  <a:srgbClr val="D8F0C8"/>
                </a:solidFill>
                <a:latin typeface="Courier New"/>
              </a:rPr>
              <a:t>  String trimmed = text.trim();</a:t>
            </a:r>
          </a:p>
          <a:p>
            <a:pPr algn="l">
              <a:lnSpc>
                <a:spcPct val="105000"/>
              </a:lnSpc>
              <a:spcAft>
                <a:spcPts val="0"/>
              </a:spcAft>
            </a:pPr>
            <a:r>
              <a:rPr sz="1200" b="0" i="0">
                <a:solidFill>
                  <a:srgbClr val="D8F0C8"/>
                </a:solidFill>
                <a:latin typeface="Courier New"/>
              </a:rPr>
              <a:t>  if (trimmed.isEmpty())</a:t>
            </a:r>
          </a:p>
          <a:p>
            <a:pPr algn="l">
              <a:lnSpc>
                <a:spcPct val="105000"/>
              </a:lnSpc>
              <a:spcAft>
                <a:spcPts val="0"/>
              </a:spcAft>
            </a:pPr>
            <a:r>
              <a:rPr sz="1200" b="0" i="0">
                <a:solidFill>
                  <a:srgbClr val="D8F0C8"/>
                </a:solidFill>
                <a:latin typeface="Courier New"/>
              </a:rPr>
              <a:t>      return new WordCount(0, 0, "");</a:t>
            </a:r>
          </a:p>
          <a:p>
            <a:pPr algn="l">
              <a:lnSpc>
                <a:spcPct val="105000"/>
              </a:lnSpc>
              <a:spcAft>
                <a:spcPts val="0"/>
              </a:spcAft>
            </a:pPr>
            <a:r>
              <a:rPr sz="1200" b="0" i="0">
                <a:solidFill>
                  <a:srgbClr val="D8F0C8"/>
                </a:solidFill>
                <a:latin typeface="Courier New"/>
              </a:rPr>
              <a:t>  String[] words = trimmed.split("\\s+");</a:t>
            </a:r>
          </a:p>
          <a:p>
            <a:pPr algn="l">
              <a:lnSpc>
                <a:spcPct val="105000"/>
              </a:lnSpc>
              <a:spcAft>
                <a:spcPts val="0"/>
              </a:spcAft>
            </a:pPr>
            <a:r>
              <a:rPr sz="1200" b="0" i="0">
                <a:solidFill>
                  <a:srgbClr val="D8F0C8"/>
                </a:solidFill>
                <a:latin typeface="Courier New"/>
              </a:rPr>
              <a:t>  ...</a:t>
            </a:r>
          </a:p>
        </p:txBody>
      </p:sp>
      <p:graphicFrame>
        <p:nvGraphicFramePr>
          <p:cNvPr id="11" name="Table 10"/>
          <p:cNvGraphicFramePr>
            <a:graphicFrameLocks noGrp="1"/>
          </p:cNvGraphicFramePr>
          <p:nvPr/>
        </p:nvGraphicFramePr>
        <p:xfrm>
          <a:off x="548640" y="4526280"/>
          <a:ext cx="11064240" cy="1536192"/>
        </p:xfrm>
        <a:graphic>
          <a:graphicData uri="http://schemas.openxmlformats.org/drawingml/2006/table">
            <a:tbl>
              <a:tblPr firstRow="1" bandRow="1">
                <a:tableStyleId>{5C22544A-7EE6-4342-B048-85BDC9FD1C3A}</a:tableStyleId>
              </a:tblPr>
              <a:tblGrid>
                <a:gridCol w="4754880"/>
                <a:gridCol w="2011680"/>
                <a:gridCol w="2194560"/>
                <a:gridCol w="2103120"/>
              </a:tblGrid>
              <a:tr h="384048">
                <a:tc>
                  <a:txBody>
                    <a:bodyPr/>
                    <a:lstStyle/>
                    <a:p>
                      <a:r>
                        <a:rPr sz="1400" b="1">
                          <a:solidFill>
                            <a:srgbClr val="FFFFFF"/>
                          </a:solidFill>
                          <a:latin typeface="Calibri"/>
                        </a:rPr>
                        <a:t>Ввод text</a:t>
                      </a:r>
                    </a:p>
                  </a:txBody>
                  <a:tcPr marL="109728" marR="109728" anchor="ctr">
                    <a:solidFill>
                      <a:srgbClr val="142B22"/>
                    </a:solidFill>
                  </a:tcPr>
                </a:tc>
                <a:tc>
                  <a:txBody>
                    <a:bodyPr/>
                    <a:lstStyle/>
                    <a:p>
                      <a:r>
                        <a:rPr sz="1400" b="1">
                          <a:solidFill>
                            <a:srgbClr val="FFFFFF"/>
                          </a:solidFill>
                          <a:latin typeface="Calibri"/>
                        </a:rPr>
                        <a:t>wordCount</a:t>
                      </a:r>
                    </a:p>
                  </a:txBody>
                  <a:tcPr marL="109728" marR="109728" anchor="ctr">
                    <a:solidFill>
                      <a:srgbClr val="142B22"/>
                    </a:solidFill>
                  </a:tcPr>
                </a:tc>
                <a:tc>
                  <a:txBody>
                    <a:bodyPr/>
                    <a:lstStyle/>
                    <a:p>
                      <a:r>
                        <a:rPr sz="1400" b="1">
                          <a:solidFill>
                            <a:srgbClr val="FFFFFF"/>
                          </a:solidFill>
                          <a:latin typeface="Calibri"/>
                        </a:rPr>
                        <a:t>characterCount</a:t>
                      </a:r>
                    </a:p>
                  </a:txBody>
                  <a:tcPr marL="109728" marR="109728" anchor="ctr">
                    <a:solidFill>
                      <a:srgbClr val="142B22"/>
                    </a:solidFill>
                  </a:tcPr>
                </a:tc>
                <a:tc>
                  <a:txBody>
                    <a:bodyPr/>
                    <a:lstStyle/>
                    <a:p>
                      <a:r>
                        <a:rPr sz="1400" b="1">
                          <a:solidFill>
                            <a:srgbClr val="FFFFFF"/>
                          </a:solidFill>
                          <a:latin typeface="Calibri"/>
                        </a:rPr>
                        <a:t>longestWord</a:t>
                      </a:r>
                    </a:p>
                  </a:txBody>
                  <a:tcPr marL="109728" marR="109728" anchor="ctr">
                    <a:solidFill>
                      <a:srgbClr val="142B22"/>
                    </a:solidFill>
                  </a:tcPr>
                </a:tc>
              </a:tr>
              <a:tr h="384048">
                <a:tc>
                  <a:txBody>
                    <a:bodyPr/>
                    <a:lstStyle/>
                    <a:p>
                      <a:r>
                        <a:rPr sz="1400" b="1">
                          <a:solidFill>
                            <a:srgbClr val="1D2621"/>
                          </a:solidFill>
                          <a:latin typeface="Calibri"/>
                        </a:rPr>
                        <a:t>Hello World</a:t>
                      </a:r>
                    </a:p>
                  </a:txBody>
                  <a:tcPr marL="109728" marR="109728" anchor="ctr">
                    <a:solidFill>
                      <a:srgbClr val="FFFFFF"/>
                    </a:solidFill>
                  </a:tcPr>
                </a:tc>
                <a:tc>
                  <a:txBody>
                    <a:bodyPr/>
                    <a:lstStyle/>
                    <a:p>
                      <a:r>
                        <a:rPr sz="1400" b="0">
                          <a:solidFill>
                            <a:srgbClr val="1D2621"/>
                          </a:solidFill>
                          <a:latin typeface="Calibri"/>
                        </a:rPr>
                        <a:t>2</a:t>
                      </a:r>
                    </a:p>
                  </a:txBody>
                  <a:tcPr marL="109728" marR="109728" anchor="ctr">
                    <a:solidFill>
                      <a:srgbClr val="FFFFFF"/>
                    </a:solidFill>
                  </a:tcPr>
                </a:tc>
                <a:tc>
                  <a:txBody>
                    <a:bodyPr/>
                    <a:lstStyle/>
                    <a:p>
                      <a:r>
                        <a:rPr sz="1400" b="0">
                          <a:solidFill>
                            <a:srgbClr val="1D2621"/>
                          </a:solidFill>
                          <a:latin typeface="Calibri"/>
                        </a:rPr>
                        <a:t>11</a:t>
                      </a:r>
                    </a:p>
                  </a:txBody>
                  <a:tcPr marL="109728" marR="109728" anchor="ctr">
                    <a:solidFill>
                      <a:srgbClr val="FFFFFF"/>
                    </a:solidFill>
                  </a:tcPr>
                </a:tc>
                <a:tc>
                  <a:txBody>
                    <a:bodyPr/>
                    <a:lstStyle/>
                    <a:p>
                      <a:r>
                        <a:rPr sz="1400" b="0">
                          <a:solidFill>
                            <a:srgbClr val="1D2621"/>
                          </a:solidFill>
                          <a:latin typeface="Calibri"/>
                        </a:rPr>
                        <a:t>Hello</a:t>
                      </a:r>
                    </a:p>
                  </a:txBody>
                  <a:tcPr marL="109728" marR="109728" anchor="ctr">
                    <a:solidFill>
                      <a:srgbClr val="FFFFFF"/>
                    </a:solidFill>
                  </a:tcPr>
                </a:tc>
              </a:tr>
              <a:tr h="384048">
                <a:tc>
                  <a:txBody>
                    <a:bodyPr/>
                    <a:lstStyle/>
                    <a:p>
                      <a:r>
                        <a:rPr sz="1400" b="1">
                          <a:solidFill>
                            <a:srgbClr val="1D2621"/>
                          </a:solidFill>
                          <a:latin typeface="Calibri"/>
                        </a:rPr>
                        <a:t>Spring Boot is very interesting</a:t>
                      </a:r>
                    </a:p>
                  </a:txBody>
                  <a:tcPr marL="109728" marR="109728" anchor="ctr">
                    <a:solidFill>
                      <a:srgbClr val="EAF4E2"/>
                    </a:solidFill>
                  </a:tcPr>
                </a:tc>
                <a:tc>
                  <a:txBody>
                    <a:bodyPr/>
                    <a:lstStyle/>
                    <a:p>
                      <a:r>
                        <a:rPr sz="1400" b="0">
                          <a:solidFill>
                            <a:srgbClr val="1D2621"/>
                          </a:solidFill>
                          <a:latin typeface="Calibri"/>
                        </a:rPr>
                        <a:t>5</a:t>
                      </a:r>
                    </a:p>
                  </a:txBody>
                  <a:tcPr marL="109728" marR="109728" anchor="ctr">
                    <a:solidFill>
                      <a:srgbClr val="EAF4E2"/>
                    </a:solidFill>
                  </a:tcPr>
                </a:tc>
                <a:tc>
                  <a:txBody>
                    <a:bodyPr/>
                    <a:lstStyle/>
                    <a:p>
                      <a:r>
                        <a:rPr sz="1400" b="0">
                          <a:solidFill>
                            <a:srgbClr val="1D2621"/>
                          </a:solidFill>
                          <a:latin typeface="Calibri"/>
                        </a:rPr>
                        <a:t>31</a:t>
                      </a:r>
                    </a:p>
                  </a:txBody>
                  <a:tcPr marL="109728" marR="109728" anchor="ctr">
                    <a:solidFill>
                      <a:srgbClr val="EAF4E2"/>
                    </a:solidFill>
                  </a:tcPr>
                </a:tc>
                <a:tc>
                  <a:txBody>
                    <a:bodyPr/>
                    <a:lstStyle/>
                    <a:p>
                      <a:r>
                        <a:rPr sz="1400" b="0">
                          <a:solidFill>
                            <a:srgbClr val="1D2621"/>
                          </a:solidFill>
                          <a:latin typeface="Calibri"/>
                        </a:rPr>
                        <a:t>interesting</a:t>
                      </a:r>
                    </a:p>
                  </a:txBody>
                  <a:tcPr marL="109728" marR="109728" anchor="ctr">
                    <a:solidFill>
                      <a:srgbClr val="EAF4E2"/>
                    </a:solidFill>
                  </a:tcPr>
                </a:tc>
              </a:tr>
              <a:tr h="384048">
                <a:tc>
                  <a:txBody>
                    <a:bodyPr/>
                    <a:lstStyle/>
                    <a:p>
                      <a:r>
                        <a:rPr sz="1400" b="1">
                          <a:solidFill>
                            <a:srgbClr val="1D2621"/>
                          </a:solidFill>
                          <a:latin typeface="Calibri"/>
                        </a:rPr>
                        <a:t>(параметр не передан)</a:t>
                      </a:r>
                    </a:p>
                  </a:txBody>
                  <a:tcPr marL="109728" marR="109728" anchor="ctr">
                    <a:solidFill>
                      <a:srgbClr val="FFFFFF"/>
                    </a:solidFill>
                  </a:tcPr>
                </a:tc>
                <a:tc>
                  <a:txBody>
                    <a:bodyPr/>
                    <a:lstStyle/>
                    <a:p>
                      <a:r>
                        <a:rPr sz="1400" b="0">
                          <a:solidFill>
                            <a:srgbClr val="1D2621"/>
                          </a:solidFill>
                          <a:latin typeface="Calibri"/>
                        </a:rPr>
                        <a:t>0</a:t>
                      </a:r>
                    </a:p>
                  </a:txBody>
                  <a:tcPr marL="109728" marR="109728" anchor="ctr">
                    <a:solidFill>
                      <a:srgbClr val="FFFFFF"/>
                    </a:solidFill>
                  </a:tcPr>
                </a:tc>
                <a:tc>
                  <a:txBody>
                    <a:bodyPr/>
                    <a:lstStyle/>
                    <a:p>
                      <a:r>
                        <a:rPr sz="1400" b="0">
                          <a:solidFill>
                            <a:srgbClr val="1D2621"/>
                          </a:solidFill>
                          <a:latin typeface="Calibri"/>
                        </a:rPr>
                        <a:t>0</a:t>
                      </a:r>
                    </a:p>
                  </a:txBody>
                  <a:tcPr marL="109728" marR="109728" anchor="ctr">
                    <a:solidFill>
                      <a:srgbClr val="FFFFFF"/>
                    </a:solidFill>
                  </a:tcPr>
                </a:tc>
                <a:tc>
                  <a:txBody>
                    <a:bodyPr/>
                    <a:lstStyle/>
                    <a:p>
                      <a:r>
                        <a:rPr sz="1400" b="0">
                          <a:solidFill>
                            <a:srgbClr val="1D2621"/>
                          </a:solidFill>
                          <a:latin typeface="Calibri"/>
                        </a:rPr>
                        <a:t>""</a:t>
                      </a:r>
                    </a:p>
                  </a:txBody>
                  <a:tcPr marL="109728" marR="109728"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IoC-контейнер: бины, внедрение, скоупы</a:t>
            </a:r>
          </a:p>
        </p:txBody>
      </p:sp>
      <p:sp>
        <p:nvSpPr>
          <p:cNvPr id="3" name="Rounded Rectangle 2"/>
          <p:cNvSpPr/>
          <p:nvPr/>
        </p:nvSpPr>
        <p:spPr>
          <a:xfrm>
            <a:off x="9646920" y="502920"/>
            <a:ext cx="2011680" cy="502920"/>
          </a:xfrm>
          <a:prstGeom prst="roundRect">
            <a:avLst>
              <a:gd name="adj" fmla="val 50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Лаб. 2  ·  V8</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5</a:t>
            </a:r>
          </a:p>
        </p:txBody>
      </p:sp>
      <p:sp>
        <p:nvSpPr>
          <p:cNvPr id="7" name="Oval 6"/>
          <p:cNvSpPr/>
          <p:nvPr/>
        </p:nvSpPr>
        <p:spPr>
          <a:xfrm>
            <a:off x="731520" y="1554480"/>
            <a:ext cx="1005840" cy="1005840"/>
          </a:xfrm>
          <a:prstGeom prst="ellipse">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1</a:t>
            </a:r>
          </a:p>
        </p:txBody>
      </p:sp>
      <p:sp>
        <p:nvSpPr>
          <p:cNvPr id="8" name="TextBox 7"/>
          <p:cNvSpPr txBox="1"/>
          <p:nvPr/>
        </p:nvSpPr>
        <p:spPr>
          <a:xfrm>
            <a:off x="548640" y="2651760"/>
            <a:ext cx="1371600" cy="320040"/>
          </a:xfrm>
          <a:prstGeom prst="rect">
            <a:avLst/>
          </a:prstGeom>
          <a:noFill/>
        </p:spPr>
        <p:txBody>
          <a:bodyPr wrap="square" anchor="t" lIns="0" rIns="0" tIns="0" bIns="0">
            <a:spAutoFit/>
          </a:bodyPr>
          <a:lstStyle/>
          <a:p>
            <a:pPr algn="ctr">
              <a:spcAft>
                <a:spcPts val="0"/>
              </a:spcAft>
            </a:pPr>
            <a:r>
              <a:rPr sz="1500" b="1" i="0">
                <a:solidFill>
                  <a:srgbClr val="142B22"/>
                </a:solidFill>
                <a:latin typeface="Calibri"/>
              </a:rPr>
              <a:t>console</a:t>
            </a:r>
          </a:p>
        </p:txBody>
      </p:sp>
      <p:sp>
        <p:nvSpPr>
          <p:cNvPr id="9" name="TextBox 8"/>
          <p:cNvSpPr txBox="1"/>
          <p:nvPr/>
        </p:nvSpPr>
        <p:spPr>
          <a:xfrm>
            <a:off x="548640" y="2971800"/>
            <a:ext cx="1371600" cy="32004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@Order(1)</a:t>
            </a:r>
          </a:p>
        </p:txBody>
      </p:sp>
      <p:sp>
        <p:nvSpPr>
          <p:cNvPr id="10" name="Oval 9"/>
          <p:cNvSpPr/>
          <p:nvPr/>
        </p:nvSpPr>
        <p:spPr>
          <a:xfrm>
            <a:off x="2194560" y="1554480"/>
            <a:ext cx="1005840" cy="100584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2</a:t>
            </a:r>
          </a:p>
        </p:txBody>
      </p:sp>
      <p:sp>
        <p:nvSpPr>
          <p:cNvPr id="11" name="TextBox 10"/>
          <p:cNvSpPr txBox="1"/>
          <p:nvPr/>
        </p:nvSpPr>
        <p:spPr>
          <a:xfrm>
            <a:off x="2011680" y="2651760"/>
            <a:ext cx="1371600" cy="320040"/>
          </a:xfrm>
          <a:prstGeom prst="rect">
            <a:avLst/>
          </a:prstGeom>
          <a:noFill/>
        </p:spPr>
        <p:txBody>
          <a:bodyPr wrap="square" anchor="t" lIns="0" rIns="0" tIns="0" bIns="0">
            <a:spAutoFit/>
          </a:bodyPr>
          <a:lstStyle/>
          <a:p>
            <a:pPr algn="ctr">
              <a:spcAft>
                <a:spcPts val="0"/>
              </a:spcAft>
            </a:pPr>
            <a:r>
              <a:rPr sz="1500" b="1" i="0">
                <a:solidFill>
                  <a:srgbClr val="142B22"/>
                </a:solidFill>
                <a:latin typeface="Calibri"/>
              </a:rPr>
              <a:t>email</a:t>
            </a:r>
          </a:p>
        </p:txBody>
      </p:sp>
      <p:sp>
        <p:nvSpPr>
          <p:cNvPr id="12" name="TextBox 11"/>
          <p:cNvSpPr txBox="1"/>
          <p:nvPr/>
        </p:nvSpPr>
        <p:spPr>
          <a:xfrm>
            <a:off x="2011680" y="2971800"/>
            <a:ext cx="1371600" cy="32004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@Primary</a:t>
            </a:r>
          </a:p>
        </p:txBody>
      </p:sp>
      <p:sp>
        <p:nvSpPr>
          <p:cNvPr id="13" name="Oval 12"/>
          <p:cNvSpPr/>
          <p:nvPr/>
        </p:nvSpPr>
        <p:spPr>
          <a:xfrm>
            <a:off x="3657600" y="1554480"/>
            <a:ext cx="1005840" cy="100584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3</a:t>
            </a:r>
          </a:p>
        </p:txBody>
      </p:sp>
      <p:sp>
        <p:nvSpPr>
          <p:cNvPr id="14" name="TextBox 13"/>
          <p:cNvSpPr txBox="1"/>
          <p:nvPr/>
        </p:nvSpPr>
        <p:spPr>
          <a:xfrm>
            <a:off x="3474720" y="2651760"/>
            <a:ext cx="1371600" cy="320040"/>
          </a:xfrm>
          <a:prstGeom prst="rect">
            <a:avLst/>
          </a:prstGeom>
          <a:noFill/>
        </p:spPr>
        <p:txBody>
          <a:bodyPr wrap="square" anchor="t" lIns="0" rIns="0" tIns="0" bIns="0">
            <a:spAutoFit/>
          </a:bodyPr>
          <a:lstStyle/>
          <a:p>
            <a:pPr algn="ctr">
              <a:spcAft>
                <a:spcPts val="0"/>
              </a:spcAft>
            </a:pPr>
            <a:r>
              <a:rPr sz="1500" b="1" i="0">
                <a:solidFill>
                  <a:srgbClr val="142B22"/>
                </a:solidFill>
                <a:latin typeface="Calibri"/>
              </a:rPr>
              <a:t>html</a:t>
            </a:r>
          </a:p>
        </p:txBody>
      </p:sp>
      <p:sp>
        <p:nvSpPr>
          <p:cNvPr id="15" name="TextBox 14"/>
          <p:cNvSpPr txBox="1"/>
          <p:nvPr/>
        </p:nvSpPr>
        <p:spPr>
          <a:xfrm>
            <a:off x="3474720" y="2971800"/>
            <a:ext cx="1371600" cy="32004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V8 · escape</a:t>
            </a:r>
          </a:p>
        </p:txBody>
      </p:sp>
      <p:sp>
        <p:nvSpPr>
          <p:cNvPr id="16" name="Oval 15"/>
          <p:cNvSpPr/>
          <p:nvPr/>
        </p:nvSpPr>
        <p:spPr>
          <a:xfrm>
            <a:off x="5120640" y="1554480"/>
            <a:ext cx="1005840" cy="1005840"/>
          </a:xfrm>
          <a:prstGeom prst="ellipse">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200">
                <a:solidFill>
                  <a:srgbClr val="FFFFFF"/>
                </a:solidFill>
                <a:latin typeface="Cambria"/>
              </a:rPr>
              <a:t>99</a:t>
            </a:r>
          </a:p>
        </p:txBody>
      </p:sp>
      <p:sp>
        <p:nvSpPr>
          <p:cNvPr id="17" name="TextBox 16"/>
          <p:cNvSpPr txBox="1"/>
          <p:nvPr/>
        </p:nvSpPr>
        <p:spPr>
          <a:xfrm>
            <a:off x="4937760" y="2651760"/>
            <a:ext cx="1371600" cy="320040"/>
          </a:xfrm>
          <a:prstGeom prst="rect">
            <a:avLst/>
          </a:prstGeom>
          <a:noFill/>
        </p:spPr>
        <p:txBody>
          <a:bodyPr wrap="square" anchor="t" lIns="0" rIns="0" tIns="0" bIns="0">
            <a:spAutoFit/>
          </a:bodyPr>
          <a:lstStyle/>
          <a:p>
            <a:pPr algn="ctr">
              <a:spcAft>
                <a:spcPts val="0"/>
              </a:spcAft>
            </a:pPr>
            <a:r>
              <a:rPr sz="1500" b="1" i="0">
                <a:solidFill>
                  <a:srgbClr val="142B22"/>
                </a:solidFill>
                <a:latin typeface="Calibri"/>
              </a:rPr>
              <a:t>noop</a:t>
            </a:r>
          </a:p>
        </p:txBody>
      </p:sp>
      <p:sp>
        <p:nvSpPr>
          <p:cNvPr id="18" name="TextBox 17"/>
          <p:cNvSpPr txBox="1"/>
          <p:nvPr/>
        </p:nvSpPr>
        <p:spPr>
          <a:xfrm>
            <a:off x="4937760" y="2971800"/>
            <a:ext cx="1371600" cy="32004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@Fallback</a:t>
            </a:r>
          </a:p>
        </p:txBody>
      </p:sp>
      <p:sp>
        <p:nvSpPr>
          <p:cNvPr id="19" name="TextBox 18"/>
          <p:cNvSpPr txBox="1"/>
          <p:nvPr/>
        </p:nvSpPr>
        <p:spPr>
          <a:xfrm>
            <a:off x="548640" y="3520440"/>
            <a:ext cx="5669280" cy="32004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List&lt;Notifier&gt; упорядочен по @Order: console → email → html → noop</a:t>
            </a:r>
          </a:p>
        </p:txBody>
      </p:sp>
      <p:sp>
        <p:nvSpPr>
          <p:cNvPr id="20" name="TextBox 19"/>
          <p:cNvSpPr txBox="1"/>
          <p:nvPr/>
        </p:nvSpPr>
        <p:spPr>
          <a:xfrm>
            <a:off x="548640" y="4023360"/>
            <a:ext cx="5669280" cy="2286000"/>
          </a:xfrm>
          <a:prstGeom prst="rect">
            <a:avLst/>
          </a:prstGeom>
          <a:noFill/>
        </p:spPr>
        <p:txBody>
          <a:bodyPr wrap="square" lIns="0" rIns="0" tIns="0" bIns="0">
            <a:spAutoFit/>
          </a:bodyPr>
          <a:lstStyle/>
          <a:p>
            <a:pPr marL="274320" indent="-274320">
              <a:spcAft>
                <a:spcPts val="600"/>
              </a:spcAft>
              <a:buClr>
                <a:srgbClr val="6DB33F"/>
              </a:buClr>
              <a:buFont typeface="Arial"/>
              <a:buChar char="•"/>
            </a:pPr>
            <a:r>
              <a:rPr sz="1400" b="1">
                <a:solidFill>
                  <a:srgbClr val="1D2621"/>
                </a:solidFill>
                <a:latin typeface="Calibri"/>
              </a:rPr>
              <a:t>@Primary / @Qualifier / List / Map</a:t>
            </a:r>
            <a:r>
              <a:rPr sz="1400" b="0">
                <a:solidFill>
                  <a:srgbClr val="1D2621"/>
                </a:solidFill>
                <a:latin typeface="Calibri"/>
              </a:rPr>
              <a:t> — 4 способа выбрать бин</a:t>
            </a:r>
          </a:p>
          <a:p>
            <a:pPr marL="274320" indent="-274320">
              <a:spcAft>
                <a:spcPts val="600"/>
              </a:spcAft>
              <a:buClr>
                <a:srgbClr val="6DB33F"/>
              </a:buClr>
              <a:buFont typeface="Arial"/>
              <a:buChar char="•"/>
            </a:pPr>
            <a:r>
              <a:rPr sz="1400" b="1">
                <a:solidFill>
                  <a:srgbClr val="1D2621"/>
                </a:solidFill>
                <a:latin typeface="Calibri"/>
              </a:rPr>
              <a:t>@Bean reportDateFormatter</a:t>
            </a:r>
            <a:r>
              <a:rPr sz="1400" b="0">
                <a:solidFill>
                  <a:srgbClr val="1D2621"/>
                </a:solidFill>
                <a:latin typeface="Calibri"/>
              </a:rPr>
              <a:t> — класс JDK без @Component</a:t>
            </a:r>
          </a:p>
          <a:p>
            <a:pPr marL="274320" indent="-274320">
              <a:spcAft>
                <a:spcPts val="600"/>
              </a:spcAft>
              <a:buClr>
                <a:srgbClr val="6DB33F"/>
              </a:buClr>
              <a:buFont typeface="Arial"/>
              <a:buChar char="•"/>
            </a:pPr>
            <a:r>
              <a:rPr sz="1400" b="1">
                <a:solidFill>
                  <a:srgbClr val="1D2621"/>
                </a:solidFill>
                <a:latin typeface="Calibri"/>
              </a:rPr>
              <a:t>LifecycleDemo:</a:t>
            </a:r>
            <a:r>
              <a:rPr sz="1400" b="0">
                <a:solidFill>
                  <a:srgbClr val="1D2621"/>
                </a:solidFill>
                <a:latin typeface="Calibri"/>
              </a:rPr>
              <a:t> конструктор → @PostConstruct → @PreDestroy</a:t>
            </a:r>
          </a:p>
          <a:p>
            <a:pPr marL="274320" indent="-274320">
              <a:spcAft>
                <a:spcPts val="600"/>
              </a:spcAft>
              <a:buClr>
                <a:srgbClr val="6DB33F"/>
              </a:buClr>
              <a:buFont typeface="Arial"/>
              <a:buChar char="•"/>
            </a:pPr>
            <a:r>
              <a:rPr sz="1400" b="1">
                <a:solidFill>
                  <a:srgbClr val="1D2621"/>
                </a:solidFill>
                <a:latin typeface="Calibri"/>
              </a:rPr>
              <a:t>Ticket (prototype):</a:t>
            </a:r>
            <a:r>
              <a:rPr sz="1400" b="0">
                <a:solidFill>
                  <a:srgbClr val="1D2621"/>
                </a:solidFill>
                <a:latin typeface="Calibri"/>
              </a:rPr>
              <a:t> новый экземпляр только через ObjectProvider</a:t>
            </a:r>
          </a:p>
        </p:txBody>
      </p:sp>
      <p:sp>
        <p:nvSpPr>
          <p:cNvPr id="21" name="Rounded Rectangle 20"/>
          <p:cNvSpPr/>
          <p:nvPr/>
        </p:nvSpPr>
        <p:spPr>
          <a:xfrm>
            <a:off x="6675120" y="1508760"/>
            <a:ext cx="4937760" cy="219456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1645920"/>
            <a:ext cx="4389120" cy="365760"/>
          </a:xfrm>
          <a:prstGeom prst="rect">
            <a:avLst/>
          </a:prstGeom>
          <a:noFill/>
        </p:spPr>
        <p:txBody>
          <a:bodyPr wrap="square" anchor="t" lIns="0" rIns="0" tIns="0" bIns="0">
            <a:spAutoFit/>
          </a:bodyPr>
          <a:lstStyle/>
          <a:p>
            <a:pPr algn="l">
              <a:spcAft>
                <a:spcPts val="0"/>
              </a:spcAft>
            </a:pPr>
            <a:r>
              <a:rPr sz="1700" b="1" i="0">
                <a:solidFill>
                  <a:srgbClr val="142B22"/>
                </a:solidFill>
                <a:latin typeface="Calibri"/>
              </a:rPr>
              <a:t>Вариант 8 · HtmlNotifier</a:t>
            </a:r>
          </a:p>
        </p:txBody>
      </p:sp>
      <p:sp>
        <p:nvSpPr>
          <p:cNvPr id="23" name="TextBox 22"/>
          <p:cNvSpPr txBox="1"/>
          <p:nvPr/>
        </p:nvSpPr>
        <p:spPr>
          <a:xfrm>
            <a:off x="6949440" y="2103120"/>
            <a:ext cx="4389120" cy="1463040"/>
          </a:xfrm>
          <a:prstGeom prst="rect">
            <a:avLst/>
          </a:prstGeom>
          <a:noFill/>
        </p:spPr>
        <p:txBody>
          <a:bodyPr wrap="square" anchor="t" lIns="0" rIns="0" tIns="0" bIns="0">
            <a:spAutoFit/>
          </a:bodyPr>
          <a:lstStyle/>
          <a:p>
            <a:pPr algn="l">
              <a:spcAft>
                <a:spcPts val="600"/>
              </a:spcAft>
            </a:pPr>
            <a:r>
              <a:rPr sz="1400" b="1" i="0">
                <a:solidFill>
                  <a:srgbClr val="1D2621"/>
                </a:solidFill>
                <a:latin typeface="Calibri"/>
              </a:rPr>
              <a:t>вход:  </a:t>
            </a:r>
            <a:r>
              <a:rPr sz="1400" b="0" i="0">
                <a:solidFill>
                  <a:srgbClr val="1D2621"/>
                </a:solidFill>
                <a:latin typeface="Courier New"/>
              </a:rPr>
              <a:t>Hello &lt;world&gt;</a:t>
            </a:r>
          </a:p>
          <a:p>
            <a:pPr algn="l">
              <a:spcAft>
                <a:spcPts val="600"/>
              </a:spcAft>
            </a:pPr>
            <a:r>
              <a:rPr sz="1400" b="1" i="0">
                <a:solidFill>
                  <a:srgbClr val="1D2621"/>
                </a:solidFill>
                <a:latin typeface="Calibri"/>
              </a:rPr>
              <a:t>выход: </a:t>
            </a:r>
            <a:r>
              <a:rPr sz="1400" b="0" i="0">
                <a:solidFill>
                  <a:srgbClr val="1D2621"/>
                </a:solidFill>
                <a:latin typeface="Courier New"/>
              </a:rPr>
              <a:t>&lt;p&gt;Hello &amp;lt;world&amp;gt;&lt;/p&gt;</a:t>
            </a:r>
          </a:p>
          <a:p>
            <a:pPr algn="l">
              <a:spcAft>
                <a:spcPts val="600"/>
              </a:spcAft>
            </a:pPr>
            <a:r>
              <a:rPr sz="1400" b="0" i="0">
                <a:solidFill>
                  <a:srgbClr val="1D2621"/>
                </a:solidFill>
                <a:latin typeface="Calibri"/>
              </a:rPr>
              <a:t>Угловые скобки экранируются, а не интерпретируются как HTML</a:t>
            </a:r>
          </a:p>
        </p:txBody>
      </p:sp>
      <p:sp>
        <p:nvSpPr>
          <p:cNvPr id="24" name="Rounded Rectangle 23"/>
          <p:cNvSpPr/>
          <p:nvPr/>
        </p:nvSpPr>
        <p:spPr>
          <a:xfrm>
            <a:off x="6675120" y="3977639"/>
            <a:ext cx="4937760" cy="219456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4114800"/>
            <a:ext cx="4389120" cy="365760"/>
          </a:xfrm>
          <a:prstGeom prst="rect">
            <a:avLst/>
          </a:prstGeom>
          <a:noFill/>
        </p:spPr>
        <p:txBody>
          <a:bodyPr wrap="square" anchor="t" lIns="0" rIns="0" tIns="0" bIns="0">
            <a:spAutoFit/>
          </a:bodyPr>
          <a:lstStyle/>
          <a:p>
            <a:pPr algn="l">
              <a:spcAft>
                <a:spcPts val="0"/>
              </a:spcAft>
            </a:pPr>
            <a:r>
              <a:rPr sz="1700" b="1" i="0">
                <a:solidFill>
                  <a:srgbClr val="6DB33F"/>
                </a:solidFill>
                <a:latin typeface="Calibri"/>
              </a:rPr>
              <a:t>Связь с проектом</a:t>
            </a:r>
          </a:p>
        </p:txBody>
      </p:sp>
      <p:sp>
        <p:nvSpPr>
          <p:cNvPr id="26" name="TextBox 25"/>
          <p:cNvSpPr txBox="1"/>
          <p:nvPr/>
        </p:nvSpPr>
        <p:spPr>
          <a:xfrm>
            <a:off x="6949440" y="4572000"/>
            <a:ext cx="4389120" cy="1463040"/>
          </a:xfrm>
          <a:prstGeom prst="rect">
            <a:avLst/>
          </a:prstGeom>
          <a:noFill/>
        </p:spPr>
        <p:txBody>
          <a:bodyPr wrap="square" anchor="t" lIns="0" rIns="0" tIns="0" bIns="0">
            <a:spAutoFit/>
          </a:bodyPr>
          <a:lstStyle/>
          <a:p>
            <a:pPr algn="l">
              <a:spcAft>
                <a:spcPts val="0"/>
              </a:spcAft>
            </a:pPr>
            <a:r>
              <a:rPr sz="1400" b="0" i="0">
                <a:solidFill>
                  <a:srgbClr val="FFFFFF"/>
                </a:solidFill>
                <a:latin typeface="Calibri"/>
              </a:rPr>
              <a:t>BookService.create() отправляет «New book in the catalogue» через @Primary EmailNotifier, который читает app.mail.* из лабораторной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Конфигурация: YAML, профили, свойства</a:t>
            </a:r>
          </a:p>
        </p:txBody>
      </p:sp>
      <p:sp>
        <p:nvSpPr>
          <p:cNvPr id="3" name="Rounded Rectangle 2"/>
          <p:cNvSpPr/>
          <p:nvPr/>
        </p:nvSpPr>
        <p:spPr>
          <a:xfrm>
            <a:off x="9646920" y="502920"/>
            <a:ext cx="2011680" cy="502920"/>
          </a:xfrm>
          <a:prstGeom prst="roundRect">
            <a:avLst>
              <a:gd name="adj" fmla="val 50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Лаб. 3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6</a:t>
            </a:r>
          </a:p>
        </p:txBody>
      </p:sp>
      <p:graphicFrame>
        <p:nvGraphicFramePr>
          <p:cNvPr id="7" name="Table 6"/>
          <p:cNvGraphicFramePr>
            <a:graphicFrameLocks noGrp="1"/>
          </p:cNvGraphicFramePr>
          <p:nvPr/>
        </p:nvGraphicFramePr>
        <p:xfrm>
          <a:off x="548640" y="1508760"/>
          <a:ext cx="6675120" cy="2880360"/>
        </p:xfrm>
        <a:graphic>
          <a:graphicData uri="http://schemas.openxmlformats.org/drawingml/2006/table">
            <a:tbl>
              <a:tblPr firstRow="1" bandRow="1">
                <a:tableStyleId>{5C22544A-7EE6-4342-B048-85BDC9FD1C3A}</a:tableStyleId>
              </a:tblPr>
              <a:tblGrid>
                <a:gridCol w="2286000"/>
                <a:gridCol w="1463040"/>
                <a:gridCol w="1463040"/>
                <a:gridCol w="1463040"/>
              </a:tblGrid>
              <a:tr h="411480">
                <a:tc>
                  <a:txBody>
                    <a:bodyPr/>
                    <a:lstStyle/>
                    <a:p>
                      <a:r>
                        <a:rPr sz="1400" b="1">
                          <a:solidFill>
                            <a:srgbClr val="FFFFFF"/>
                          </a:solidFill>
                          <a:latin typeface="Calibri"/>
                        </a:rPr>
                        <a:t>Поле /api/config</a:t>
                      </a:r>
                    </a:p>
                  </a:txBody>
                  <a:tcPr marL="109728" marR="109728" anchor="ctr">
                    <a:solidFill>
                      <a:srgbClr val="142B22"/>
                    </a:solidFill>
                  </a:tcPr>
                </a:tc>
                <a:tc>
                  <a:txBody>
                    <a:bodyPr/>
                    <a:lstStyle/>
                    <a:p>
                      <a:r>
                        <a:rPr sz="1400" b="1">
                          <a:solidFill>
                            <a:srgbClr val="FFFFFF"/>
                          </a:solidFill>
                          <a:latin typeface="Calibri"/>
                        </a:rPr>
                        <a:t>без профиля</a:t>
                      </a:r>
                    </a:p>
                  </a:txBody>
                  <a:tcPr marL="109728" marR="109728" anchor="ctr">
                    <a:solidFill>
                      <a:srgbClr val="142B22"/>
                    </a:solidFill>
                  </a:tcPr>
                </a:tc>
                <a:tc>
                  <a:txBody>
                    <a:bodyPr/>
                    <a:lstStyle/>
                    <a:p>
                      <a:r>
                        <a:rPr sz="1400" b="1">
                          <a:solidFill>
                            <a:srgbClr val="FFFFFF"/>
                          </a:solidFill>
                          <a:latin typeface="Calibri"/>
                        </a:rPr>
                        <a:t>dev</a:t>
                      </a:r>
                    </a:p>
                  </a:txBody>
                  <a:tcPr marL="109728" marR="109728" anchor="ctr">
                    <a:solidFill>
                      <a:srgbClr val="142B22"/>
                    </a:solidFill>
                  </a:tcPr>
                </a:tc>
                <a:tc>
                  <a:txBody>
                    <a:bodyPr/>
                    <a:lstStyle/>
                    <a:p>
                      <a:r>
                        <a:rPr sz="1400" b="1">
                          <a:solidFill>
                            <a:srgbClr val="FFFFFF"/>
                          </a:solidFill>
                          <a:latin typeface="Calibri"/>
                        </a:rPr>
                        <a:t>prod</a:t>
                      </a:r>
                    </a:p>
                  </a:txBody>
                  <a:tcPr marL="109728" marR="109728" anchor="ctr">
                    <a:solidFill>
                      <a:srgbClr val="142B22"/>
                    </a:solidFill>
                  </a:tcPr>
                </a:tc>
              </a:tr>
              <a:tr h="411480">
                <a:tc>
                  <a:txBody>
                    <a:bodyPr/>
                    <a:lstStyle/>
                    <a:p>
                      <a:r>
                        <a:rPr sz="1400" b="1">
                          <a:solidFill>
                            <a:srgbClr val="1D2621"/>
                          </a:solidFill>
                          <a:latin typeface="Calibri"/>
                        </a:rPr>
                        <a:t>serverPort</a:t>
                      </a:r>
                    </a:p>
                  </a:txBody>
                  <a:tcPr marL="109728" marR="109728" anchor="ctr">
                    <a:solidFill>
                      <a:srgbClr val="FFFFFF"/>
                    </a:solidFill>
                  </a:tcPr>
                </a:tc>
                <a:tc>
                  <a:txBody>
                    <a:bodyPr/>
                    <a:lstStyle/>
                    <a:p>
                      <a:r>
                        <a:rPr sz="1400" b="0">
                          <a:solidFill>
                            <a:srgbClr val="1D2621"/>
                          </a:solidFill>
                          <a:latin typeface="Calibri"/>
                        </a:rPr>
                        <a:t>8080</a:t>
                      </a:r>
                    </a:p>
                  </a:txBody>
                  <a:tcPr marL="109728" marR="109728" anchor="ctr">
                    <a:solidFill>
                      <a:srgbClr val="FFFFFF"/>
                    </a:solidFill>
                  </a:tcPr>
                </a:tc>
                <a:tc>
                  <a:txBody>
                    <a:bodyPr/>
                    <a:lstStyle/>
                    <a:p>
                      <a:r>
                        <a:rPr sz="1400" b="0">
                          <a:solidFill>
                            <a:srgbClr val="1D2621"/>
                          </a:solidFill>
                          <a:latin typeface="Calibri"/>
                        </a:rPr>
                        <a:t>8081</a:t>
                      </a:r>
                    </a:p>
                  </a:txBody>
                  <a:tcPr marL="109728" marR="109728" anchor="ctr">
                    <a:solidFill>
                      <a:srgbClr val="FFFFFF"/>
                    </a:solidFill>
                  </a:tcPr>
                </a:tc>
                <a:tc>
                  <a:txBody>
                    <a:bodyPr/>
                    <a:lstStyle/>
                    <a:p>
                      <a:r>
                        <a:rPr sz="1400" b="0">
                          <a:solidFill>
                            <a:srgbClr val="1D2621"/>
                          </a:solidFill>
                          <a:latin typeface="Calibri"/>
                        </a:rPr>
                        <a:t>8080</a:t>
                      </a:r>
                    </a:p>
                  </a:txBody>
                  <a:tcPr marL="109728" marR="109728" anchor="ctr">
                    <a:solidFill>
                      <a:srgbClr val="FFFFFF"/>
                    </a:solidFill>
                  </a:tcPr>
                </a:tc>
              </a:tr>
              <a:tr h="411480">
                <a:tc>
                  <a:txBody>
                    <a:bodyPr/>
                    <a:lstStyle/>
                    <a:p>
                      <a:r>
                        <a:rPr sz="1400" b="1">
                          <a:solidFill>
                            <a:srgbClr val="1D2621"/>
                          </a:solidFill>
                          <a:latin typeface="Calibri"/>
                        </a:rPr>
                        <a:t>mailRetryCount</a:t>
                      </a:r>
                    </a:p>
                  </a:txBody>
                  <a:tcPr marL="109728" marR="109728" anchor="ctr">
                    <a:solidFill>
                      <a:srgbClr val="EAF4E2"/>
                    </a:solidFill>
                  </a:tcPr>
                </a:tc>
                <a:tc>
                  <a:txBody>
                    <a:bodyPr/>
                    <a:lstStyle/>
                    <a:p>
                      <a:r>
                        <a:rPr sz="1400" b="0">
                          <a:solidFill>
                            <a:srgbClr val="1D2621"/>
                          </a:solidFill>
                          <a:latin typeface="Calibri"/>
                        </a:rPr>
                        <a:t>3</a:t>
                      </a:r>
                    </a:p>
                  </a:txBody>
                  <a:tcPr marL="109728" marR="109728" anchor="ctr">
                    <a:solidFill>
                      <a:srgbClr val="EAF4E2"/>
                    </a:solidFill>
                  </a:tcPr>
                </a:tc>
                <a:tc>
                  <a:txBody>
                    <a:bodyPr/>
                    <a:lstStyle/>
                    <a:p>
                      <a:r>
                        <a:rPr sz="1400" b="0">
                          <a:solidFill>
                            <a:srgbClr val="1D2621"/>
                          </a:solidFill>
                          <a:latin typeface="Calibri"/>
                        </a:rPr>
                        <a:t>1</a:t>
                      </a:r>
                    </a:p>
                  </a:txBody>
                  <a:tcPr marL="109728" marR="109728" anchor="ctr">
                    <a:solidFill>
                      <a:srgbClr val="EAF4E2"/>
                    </a:solidFill>
                  </a:tcPr>
                </a:tc>
                <a:tc>
                  <a:txBody>
                    <a:bodyPr/>
                    <a:lstStyle/>
                    <a:p>
                      <a:r>
                        <a:rPr sz="1400" b="0">
                          <a:solidFill>
                            <a:srgbClr val="1D2621"/>
                          </a:solidFill>
                          <a:latin typeface="Calibri"/>
                        </a:rPr>
                        <a:t>5</a:t>
                      </a:r>
                    </a:p>
                  </a:txBody>
                  <a:tcPr marL="109728" marR="109728" anchor="ctr">
                    <a:solidFill>
                      <a:srgbClr val="EAF4E2"/>
                    </a:solidFill>
                  </a:tcPr>
                </a:tc>
              </a:tr>
              <a:tr h="411480">
                <a:tc>
                  <a:txBody>
                    <a:bodyPr/>
                    <a:lstStyle/>
                    <a:p>
                      <a:r>
                        <a:rPr sz="1400" b="1">
                          <a:solidFill>
                            <a:srgbClr val="1D2621"/>
                          </a:solidFill>
                          <a:latin typeface="Calibri"/>
                        </a:rPr>
                        <a:t>mailEnabled</a:t>
                      </a:r>
                    </a:p>
                  </a:txBody>
                  <a:tcPr marL="109728" marR="109728" anchor="ctr">
                    <a:solidFill>
                      <a:srgbClr val="FFFFFF"/>
                    </a:solidFill>
                  </a:tcPr>
                </a:tc>
                <a:tc>
                  <a:txBody>
                    <a:bodyPr/>
                    <a:lstStyle/>
                    <a:p>
                      <a:r>
                        <a:rPr sz="1400" b="0">
                          <a:solidFill>
                            <a:srgbClr val="1D2621"/>
                          </a:solidFill>
                          <a:latin typeface="Calibri"/>
                        </a:rPr>
                        <a:t>true</a:t>
                      </a:r>
                    </a:p>
                  </a:txBody>
                  <a:tcPr marL="109728" marR="109728" anchor="ctr">
                    <a:solidFill>
                      <a:srgbClr val="FFFFFF"/>
                    </a:solidFill>
                  </a:tcPr>
                </a:tc>
                <a:tc>
                  <a:txBody>
                    <a:bodyPr/>
                    <a:lstStyle/>
                    <a:p>
                      <a:r>
                        <a:rPr sz="1400" b="0">
                          <a:solidFill>
                            <a:srgbClr val="1D2621"/>
                          </a:solidFill>
                          <a:latin typeface="Calibri"/>
                        </a:rPr>
                        <a:t>false</a:t>
                      </a:r>
                    </a:p>
                  </a:txBody>
                  <a:tcPr marL="109728" marR="109728" anchor="ctr">
                    <a:solidFill>
                      <a:srgbClr val="FFFFFF"/>
                    </a:solidFill>
                  </a:tcPr>
                </a:tc>
                <a:tc>
                  <a:txBody>
                    <a:bodyPr/>
                    <a:lstStyle/>
                    <a:p>
                      <a:r>
                        <a:rPr sz="1400" b="0">
                          <a:solidFill>
                            <a:srgbClr val="1D2621"/>
                          </a:solidFill>
                          <a:latin typeface="Calibri"/>
                        </a:rPr>
                        <a:t>true</a:t>
                      </a:r>
                    </a:p>
                  </a:txBody>
                  <a:tcPr marL="109728" marR="109728" anchor="ctr">
                    <a:solidFill>
                      <a:srgbClr val="FFFFFF"/>
                    </a:solidFill>
                  </a:tcPr>
                </a:tc>
              </a:tr>
              <a:tr h="411480">
                <a:tc>
                  <a:txBody>
                    <a:bodyPr/>
                    <a:lstStyle/>
                    <a:p>
                      <a:r>
                        <a:rPr sz="1400" b="1">
                          <a:solidFill>
                            <a:srgbClr val="1D2621"/>
                          </a:solidFill>
                          <a:latin typeface="Calibri"/>
                        </a:rPr>
                        <a:t>cacheTtl (V7)</a:t>
                      </a:r>
                    </a:p>
                  </a:txBody>
                  <a:tcPr marL="109728" marR="109728" anchor="ctr">
                    <a:solidFill>
                      <a:srgbClr val="EAF4E2"/>
                    </a:solidFill>
                  </a:tcPr>
                </a:tc>
                <a:tc>
                  <a:txBody>
                    <a:bodyPr/>
                    <a:lstStyle/>
                    <a:p>
                      <a:r>
                        <a:rPr sz="1400" b="0">
                          <a:solidFill>
                            <a:srgbClr val="1D2621"/>
                          </a:solidFill>
                          <a:latin typeface="Calibri"/>
                        </a:rPr>
                        <a:t>PT1M</a:t>
                      </a:r>
                    </a:p>
                  </a:txBody>
                  <a:tcPr marL="109728" marR="109728" anchor="ctr">
                    <a:solidFill>
                      <a:srgbClr val="EAF4E2"/>
                    </a:solidFill>
                  </a:tcPr>
                </a:tc>
                <a:tc>
                  <a:txBody>
                    <a:bodyPr/>
                    <a:lstStyle/>
                    <a:p>
                      <a:r>
                        <a:rPr sz="1400" b="0">
                          <a:solidFill>
                            <a:srgbClr val="1D2621"/>
                          </a:solidFill>
                          <a:latin typeface="Calibri"/>
                        </a:rPr>
                        <a:t>PT30S</a:t>
                      </a:r>
                    </a:p>
                  </a:txBody>
                  <a:tcPr marL="109728" marR="109728" anchor="ctr">
                    <a:solidFill>
                      <a:srgbClr val="EAF4E2"/>
                    </a:solidFill>
                  </a:tcPr>
                </a:tc>
                <a:tc>
                  <a:txBody>
                    <a:bodyPr/>
                    <a:lstStyle/>
                    <a:p>
                      <a:r>
                        <a:rPr sz="1400" b="0">
                          <a:solidFill>
                            <a:srgbClr val="1D2621"/>
                          </a:solidFill>
                          <a:latin typeface="Calibri"/>
                        </a:rPr>
                        <a:t>PT1M</a:t>
                      </a:r>
                    </a:p>
                  </a:txBody>
                  <a:tcPr marL="109728" marR="109728" anchor="ctr">
                    <a:solidFill>
                      <a:srgbClr val="EAF4E2"/>
                    </a:solidFill>
                  </a:tcPr>
                </a:tc>
              </a:tr>
              <a:tr h="411480">
                <a:tc>
                  <a:txBody>
                    <a:bodyPr/>
                    <a:lstStyle/>
                    <a:p>
                      <a:r>
                        <a:rPr sz="1400" b="1">
                          <a:solidFill>
                            <a:srgbClr val="1D2621"/>
                          </a:solidFill>
                          <a:latin typeface="Calibri"/>
                        </a:rPr>
                        <a:t>cacheMaxEntries (V7)</a:t>
                      </a:r>
                    </a:p>
                  </a:txBody>
                  <a:tcPr marL="109728" marR="109728" anchor="ctr">
                    <a:solidFill>
                      <a:srgbClr val="FFFFFF"/>
                    </a:solidFill>
                  </a:tcPr>
                </a:tc>
                <a:tc>
                  <a:txBody>
                    <a:bodyPr/>
                    <a:lstStyle/>
                    <a:p>
                      <a:r>
                        <a:rPr sz="1400" b="0">
                          <a:solidFill>
                            <a:srgbClr val="1D2621"/>
                          </a:solidFill>
                          <a:latin typeface="Calibri"/>
                        </a:rPr>
                        <a:t>100</a:t>
                      </a:r>
                    </a:p>
                  </a:txBody>
                  <a:tcPr marL="109728" marR="109728" anchor="ctr">
                    <a:solidFill>
                      <a:srgbClr val="FFFFFF"/>
                    </a:solidFill>
                  </a:tcPr>
                </a:tc>
                <a:tc>
                  <a:txBody>
                    <a:bodyPr/>
                    <a:lstStyle/>
                    <a:p>
                      <a:r>
                        <a:rPr sz="1400" b="0">
                          <a:solidFill>
                            <a:srgbClr val="1D2621"/>
                          </a:solidFill>
                          <a:latin typeface="Calibri"/>
                        </a:rPr>
                        <a:t>50</a:t>
                      </a:r>
                    </a:p>
                  </a:txBody>
                  <a:tcPr marL="109728" marR="109728" anchor="ctr">
                    <a:solidFill>
                      <a:srgbClr val="FFFFFF"/>
                    </a:solidFill>
                  </a:tcPr>
                </a:tc>
                <a:tc>
                  <a:txBody>
                    <a:bodyPr/>
                    <a:lstStyle/>
                    <a:p>
                      <a:r>
                        <a:rPr sz="1400" b="0">
                          <a:solidFill>
                            <a:srgbClr val="1D2621"/>
                          </a:solidFill>
                          <a:latin typeface="Calibri"/>
                        </a:rPr>
                        <a:t>100</a:t>
                      </a:r>
                    </a:p>
                  </a:txBody>
                  <a:tcPr marL="109728" marR="109728" anchor="ctr">
                    <a:solidFill>
                      <a:srgbClr val="FFFFFF"/>
                    </a:solidFill>
                  </a:tcPr>
                </a:tc>
              </a:tr>
              <a:tr h="411480">
                <a:tc>
                  <a:txBody>
                    <a:bodyPr/>
                    <a:lstStyle/>
                    <a:p>
                      <a:r>
                        <a:rPr sz="1400" b="1">
                          <a:solidFill>
                            <a:srgbClr val="1D2621"/>
                          </a:solidFill>
                          <a:latin typeface="Calibri"/>
                        </a:rPr>
                        <a:t>banner</a:t>
                      </a:r>
                    </a:p>
                  </a:txBody>
                  <a:tcPr marL="109728" marR="109728" anchor="ctr">
                    <a:solidFill>
                      <a:srgbClr val="EAF4E2"/>
                    </a:solidFill>
                  </a:tcPr>
                </a:tc>
                <a:tc>
                  <a:txBody>
                    <a:bodyPr/>
                    <a:lstStyle/>
                    <a:p>
                      <a:r>
                        <a:rPr sz="1400" b="0">
                          <a:solidFill>
                            <a:srgbClr val="1D2621"/>
                          </a:solidFill>
                          <a:latin typeface="Calibri"/>
                        </a:rPr>
                        <a:t>no profile</a:t>
                      </a:r>
                    </a:p>
                  </a:txBody>
                  <a:tcPr marL="109728" marR="109728" anchor="ctr">
                    <a:solidFill>
                      <a:srgbClr val="EAF4E2"/>
                    </a:solidFill>
                  </a:tcPr>
                </a:tc>
                <a:tc>
                  <a:txBody>
                    <a:bodyPr/>
                    <a:lstStyle/>
                    <a:p>
                      <a:r>
                        <a:rPr sz="1400" b="0">
                          <a:solidFill>
                            <a:srgbClr val="1D2621"/>
                          </a:solidFill>
                          <a:latin typeface="Calibri"/>
                        </a:rPr>
                        <a:t>DEVELOPMENT</a:t>
                      </a:r>
                    </a:p>
                  </a:txBody>
                  <a:tcPr marL="109728" marR="109728" anchor="ctr">
                    <a:solidFill>
                      <a:srgbClr val="EAF4E2"/>
                    </a:solidFill>
                  </a:tcPr>
                </a:tc>
                <a:tc>
                  <a:txBody>
                    <a:bodyPr/>
                    <a:lstStyle/>
                    <a:p>
                      <a:r>
                        <a:rPr sz="1400" b="0">
                          <a:solidFill>
                            <a:srgbClr val="1D2621"/>
                          </a:solidFill>
                          <a:latin typeface="Calibri"/>
                        </a:rPr>
                        <a:t>PRODUCTION</a:t>
                      </a:r>
                    </a:p>
                  </a:txBody>
                  <a:tcPr marL="109728" marR="109728" anchor="ctr">
                    <a:solidFill>
                      <a:srgbClr val="EAF4E2"/>
                    </a:solidFill>
                  </a:tcPr>
                </a:tc>
              </a:tr>
            </a:tbl>
          </a:graphicData>
        </a:graphic>
      </p:graphicFrame>
      <p:sp>
        <p:nvSpPr>
          <p:cNvPr id="8" name="TextBox 7"/>
          <p:cNvSpPr txBox="1"/>
          <p:nvPr/>
        </p:nvSpPr>
        <p:spPr>
          <a:xfrm>
            <a:off x="548640" y="4572000"/>
            <a:ext cx="667512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Приоритет источников (сильнее → слабее)</a:t>
            </a:r>
          </a:p>
        </p:txBody>
      </p:sp>
      <p:sp>
        <p:nvSpPr>
          <p:cNvPr id="9" name="Rounded Rectangle 8"/>
          <p:cNvSpPr/>
          <p:nvPr/>
        </p:nvSpPr>
        <p:spPr>
          <a:xfrm>
            <a:off x="548640" y="5029200"/>
            <a:ext cx="1216152" cy="640080"/>
          </a:xfrm>
          <a:prstGeom prst="roundRect">
            <a:avLst>
              <a:gd name="adj" fmla="val 8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0"/>
            <a:ext cx="1216152" cy="640080"/>
          </a:xfrm>
          <a:prstGeom prst="rect">
            <a:avLst/>
          </a:prstGeom>
          <a:noFill/>
        </p:spPr>
        <p:txBody>
          <a:bodyPr wrap="square" anchor="ctr" lIns="0" rIns="0" tIns="0" bIns="0">
            <a:spAutoFit/>
          </a:bodyPr>
          <a:lstStyle/>
          <a:p>
            <a:pPr algn="ctr">
              <a:spcAft>
                <a:spcPts val="0"/>
              </a:spcAft>
            </a:pPr>
            <a:r>
              <a:rPr sz="1300" b="1" i="0">
                <a:solidFill>
                  <a:srgbClr val="FFFFFF"/>
                </a:solidFill>
                <a:latin typeface="Calibri"/>
              </a:rPr>
              <a:t>--arg</a:t>
            </a:r>
          </a:p>
        </p:txBody>
      </p:sp>
      <p:sp>
        <p:nvSpPr>
          <p:cNvPr id="11" name="Rounded Rectangle 10"/>
          <p:cNvSpPr/>
          <p:nvPr/>
        </p:nvSpPr>
        <p:spPr>
          <a:xfrm>
            <a:off x="1901952" y="5029200"/>
            <a:ext cx="1216152" cy="6400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1952" y="5029200"/>
            <a:ext cx="1216152" cy="640080"/>
          </a:xfrm>
          <a:prstGeom prst="rect">
            <a:avLst/>
          </a:prstGeom>
          <a:noFill/>
        </p:spPr>
        <p:txBody>
          <a:bodyPr wrap="square" anchor="ctr" lIns="0" rIns="0" tIns="0" bIns="0">
            <a:spAutoFit/>
          </a:bodyPr>
          <a:lstStyle/>
          <a:p>
            <a:pPr algn="ctr">
              <a:spcAft>
                <a:spcPts val="0"/>
              </a:spcAft>
            </a:pPr>
            <a:r>
              <a:rPr sz="1300" b="1" i="0">
                <a:solidFill>
                  <a:srgbClr val="142B22"/>
                </a:solidFill>
                <a:latin typeface="Calibri"/>
              </a:rPr>
              <a:t>-D JVM</a:t>
            </a:r>
          </a:p>
        </p:txBody>
      </p:sp>
      <p:sp>
        <p:nvSpPr>
          <p:cNvPr id="13" name="Rounded Rectangle 12"/>
          <p:cNvSpPr/>
          <p:nvPr/>
        </p:nvSpPr>
        <p:spPr>
          <a:xfrm>
            <a:off x="3255264" y="5029200"/>
            <a:ext cx="1216152" cy="6400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5264" y="5029200"/>
            <a:ext cx="1216152" cy="640080"/>
          </a:xfrm>
          <a:prstGeom prst="rect">
            <a:avLst/>
          </a:prstGeom>
          <a:noFill/>
        </p:spPr>
        <p:txBody>
          <a:bodyPr wrap="square" anchor="ctr" lIns="0" rIns="0" tIns="0" bIns="0">
            <a:spAutoFit/>
          </a:bodyPr>
          <a:lstStyle/>
          <a:p>
            <a:pPr algn="ctr">
              <a:spcAft>
                <a:spcPts val="0"/>
              </a:spcAft>
            </a:pPr>
            <a:r>
              <a:rPr sz="1300" b="1" i="0">
                <a:solidFill>
                  <a:srgbClr val="142B22"/>
                </a:solidFill>
                <a:latin typeface="Calibri"/>
              </a:rPr>
              <a:t>ENV</a:t>
            </a:r>
          </a:p>
        </p:txBody>
      </p:sp>
      <p:sp>
        <p:nvSpPr>
          <p:cNvPr id="15" name="Rounded Rectangle 14"/>
          <p:cNvSpPr/>
          <p:nvPr/>
        </p:nvSpPr>
        <p:spPr>
          <a:xfrm>
            <a:off x="4608575" y="5029200"/>
            <a:ext cx="1216152" cy="6400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5" y="5029200"/>
            <a:ext cx="1216152" cy="640080"/>
          </a:xfrm>
          <a:prstGeom prst="rect">
            <a:avLst/>
          </a:prstGeom>
          <a:noFill/>
        </p:spPr>
        <p:txBody>
          <a:bodyPr wrap="square" anchor="ctr" lIns="0" rIns="0" tIns="0" bIns="0">
            <a:spAutoFit/>
          </a:bodyPr>
          <a:lstStyle/>
          <a:p>
            <a:pPr algn="ctr">
              <a:spcAft>
                <a:spcPts val="0"/>
              </a:spcAft>
            </a:pPr>
            <a:r>
              <a:rPr sz="1300" b="1" i="0">
                <a:solidFill>
                  <a:srgbClr val="142B22"/>
                </a:solidFill>
                <a:latin typeface="Calibri"/>
              </a:rPr>
              <a:t>profile.yml</a:t>
            </a:r>
          </a:p>
        </p:txBody>
      </p:sp>
      <p:sp>
        <p:nvSpPr>
          <p:cNvPr id="17" name="Rounded Rectangle 16"/>
          <p:cNvSpPr/>
          <p:nvPr/>
        </p:nvSpPr>
        <p:spPr>
          <a:xfrm>
            <a:off x="5961888" y="5029200"/>
            <a:ext cx="1216152" cy="6400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1888" y="5029200"/>
            <a:ext cx="1216152" cy="640080"/>
          </a:xfrm>
          <a:prstGeom prst="rect">
            <a:avLst/>
          </a:prstGeom>
          <a:noFill/>
        </p:spPr>
        <p:txBody>
          <a:bodyPr wrap="square" anchor="ctr" lIns="0" rIns="0" tIns="0" bIns="0">
            <a:spAutoFit/>
          </a:bodyPr>
          <a:lstStyle/>
          <a:p>
            <a:pPr algn="ctr">
              <a:spcAft>
                <a:spcPts val="0"/>
              </a:spcAft>
            </a:pPr>
            <a:r>
              <a:rPr sz="1300" b="1" i="0">
                <a:solidFill>
                  <a:srgbClr val="142B22"/>
                </a:solidFill>
                <a:latin typeface="Calibri"/>
              </a:rPr>
              <a:t>app.yml</a:t>
            </a:r>
          </a:p>
        </p:txBody>
      </p:sp>
      <p:sp>
        <p:nvSpPr>
          <p:cNvPr id="19" name="Rounded Rectangle 18"/>
          <p:cNvSpPr/>
          <p:nvPr/>
        </p:nvSpPr>
        <p:spPr>
          <a:xfrm>
            <a:off x="7680960" y="1508760"/>
            <a:ext cx="3931920" cy="274320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0" y="1645919"/>
            <a:ext cx="3383279" cy="320040"/>
          </a:xfrm>
          <a:prstGeom prst="rect">
            <a:avLst/>
          </a:prstGeom>
          <a:noFill/>
        </p:spPr>
        <p:txBody>
          <a:bodyPr wrap="square" anchor="t" lIns="0" rIns="0" tIns="0" bIns="0">
            <a:spAutoFit/>
          </a:bodyPr>
          <a:lstStyle/>
          <a:p>
            <a:pPr algn="l">
              <a:spcAft>
                <a:spcPts val="0"/>
              </a:spcAft>
            </a:pPr>
            <a:r>
              <a:rPr sz="1100" b="1" i="0">
                <a:solidFill>
                  <a:srgbClr val="6DB33F"/>
                </a:solidFill>
                <a:latin typeface="Calibri"/>
              </a:rPr>
              <a:t>config/AppProperties.java</a:t>
            </a:r>
          </a:p>
        </p:txBody>
      </p:sp>
      <p:sp>
        <p:nvSpPr>
          <p:cNvPr id="21" name="TextBox 20"/>
          <p:cNvSpPr txBox="1"/>
          <p:nvPr/>
        </p:nvSpPr>
        <p:spPr>
          <a:xfrm>
            <a:off x="7955280" y="2011680"/>
            <a:ext cx="3383279" cy="2103120"/>
          </a:xfrm>
          <a:prstGeom prst="rect">
            <a:avLst/>
          </a:prstGeom>
          <a:noFill/>
        </p:spPr>
        <p:txBody>
          <a:bodyPr wrap="square" anchor="t" lIns="0" rIns="0" tIns="0" bIns="0">
            <a:spAutoFit/>
          </a:bodyPr>
          <a:lstStyle/>
          <a:p>
            <a:pPr algn="l">
              <a:lnSpc>
                <a:spcPct val="105000"/>
              </a:lnSpc>
              <a:spcAft>
                <a:spcPts val="0"/>
              </a:spcAft>
            </a:pPr>
            <a:r>
              <a:rPr sz="1100" b="0" i="0">
                <a:solidFill>
                  <a:srgbClr val="D8F0C8"/>
                </a:solidFill>
                <a:latin typeface="Courier New"/>
              </a:rPr>
              <a:t>@ConfigurationProperties("app")</a:t>
            </a:r>
          </a:p>
          <a:p>
            <a:pPr algn="l">
              <a:lnSpc>
                <a:spcPct val="105000"/>
              </a:lnSpc>
              <a:spcAft>
                <a:spcPts val="0"/>
              </a:spcAft>
            </a:pPr>
            <a:r>
              <a:rPr sz="1100" b="0" i="0">
                <a:solidFill>
                  <a:srgbClr val="D8F0C8"/>
                </a:solidFill>
                <a:latin typeface="Courier New"/>
              </a:rPr>
              <a:t>@Validated</a:t>
            </a:r>
          </a:p>
          <a:p>
            <a:pPr algn="l">
              <a:lnSpc>
                <a:spcPct val="105000"/>
              </a:lnSpc>
              <a:spcAft>
                <a:spcPts val="0"/>
              </a:spcAft>
            </a:pPr>
            <a:r>
              <a:rPr sz="1100" b="0" i="0">
                <a:solidFill>
                  <a:srgbClr val="D8F0C8"/>
                </a:solidFill>
                <a:latin typeface="Courier New"/>
              </a:rPr>
              <a:t>public record AppProperties(</a:t>
            </a:r>
          </a:p>
          <a:p>
            <a:pPr algn="l">
              <a:lnSpc>
                <a:spcPct val="105000"/>
              </a:lnSpc>
              <a:spcAft>
                <a:spcPts val="0"/>
              </a:spcAft>
            </a:pPr>
            <a:r>
              <a:rPr sz="1100" b="0" i="0">
                <a:solidFill>
                  <a:srgbClr val="D8F0C8"/>
                </a:solidFill>
                <a:latin typeface="Courier New"/>
              </a:rPr>
              <a:t>  @NotBlank String owner,</a:t>
            </a:r>
          </a:p>
          <a:p>
            <a:pPr algn="l">
              <a:lnSpc>
                <a:spcPct val="105000"/>
              </a:lnSpc>
              <a:spcAft>
                <a:spcPts val="0"/>
              </a:spcAft>
            </a:pPr>
            <a:r>
              <a:rPr sz="1100" b="0" i="0">
                <a:solidFill>
                  <a:srgbClr val="D8F0C8"/>
                </a:solidFill>
                <a:latin typeface="Courier New"/>
              </a:rPr>
              <a:t>  @Valid Mail mail,</a:t>
            </a:r>
          </a:p>
          <a:p>
            <a:pPr algn="l">
              <a:lnSpc>
                <a:spcPct val="105000"/>
              </a:lnSpc>
              <a:spcAft>
                <a:spcPts val="0"/>
              </a:spcAft>
            </a:pPr>
            <a:r>
              <a:rPr sz="1100" b="0" i="0">
                <a:solidFill>
                  <a:srgbClr val="D8F0C8"/>
                </a:solidFill>
                <a:latin typeface="Courier New"/>
              </a:rPr>
              <a:t>  @Valid Cache cache) {</a:t>
            </a:r>
          </a:p>
          <a:p>
            <a:pPr algn="l">
              <a:lnSpc>
                <a:spcPct val="105000"/>
              </a:lnSpc>
              <a:spcAft>
                <a:spcPts val="0"/>
              </a:spcAft>
            </a:pPr>
            <a:r>
              <a:rPr sz="1100" b="0" i="0">
                <a:solidFill>
                  <a:srgbClr val="D8F0C8"/>
                </a:solidFill>
                <a:latin typeface="Courier New"/>
              </a:rPr>
              <a:t>  record Cache(</a:t>
            </a:r>
          </a:p>
          <a:p>
            <a:pPr algn="l">
              <a:lnSpc>
                <a:spcPct val="105000"/>
              </a:lnSpc>
              <a:spcAft>
                <a:spcPts val="0"/>
              </a:spcAft>
            </a:pPr>
            <a:r>
              <a:rPr sz="1100" b="0" i="0">
                <a:solidFill>
                  <a:srgbClr val="D8F0C8"/>
                </a:solidFill>
                <a:latin typeface="Courier New"/>
              </a:rPr>
              <a:t>   @DefaultValue("1m") Duration ttl,</a:t>
            </a:r>
          </a:p>
          <a:p>
            <a:pPr algn="l">
              <a:lnSpc>
                <a:spcPct val="105000"/>
              </a:lnSpc>
              <a:spcAft>
                <a:spcPts val="0"/>
              </a:spcAft>
            </a:pPr>
            <a:r>
              <a:rPr sz="1100" b="0" i="0">
                <a:solidFill>
                  <a:srgbClr val="D8F0C8"/>
                </a:solidFill>
                <a:latin typeface="Courier New"/>
              </a:rPr>
              <a:t>   @Min(10) @Max(10000)</a:t>
            </a:r>
          </a:p>
          <a:p>
            <a:pPr algn="l">
              <a:lnSpc>
                <a:spcPct val="105000"/>
              </a:lnSpc>
              <a:spcAft>
                <a:spcPts val="0"/>
              </a:spcAft>
            </a:pPr>
            <a:r>
              <a:rPr sz="1100" b="0" i="0">
                <a:solidFill>
                  <a:srgbClr val="D8F0C8"/>
                </a:solidFill>
                <a:latin typeface="Courier New"/>
              </a:rPr>
              <a:t>   int maxEntries) {}</a:t>
            </a:r>
          </a:p>
          <a:p>
            <a:pPr algn="l">
              <a:lnSpc>
                <a:spcPct val="105000"/>
              </a:lnSpc>
              <a:spcAft>
                <a:spcPts val="0"/>
              </a:spcAft>
            </a:pPr>
            <a:r>
              <a:rPr sz="1100" b="0" i="0">
                <a:solidFill>
                  <a:srgbClr val="D8F0C8"/>
                </a:solidFill>
                <a:latin typeface="Courier New"/>
              </a:rPr>
              <a:t>}</a:t>
            </a:r>
          </a:p>
        </p:txBody>
      </p:sp>
      <p:sp>
        <p:nvSpPr>
          <p:cNvPr id="22" name="Rounded Rectangle 21"/>
          <p:cNvSpPr/>
          <p:nvPr/>
        </p:nvSpPr>
        <p:spPr>
          <a:xfrm>
            <a:off x="7680960" y="4480560"/>
            <a:ext cx="3931920" cy="160020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4572000"/>
            <a:ext cx="3566160" cy="1463040"/>
          </a:xfrm>
          <a:prstGeom prst="rect">
            <a:avLst/>
          </a:prstGeom>
          <a:noFill/>
        </p:spPr>
        <p:txBody>
          <a:bodyPr wrap="square" anchor="t" lIns="0" rIns="0" tIns="0" bIns="0">
            <a:spAutoFit/>
          </a:bodyPr>
          <a:lstStyle/>
          <a:p>
            <a:pPr algn="l">
              <a:spcAft>
                <a:spcPts val="600"/>
              </a:spcAft>
            </a:pPr>
            <a:r>
              <a:rPr sz="1300" b="1" i="0">
                <a:solidFill>
                  <a:srgbClr val="1D2621"/>
                </a:solidFill>
                <a:latin typeface="Calibri"/>
              </a:rPr>
              <a:t>Actuator: </a:t>
            </a:r>
            <a:r>
              <a:rPr sz="1300" b="0" i="0">
                <a:solidFill>
                  <a:srgbClr val="1D2621"/>
                </a:solidFill>
                <a:latin typeface="Calibri"/>
              </a:rPr>
              <a:t>/actuator/env/app.mail.retry-count показывает значение и источник</a:t>
            </a:r>
          </a:p>
          <a:p>
            <a:pPr algn="l">
              <a:spcAft>
                <a:spcPts val="600"/>
              </a:spcAft>
            </a:pPr>
            <a:r>
              <a:rPr sz="1300" b="1" i="0">
                <a:solidFill>
                  <a:srgbClr val="1D2621"/>
                </a:solidFill>
                <a:latin typeface="Calibri"/>
              </a:rPr>
              <a:t>Проверка: </a:t>
            </a:r>
            <a:r>
              <a:rPr sz="1300" b="0" i="0">
                <a:solidFill>
                  <a:srgbClr val="1D2621"/>
                </a:solidFill>
                <a:latin typeface="Calibri"/>
              </a:rPr>
              <a:t>retry-count=99 → APPLICATION FAILED TO 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Spring AOP: сквозная функциональность</a:t>
            </a:r>
          </a:p>
        </p:txBody>
      </p:sp>
      <p:sp>
        <p:nvSpPr>
          <p:cNvPr id="3" name="Rounded Rectangle 2"/>
          <p:cNvSpPr/>
          <p:nvPr/>
        </p:nvSpPr>
        <p:spPr>
          <a:xfrm>
            <a:off x="9646920" y="502920"/>
            <a:ext cx="2011680" cy="502920"/>
          </a:xfrm>
          <a:prstGeom prst="roundRect">
            <a:avLst>
              <a:gd name="adj" fmla="val 50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Лаб. 4  ·  V8</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7</a:t>
            </a:r>
          </a:p>
        </p:txBody>
      </p:sp>
      <p:sp>
        <p:nvSpPr>
          <p:cNvPr id="7" name="Rounded Rectangle 6"/>
          <p:cNvSpPr/>
          <p:nvPr/>
        </p:nvSpPr>
        <p:spPr>
          <a:xfrm>
            <a:off x="548640" y="1508760"/>
            <a:ext cx="5486400" cy="356616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5120640" cy="457200"/>
          </a:xfrm>
          <a:prstGeom prst="rect">
            <a:avLst/>
          </a:prstGeom>
          <a:noFill/>
        </p:spPr>
        <p:txBody>
          <a:bodyPr wrap="square" anchor="t" lIns="0" rIns="0" tIns="0" bIns="0">
            <a:spAutoFit/>
          </a:bodyPr>
          <a:lstStyle/>
          <a:p>
            <a:pPr algn="l">
              <a:spcAft>
                <a:spcPts val="0"/>
              </a:spcAft>
            </a:pPr>
            <a:r>
              <a:rPr sz="1300" b="1" i="0">
                <a:solidFill>
                  <a:srgbClr val="142B22"/>
                </a:solidFill>
                <a:latin typeface="Calibri"/>
              </a:rPr>
              <a:t>AuditAspect  @Order(1)  ·  @Around(@annotation)</a:t>
            </a:r>
          </a:p>
        </p:txBody>
      </p:sp>
      <p:sp>
        <p:nvSpPr>
          <p:cNvPr id="9" name="Rounded Rectangle 8"/>
          <p:cNvSpPr/>
          <p:nvPr/>
        </p:nvSpPr>
        <p:spPr>
          <a:xfrm>
            <a:off x="868680" y="2011680"/>
            <a:ext cx="4846320" cy="2834640"/>
          </a:xfrm>
          <a:prstGeom prst="roundRect">
            <a:avLst>
              <a:gd name="adj" fmla="val 8000"/>
            </a:avLst>
          </a:prstGeom>
          <a:solidFill>
            <a:srgbClr val="C9D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03120"/>
            <a:ext cx="4480559" cy="457200"/>
          </a:xfrm>
          <a:prstGeom prst="rect">
            <a:avLst/>
          </a:prstGeom>
          <a:noFill/>
        </p:spPr>
        <p:txBody>
          <a:bodyPr wrap="square" anchor="t" lIns="0" rIns="0" tIns="0" bIns="0">
            <a:spAutoFit/>
          </a:bodyPr>
          <a:lstStyle/>
          <a:p>
            <a:pPr algn="l">
              <a:spcAft>
                <a:spcPts val="0"/>
              </a:spcAft>
            </a:pPr>
            <a:r>
              <a:rPr sz="1300" b="1" i="0">
                <a:solidFill>
                  <a:srgbClr val="142B22"/>
                </a:solidFill>
                <a:latin typeface="Calibri"/>
              </a:rPr>
              <a:t>LoggingAspect  @Order(2)  ·  @Before / @AfterReturning / @AfterThrowing</a:t>
            </a:r>
          </a:p>
        </p:txBody>
      </p:sp>
      <p:sp>
        <p:nvSpPr>
          <p:cNvPr id="11" name="Rounded Rectangle 10"/>
          <p:cNvSpPr/>
          <p:nvPr/>
        </p:nvSpPr>
        <p:spPr>
          <a:xfrm>
            <a:off x="1188720" y="2606040"/>
            <a:ext cx="4206240" cy="2011680"/>
          </a:xfrm>
          <a:prstGeom prst="roundRect">
            <a:avLst>
              <a:gd name="adj" fmla="val 8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697480"/>
            <a:ext cx="3840479" cy="457200"/>
          </a:xfrm>
          <a:prstGeom prst="rect">
            <a:avLst/>
          </a:prstGeom>
          <a:noFill/>
        </p:spPr>
        <p:txBody>
          <a:bodyPr wrap="square" anchor="t" lIns="0" rIns="0" tIns="0" bIns="0">
            <a:spAutoFit/>
          </a:bodyPr>
          <a:lstStyle/>
          <a:p>
            <a:pPr algn="l">
              <a:spcAft>
                <a:spcPts val="0"/>
              </a:spcAft>
            </a:pPr>
            <a:r>
              <a:rPr sz="1300" b="1" i="0">
                <a:solidFill>
                  <a:srgbClr val="FFFFFF"/>
                </a:solidFill>
                <a:latin typeface="Calibri"/>
              </a:rPr>
              <a:t>TimingAspect  @Order(3)  ·  @Around + proceed()</a:t>
            </a:r>
          </a:p>
        </p:txBody>
      </p:sp>
      <p:sp>
        <p:nvSpPr>
          <p:cNvPr id="13" name="Rounded Rectangle 12"/>
          <p:cNvSpPr/>
          <p:nvPr/>
        </p:nvSpPr>
        <p:spPr>
          <a:xfrm>
            <a:off x="1508760" y="3154680"/>
            <a:ext cx="3566160" cy="123444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91639" y="3246120"/>
            <a:ext cx="3200400" cy="457200"/>
          </a:xfrm>
          <a:prstGeom prst="rect">
            <a:avLst/>
          </a:prstGeom>
          <a:noFill/>
        </p:spPr>
        <p:txBody>
          <a:bodyPr wrap="square" anchor="t" lIns="0" rIns="0" tIns="0" bIns="0">
            <a:spAutoFit/>
          </a:bodyPr>
          <a:lstStyle/>
          <a:p>
            <a:pPr algn="l">
              <a:spcAft>
                <a:spcPts val="0"/>
              </a:spcAft>
            </a:pPr>
            <a:r>
              <a:rPr sz="1300" b="1" i="0">
                <a:solidFill>
                  <a:srgbClr val="FFFFFF"/>
                </a:solidFill>
                <a:latin typeface="Calibri"/>
              </a:rPr>
              <a:t>BookService.delete(id)</a:t>
            </a:r>
          </a:p>
        </p:txBody>
      </p:sp>
      <p:sp>
        <p:nvSpPr>
          <p:cNvPr id="15" name="TextBox 14"/>
          <p:cNvSpPr txBox="1"/>
          <p:nvPr/>
        </p:nvSpPr>
        <p:spPr>
          <a:xfrm>
            <a:off x="1691640" y="3611880"/>
            <a:ext cx="3200400" cy="640080"/>
          </a:xfrm>
          <a:prstGeom prst="rect">
            <a:avLst/>
          </a:prstGeom>
          <a:noFill/>
        </p:spPr>
        <p:txBody>
          <a:bodyPr wrap="square" anchor="t" lIns="0" rIns="0" tIns="0" bIns="0">
            <a:spAutoFit/>
          </a:bodyPr>
          <a:lstStyle/>
          <a:p>
            <a:pPr algn="l">
              <a:spcAft>
                <a:spcPts val="0"/>
              </a:spcAft>
            </a:pPr>
            <a:r>
              <a:rPr sz="1200" b="0" i="0">
                <a:solidFill>
                  <a:srgbClr val="D8F0C8"/>
                </a:solidFill>
                <a:latin typeface="Courier New"/>
              </a:rPr>
              <a:t>CGLIB-прокси:
BookService$$SpringCGLIB$$1</a:t>
            </a:r>
          </a:p>
        </p:txBody>
      </p:sp>
      <p:graphicFrame>
        <p:nvGraphicFramePr>
          <p:cNvPr id="16" name="Table 15"/>
          <p:cNvGraphicFramePr>
            <a:graphicFrameLocks noGrp="1"/>
          </p:cNvGraphicFramePr>
          <p:nvPr/>
        </p:nvGraphicFramePr>
        <p:xfrm>
          <a:off x="548640" y="5257800"/>
          <a:ext cx="5486400" cy="987552"/>
        </p:xfrm>
        <a:graphic>
          <a:graphicData uri="http://schemas.openxmlformats.org/drawingml/2006/table">
            <a:tbl>
              <a:tblPr firstRow="1" bandRow="1">
                <a:tableStyleId>{5C22544A-7EE6-4342-B048-85BDC9FD1C3A}</a:tableStyleId>
              </a:tblPr>
              <a:tblGrid>
                <a:gridCol w="3108960"/>
                <a:gridCol w="2377440"/>
              </a:tblGrid>
              <a:tr h="329184">
                <a:tc>
                  <a:txBody>
                    <a:bodyPr/>
                    <a:lstStyle/>
                    <a:p>
                      <a:r>
                        <a:rPr sz="1200" b="1">
                          <a:solidFill>
                            <a:srgbClr val="FFFFFF"/>
                          </a:solidFill>
                          <a:latin typeface="Calibri"/>
                        </a:rPr>
                        <a:t>deleteBulk(ids, viaProxy)</a:t>
                      </a:r>
                    </a:p>
                  </a:txBody>
                  <a:tcPr marL="109728" marR="109728" anchor="ctr">
                    <a:solidFill>
                      <a:srgbClr val="142B22"/>
                    </a:solidFill>
                  </a:tcPr>
                </a:tc>
                <a:tc>
                  <a:txBody>
                    <a:bodyPr/>
                    <a:lstStyle/>
                    <a:p>
                      <a:r>
                        <a:rPr sz="1200" b="1">
                          <a:solidFill>
                            <a:srgbClr val="FFFFFF"/>
                          </a:solidFill>
                          <a:latin typeface="Calibri"/>
                        </a:rPr>
                        <a:t>Записей BOOK_DELETE</a:t>
                      </a:r>
                    </a:p>
                  </a:txBody>
                  <a:tcPr marL="109728" marR="109728" anchor="ctr">
                    <a:solidFill>
                      <a:srgbClr val="142B22"/>
                    </a:solidFill>
                  </a:tcPr>
                </a:tc>
              </a:tr>
              <a:tr h="329184">
                <a:tc>
                  <a:txBody>
                    <a:bodyPr/>
                    <a:lstStyle/>
                    <a:p>
                      <a:r>
                        <a:rPr sz="1200" b="1">
                          <a:solidFill>
                            <a:srgbClr val="1D2621"/>
                          </a:solidFill>
                          <a:latin typeface="Calibri"/>
                        </a:rPr>
                        <a:t>false → this.delete()</a:t>
                      </a:r>
                    </a:p>
                  </a:txBody>
                  <a:tcPr marL="109728" marR="109728" anchor="ctr">
                    <a:solidFill>
                      <a:srgbClr val="FFFFFF"/>
                    </a:solidFill>
                  </a:tcPr>
                </a:tc>
                <a:tc>
                  <a:txBody>
                    <a:bodyPr/>
                    <a:lstStyle/>
                    <a:p>
                      <a:r>
                        <a:rPr sz="1200" b="0">
                          <a:solidFill>
                            <a:srgbClr val="1D2621"/>
                          </a:solidFill>
                          <a:latin typeface="Calibri"/>
                        </a:rPr>
                        <a:t>0  (обход прокси)</a:t>
                      </a:r>
                    </a:p>
                  </a:txBody>
                  <a:tcPr marL="109728" marR="109728" anchor="ctr">
                    <a:solidFill>
                      <a:srgbClr val="FFFFFF"/>
                    </a:solidFill>
                  </a:tcPr>
                </a:tc>
              </a:tr>
              <a:tr h="329184">
                <a:tc>
                  <a:txBody>
                    <a:bodyPr/>
                    <a:lstStyle/>
                    <a:p>
                      <a:r>
                        <a:rPr sz="1200" b="1">
                          <a:solidFill>
                            <a:srgbClr val="1D2621"/>
                          </a:solidFill>
                          <a:latin typeface="Calibri"/>
                        </a:rPr>
                        <a:t>true → self.delete()</a:t>
                      </a:r>
                    </a:p>
                  </a:txBody>
                  <a:tcPr marL="109728" marR="109728" anchor="ctr">
                    <a:solidFill>
                      <a:srgbClr val="EAF4E2"/>
                    </a:solidFill>
                  </a:tcPr>
                </a:tc>
                <a:tc>
                  <a:txBody>
                    <a:bodyPr/>
                    <a:lstStyle/>
                    <a:p>
                      <a:r>
                        <a:rPr sz="1200" b="0">
                          <a:solidFill>
                            <a:srgbClr val="1D2621"/>
                          </a:solidFill>
                          <a:latin typeface="Calibri"/>
                        </a:rPr>
                        <a:t>2  (через прокси)</a:t>
                      </a:r>
                    </a:p>
                  </a:txBody>
                  <a:tcPr marL="109728" marR="109728" anchor="ctr">
                    <a:solidFill>
                      <a:srgbClr val="EAF4E2"/>
                    </a:solidFill>
                  </a:tcPr>
                </a:tc>
              </a:tr>
            </a:tbl>
          </a:graphicData>
        </a:graphic>
      </p:graphicFrame>
      <p:sp>
        <p:nvSpPr>
          <p:cNvPr id="17" name="Rounded Rectangle 16"/>
          <p:cNvSpPr/>
          <p:nvPr/>
        </p:nvSpPr>
        <p:spPr>
          <a:xfrm>
            <a:off x="6492240" y="1508760"/>
            <a:ext cx="5120640" cy="365760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59" y="1645919"/>
            <a:ext cx="4572000" cy="320040"/>
          </a:xfrm>
          <a:prstGeom prst="rect">
            <a:avLst/>
          </a:prstGeom>
          <a:noFill/>
        </p:spPr>
        <p:txBody>
          <a:bodyPr wrap="square" anchor="t" lIns="0" rIns="0" tIns="0" bIns="0">
            <a:spAutoFit/>
          </a:bodyPr>
          <a:lstStyle/>
          <a:p>
            <a:pPr algn="l">
              <a:spcAft>
                <a:spcPts val="0"/>
              </a:spcAft>
            </a:pPr>
            <a:r>
              <a:rPr sz="1100" b="1" i="0">
                <a:solidFill>
                  <a:srgbClr val="6DB33F"/>
                </a:solidFill>
                <a:latin typeface="Calibri"/>
              </a:rPr>
              <a:t>Реальный лог · deleteBulk(viaProxy=true)</a:t>
            </a:r>
          </a:p>
        </p:txBody>
      </p:sp>
      <p:sp>
        <p:nvSpPr>
          <p:cNvPr id="19" name="TextBox 18"/>
          <p:cNvSpPr txBox="1"/>
          <p:nvPr/>
        </p:nvSpPr>
        <p:spPr>
          <a:xfrm>
            <a:off x="6766559" y="2011680"/>
            <a:ext cx="4572000" cy="3017520"/>
          </a:xfrm>
          <a:prstGeom prst="rect">
            <a:avLst/>
          </a:prstGeom>
          <a:noFill/>
        </p:spPr>
        <p:txBody>
          <a:bodyPr wrap="square" anchor="t" lIns="0" rIns="0" tIns="0" bIns="0">
            <a:spAutoFit/>
          </a:bodyPr>
          <a:lstStyle/>
          <a:p>
            <a:pPr algn="l">
              <a:lnSpc>
                <a:spcPct val="105000"/>
              </a:lnSpc>
              <a:spcAft>
                <a:spcPts val="0"/>
              </a:spcAft>
            </a:pPr>
            <a:r>
              <a:rPr sz="1100" b="0" i="0">
                <a:solidFill>
                  <a:srgbClr val="D8F0C8"/>
                </a:solidFill>
                <a:latin typeface="Courier New"/>
              </a:rPr>
              <a:t>[AUDIT] start BOOK_DELETE [3]</a:t>
            </a:r>
          </a:p>
          <a:p>
            <a:pPr algn="l">
              <a:lnSpc>
                <a:spcPct val="105000"/>
              </a:lnSpc>
              <a:spcAft>
                <a:spcPts val="0"/>
              </a:spcAft>
            </a:pPr>
            <a:r>
              <a:rPr sz="1100" b="0" i="0">
                <a:solidFill>
                  <a:srgbClr val="D8F0C8"/>
                </a:solidFill>
                <a:latin typeface="Courier New"/>
              </a:rPr>
              <a:t>[LOG] -&gt; BookService.delete(..) args=[3]</a:t>
            </a:r>
          </a:p>
          <a:p>
            <a:pPr algn="l">
              <a:lnSpc>
                <a:spcPct val="105000"/>
              </a:lnSpc>
              <a:spcAft>
                <a:spcPts val="0"/>
              </a:spcAft>
            </a:pPr>
            <a:r>
              <a:rPr sz="1100" b="0" i="0">
                <a:solidFill>
                  <a:srgbClr val="D8F0C8"/>
                </a:solidFill>
                <a:latin typeface="Courier New"/>
              </a:rPr>
              <a:t>[TRACE]   -&gt; BookService.delete(..)</a:t>
            </a:r>
          </a:p>
          <a:p>
            <a:pPr algn="l">
              <a:lnSpc>
                <a:spcPct val="105000"/>
              </a:lnSpc>
              <a:spcAft>
                <a:spcPts val="0"/>
              </a:spcAft>
            </a:pPr>
            <a:r>
              <a:rPr sz="1100" b="0" i="0">
                <a:solidFill>
                  <a:srgbClr val="D8F0C8"/>
                </a:solidFill>
                <a:latin typeface="Courier New"/>
              </a:rPr>
              <a:t>[TRACE]     -&gt; CitationCache.evict(..)</a:t>
            </a:r>
          </a:p>
          <a:p>
            <a:pPr algn="l">
              <a:lnSpc>
                <a:spcPct val="105000"/>
              </a:lnSpc>
              <a:spcAft>
                <a:spcPts val="0"/>
              </a:spcAft>
            </a:pPr>
            <a:r>
              <a:rPr sz="1100" b="0" i="0">
                <a:solidFill>
                  <a:srgbClr val="D8F0C8"/>
                </a:solidFill>
                <a:latin typeface="Courier New"/>
              </a:rPr>
              <a:t>[TRACE]     &lt;- CitationCache.evict(..)</a:t>
            </a:r>
          </a:p>
          <a:p>
            <a:pPr algn="l">
              <a:lnSpc>
                <a:spcPct val="105000"/>
              </a:lnSpc>
              <a:spcAft>
                <a:spcPts val="0"/>
              </a:spcAft>
            </a:pPr>
            <a:r>
              <a:rPr sz="1100" b="0" i="0">
                <a:solidFill>
                  <a:srgbClr val="D8F0C8"/>
                </a:solidFill>
                <a:latin typeface="Courier New"/>
              </a:rPr>
              <a:t>[TRACE]   &lt;- BookService.delete(..)</a:t>
            </a:r>
          </a:p>
          <a:p>
            <a:pPr algn="l">
              <a:lnSpc>
                <a:spcPct val="105000"/>
              </a:lnSpc>
              <a:spcAft>
                <a:spcPts val="0"/>
              </a:spcAft>
            </a:pPr>
            <a:r>
              <a:rPr sz="1100" b="0" i="0">
                <a:solidFill>
                  <a:srgbClr val="D8F0C8"/>
                </a:solidFill>
                <a:latin typeface="Courier New"/>
              </a:rPr>
              <a:t>[TIME] BookService.delete(..) - 1 ms</a:t>
            </a:r>
          </a:p>
          <a:p>
            <a:pPr algn="l">
              <a:lnSpc>
                <a:spcPct val="105000"/>
              </a:lnSpc>
              <a:spcAft>
                <a:spcPts val="0"/>
              </a:spcAft>
            </a:pPr>
            <a:r>
              <a:rPr sz="1100" b="0" i="0">
                <a:solidFill>
                  <a:srgbClr val="D8F0C8"/>
                </a:solidFill>
                <a:latin typeface="Courier New"/>
              </a:rPr>
              <a:t>[AUDIT] BOOK_DELETE success</a:t>
            </a:r>
          </a:p>
          <a:p>
            <a:pPr algn="l">
              <a:lnSpc>
                <a:spcPct val="105000"/>
              </a:lnSpc>
              <a:spcAft>
                <a:spcPts val="0"/>
              </a:spcAft>
            </a:pPr>
            <a:r>
              <a:rPr sz="1100" b="0" i="0">
                <a:solidFill>
                  <a:srgbClr val="D8F0C8"/>
                </a:solidFill>
                <a:latin typeface="Courier New"/>
              </a:rPr>
              <a:t/>
            </a:r>
          </a:p>
          <a:p>
            <a:pPr algn="l">
              <a:lnSpc>
                <a:spcPct val="105000"/>
              </a:lnSpc>
              <a:spcAft>
                <a:spcPts val="0"/>
              </a:spcAft>
            </a:pPr>
            <a:r>
              <a:rPr sz="1100" b="0" i="0">
                <a:solidFill>
                  <a:srgbClr val="D8F0C8"/>
                </a:solidFill>
                <a:latin typeface="Courier New"/>
              </a:rPr>
              <a:t>[TIME] SLOW: BookService.statistics() - 301 ms</a:t>
            </a:r>
          </a:p>
        </p:txBody>
      </p:sp>
      <p:sp>
        <p:nvSpPr>
          <p:cNvPr id="20" name="Rounded Rectangle 19"/>
          <p:cNvSpPr/>
          <p:nvPr/>
        </p:nvSpPr>
        <p:spPr>
          <a:xfrm>
            <a:off x="6492240" y="5349240"/>
            <a:ext cx="5120640" cy="8686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5394960"/>
            <a:ext cx="4663440" cy="777240"/>
          </a:xfrm>
          <a:prstGeom prst="rect">
            <a:avLst/>
          </a:prstGeom>
          <a:noFill/>
        </p:spPr>
        <p:txBody>
          <a:bodyPr wrap="square" anchor="ctr" lIns="0" rIns="0" tIns="0" bIns="0">
            <a:spAutoFit/>
          </a:bodyPr>
          <a:lstStyle/>
          <a:p>
            <a:pPr algn="l">
              <a:spcAft>
                <a:spcPts val="0"/>
              </a:spcAft>
            </a:pPr>
            <a:r>
              <a:rPr sz="1300" b="1" i="0">
                <a:solidFill>
                  <a:srgbClr val="6DB33F"/>
                </a:solidFill>
                <a:latin typeface="Calibri"/>
              </a:rPr>
              <a:t>V8 Call Tracing: </a:t>
            </a:r>
            <a:r>
              <a:rPr sz="1300" b="0" i="0">
                <a:solidFill>
                  <a:srgbClr val="1D2621"/>
                </a:solidFill>
                <a:latin typeface="Calibri"/>
              </a:rPr>
              <a:t>@Before увеличивает, @After уменьшает глубину в ThreadLocal — отступ показывает вложенность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Spring MVC: маршрутизация и коды ответа</a:t>
            </a:r>
          </a:p>
        </p:txBody>
      </p:sp>
      <p:sp>
        <p:nvSpPr>
          <p:cNvPr id="3" name="Rounded Rectangle 2"/>
          <p:cNvSpPr/>
          <p:nvPr/>
        </p:nvSpPr>
        <p:spPr>
          <a:xfrm>
            <a:off x="9646920" y="502920"/>
            <a:ext cx="2011680" cy="502920"/>
          </a:xfrm>
          <a:prstGeom prst="roundRect">
            <a:avLst>
              <a:gd name="adj" fmla="val 50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Лаб. 5  ·  V6</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8</a:t>
            </a:r>
          </a:p>
        </p:txBody>
      </p:sp>
      <p:sp>
        <p:nvSpPr>
          <p:cNvPr id="7" name="Rounded Rectangle 6"/>
          <p:cNvSpPr/>
          <p:nvPr/>
        </p:nvSpPr>
        <p:spPr>
          <a:xfrm>
            <a:off x="548640" y="1508760"/>
            <a:ext cx="2587752" cy="13258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81912"/>
            <a:ext cx="1097280" cy="640080"/>
          </a:xfrm>
          <a:prstGeom prst="rect">
            <a:avLst/>
          </a:prstGeom>
          <a:noFill/>
        </p:spPr>
        <p:txBody>
          <a:bodyPr wrap="square" anchor="t" lIns="0" rIns="0" tIns="0" bIns="0">
            <a:spAutoFit/>
          </a:bodyPr>
          <a:lstStyle/>
          <a:p>
            <a:pPr algn="l">
              <a:spcAft>
                <a:spcPts val="0"/>
              </a:spcAft>
            </a:pPr>
            <a:r>
              <a:rPr sz="3200" b="1" i="0">
                <a:solidFill>
                  <a:srgbClr val="6DB33F"/>
                </a:solidFill>
                <a:latin typeface="Cambria"/>
              </a:rPr>
              <a:t>200</a:t>
            </a:r>
          </a:p>
        </p:txBody>
      </p:sp>
      <p:sp>
        <p:nvSpPr>
          <p:cNvPr id="9" name="TextBox 8"/>
          <p:cNvSpPr txBox="1"/>
          <p:nvPr/>
        </p:nvSpPr>
        <p:spPr>
          <a:xfrm>
            <a:off x="731520" y="2221991"/>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GET /api/books</a:t>
            </a:r>
          </a:p>
        </p:txBody>
      </p:sp>
      <p:sp>
        <p:nvSpPr>
          <p:cNvPr id="10" name="TextBox 9"/>
          <p:cNvSpPr txBox="1"/>
          <p:nvPr/>
        </p:nvSpPr>
        <p:spPr>
          <a:xfrm>
            <a:off x="731520" y="249631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список, ?author, ?limit</a:t>
            </a:r>
          </a:p>
        </p:txBody>
      </p:sp>
      <p:sp>
        <p:nvSpPr>
          <p:cNvPr id="11" name="Rounded Rectangle 10"/>
          <p:cNvSpPr/>
          <p:nvPr/>
        </p:nvSpPr>
        <p:spPr>
          <a:xfrm>
            <a:off x="3364992" y="1508760"/>
            <a:ext cx="2587752" cy="13258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1581912"/>
            <a:ext cx="1097280" cy="640080"/>
          </a:xfrm>
          <a:prstGeom prst="rect">
            <a:avLst/>
          </a:prstGeom>
          <a:noFill/>
        </p:spPr>
        <p:txBody>
          <a:bodyPr wrap="square" anchor="t" lIns="0" rIns="0" tIns="0" bIns="0">
            <a:spAutoFit/>
          </a:bodyPr>
          <a:lstStyle/>
          <a:p>
            <a:pPr algn="l">
              <a:spcAft>
                <a:spcPts val="0"/>
              </a:spcAft>
            </a:pPr>
            <a:r>
              <a:rPr sz="3200" b="1" i="0">
                <a:solidFill>
                  <a:srgbClr val="6DB33F"/>
                </a:solidFill>
                <a:latin typeface="Cambria"/>
              </a:rPr>
              <a:t>201</a:t>
            </a:r>
          </a:p>
        </p:txBody>
      </p:sp>
      <p:sp>
        <p:nvSpPr>
          <p:cNvPr id="13" name="TextBox 12"/>
          <p:cNvSpPr txBox="1"/>
          <p:nvPr/>
        </p:nvSpPr>
        <p:spPr>
          <a:xfrm>
            <a:off x="3547872" y="2221991"/>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POST /api/books</a:t>
            </a:r>
          </a:p>
        </p:txBody>
      </p:sp>
      <p:sp>
        <p:nvSpPr>
          <p:cNvPr id="14" name="TextBox 13"/>
          <p:cNvSpPr txBox="1"/>
          <p:nvPr/>
        </p:nvSpPr>
        <p:spPr>
          <a:xfrm>
            <a:off x="3547872" y="249631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 Location</a:t>
            </a:r>
          </a:p>
        </p:txBody>
      </p:sp>
      <p:sp>
        <p:nvSpPr>
          <p:cNvPr id="15" name="Rounded Rectangle 14"/>
          <p:cNvSpPr/>
          <p:nvPr/>
        </p:nvSpPr>
        <p:spPr>
          <a:xfrm>
            <a:off x="6181344" y="1508760"/>
            <a:ext cx="2587752" cy="132588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1581912"/>
            <a:ext cx="1097280" cy="640080"/>
          </a:xfrm>
          <a:prstGeom prst="rect">
            <a:avLst/>
          </a:prstGeom>
          <a:noFill/>
        </p:spPr>
        <p:txBody>
          <a:bodyPr wrap="square" anchor="t" lIns="0" rIns="0" tIns="0" bIns="0">
            <a:spAutoFit/>
          </a:bodyPr>
          <a:lstStyle/>
          <a:p>
            <a:pPr algn="l">
              <a:spcAft>
                <a:spcPts val="0"/>
              </a:spcAft>
            </a:pPr>
            <a:r>
              <a:rPr sz="3200" b="1" i="0">
                <a:solidFill>
                  <a:srgbClr val="6DB33F"/>
                </a:solidFill>
                <a:latin typeface="Cambria"/>
              </a:rPr>
              <a:t>204</a:t>
            </a:r>
          </a:p>
        </p:txBody>
      </p:sp>
      <p:sp>
        <p:nvSpPr>
          <p:cNvPr id="17" name="TextBox 16"/>
          <p:cNvSpPr txBox="1"/>
          <p:nvPr/>
        </p:nvSpPr>
        <p:spPr>
          <a:xfrm>
            <a:off x="6364224" y="2221991"/>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DELETE /api/books/2</a:t>
            </a:r>
          </a:p>
        </p:txBody>
      </p:sp>
      <p:sp>
        <p:nvSpPr>
          <p:cNvPr id="18" name="TextBox 17"/>
          <p:cNvSpPr txBox="1"/>
          <p:nvPr/>
        </p:nvSpPr>
        <p:spPr>
          <a:xfrm>
            <a:off x="6364224" y="249631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удалено</a:t>
            </a:r>
          </a:p>
        </p:txBody>
      </p:sp>
      <p:sp>
        <p:nvSpPr>
          <p:cNvPr id="19" name="Rounded Rectangle 18"/>
          <p:cNvSpPr/>
          <p:nvPr/>
        </p:nvSpPr>
        <p:spPr>
          <a:xfrm>
            <a:off x="8997696" y="1508760"/>
            <a:ext cx="2587752" cy="132588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0576" y="1581912"/>
            <a:ext cx="1097280" cy="640080"/>
          </a:xfrm>
          <a:prstGeom prst="rect">
            <a:avLst/>
          </a:prstGeom>
          <a:noFill/>
        </p:spPr>
        <p:txBody>
          <a:bodyPr wrap="square" anchor="t" lIns="0" rIns="0" tIns="0" bIns="0">
            <a:spAutoFit/>
          </a:bodyPr>
          <a:lstStyle/>
          <a:p>
            <a:pPr algn="l">
              <a:spcAft>
                <a:spcPts val="0"/>
              </a:spcAft>
            </a:pPr>
            <a:r>
              <a:rPr sz="3200" b="1" i="0">
                <a:solidFill>
                  <a:srgbClr val="C0392B"/>
                </a:solidFill>
                <a:latin typeface="Cambria"/>
              </a:rPr>
              <a:t>404</a:t>
            </a:r>
          </a:p>
        </p:txBody>
      </p:sp>
      <p:sp>
        <p:nvSpPr>
          <p:cNvPr id="21" name="TextBox 20"/>
          <p:cNvSpPr txBox="1"/>
          <p:nvPr/>
        </p:nvSpPr>
        <p:spPr>
          <a:xfrm>
            <a:off x="9180576" y="2221991"/>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DELETE ещё раз</a:t>
            </a:r>
          </a:p>
        </p:txBody>
      </p:sp>
      <p:sp>
        <p:nvSpPr>
          <p:cNvPr id="22" name="TextBox 21"/>
          <p:cNvSpPr txBox="1"/>
          <p:nvPr/>
        </p:nvSpPr>
        <p:spPr>
          <a:xfrm>
            <a:off x="9180576" y="249631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уже нет</a:t>
            </a:r>
          </a:p>
        </p:txBody>
      </p:sp>
      <p:sp>
        <p:nvSpPr>
          <p:cNvPr id="23" name="Rounded Rectangle 22"/>
          <p:cNvSpPr/>
          <p:nvPr/>
        </p:nvSpPr>
        <p:spPr>
          <a:xfrm>
            <a:off x="548640" y="3017520"/>
            <a:ext cx="2587752" cy="132588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090672"/>
            <a:ext cx="1097280" cy="640080"/>
          </a:xfrm>
          <a:prstGeom prst="rect">
            <a:avLst/>
          </a:prstGeom>
          <a:noFill/>
        </p:spPr>
        <p:txBody>
          <a:bodyPr wrap="square" anchor="t" lIns="0" rIns="0" tIns="0" bIns="0">
            <a:spAutoFit/>
          </a:bodyPr>
          <a:lstStyle/>
          <a:p>
            <a:pPr algn="l">
              <a:spcAft>
                <a:spcPts val="0"/>
              </a:spcAft>
            </a:pPr>
            <a:r>
              <a:rPr sz="3200" b="1" i="0">
                <a:solidFill>
                  <a:srgbClr val="C0392B"/>
                </a:solidFill>
                <a:latin typeface="Cambria"/>
              </a:rPr>
              <a:t>400</a:t>
            </a:r>
          </a:p>
        </p:txBody>
      </p:sp>
      <p:sp>
        <p:nvSpPr>
          <p:cNvPr id="25" name="TextBox 24"/>
          <p:cNvSpPr txBox="1"/>
          <p:nvPr/>
        </p:nvSpPr>
        <p:spPr>
          <a:xfrm>
            <a:off x="731520" y="3730752"/>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GET /api/books/abc</a:t>
            </a:r>
          </a:p>
        </p:txBody>
      </p:sp>
      <p:sp>
        <p:nvSpPr>
          <p:cNvPr id="26" name="TextBox 25"/>
          <p:cNvSpPr txBox="1"/>
          <p:nvPr/>
        </p:nvSpPr>
        <p:spPr>
          <a:xfrm>
            <a:off x="731520" y="400507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abc → long</a:t>
            </a:r>
          </a:p>
        </p:txBody>
      </p:sp>
      <p:sp>
        <p:nvSpPr>
          <p:cNvPr id="27" name="Rounded Rectangle 26"/>
          <p:cNvSpPr/>
          <p:nvPr/>
        </p:nvSpPr>
        <p:spPr>
          <a:xfrm>
            <a:off x="3364992" y="3017520"/>
            <a:ext cx="2587752" cy="132588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47872" y="3090672"/>
            <a:ext cx="1097280" cy="640080"/>
          </a:xfrm>
          <a:prstGeom prst="rect">
            <a:avLst/>
          </a:prstGeom>
          <a:noFill/>
        </p:spPr>
        <p:txBody>
          <a:bodyPr wrap="square" anchor="t" lIns="0" rIns="0" tIns="0" bIns="0">
            <a:spAutoFit/>
          </a:bodyPr>
          <a:lstStyle/>
          <a:p>
            <a:pPr algn="l">
              <a:spcAft>
                <a:spcPts val="0"/>
              </a:spcAft>
            </a:pPr>
            <a:r>
              <a:rPr sz="3200" b="1" i="0">
                <a:solidFill>
                  <a:srgbClr val="C0392B"/>
                </a:solidFill>
                <a:latin typeface="Cambria"/>
              </a:rPr>
              <a:t>405</a:t>
            </a:r>
          </a:p>
        </p:txBody>
      </p:sp>
      <p:sp>
        <p:nvSpPr>
          <p:cNvPr id="29" name="TextBox 28"/>
          <p:cNvSpPr txBox="1"/>
          <p:nvPr/>
        </p:nvSpPr>
        <p:spPr>
          <a:xfrm>
            <a:off x="3547872" y="3730752"/>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DELETE /api/books</a:t>
            </a:r>
          </a:p>
        </p:txBody>
      </p:sp>
      <p:sp>
        <p:nvSpPr>
          <p:cNvPr id="30" name="TextBox 29"/>
          <p:cNvSpPr txBox="1"/>
          <p:nvPr/>
        </p:nvSpPr>
        <p:spPr>
          <a:xfrm>
            <a:off x="3547872" y="400507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метод не тот</a:t>
            </a:r>
          </a:p>
        </p:txBody>
      </p:sp>
      <p:sp>
        <p:nvSpPr>
          <p:cNvPr id="31" name="Rounded Rectangle 30"/>
          <p:cNvSpPr/>
          <p:nvPr/>
        </p:nvSpPr>
        <p:spPr>
          <a:xfrm>
            <a:off x="6181344" y="3017520"/>
            <a:ext cx="2587752" cy="132588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4224" y="3090672"/>
            <a:ext cx="1097280" cy="640080"/>
          </a:xfrm>
          <a:prstGeom prst="rect">
            <a:avLst/>
          </a:prstGeom>
          <a:noFill/>
        </p:spPr>
        <p:txBody>
          <a:bodyPr wrap="square" anchor="t" lIns="0" rIns="0" tIns="0" bIns="0">
            <a:spAutoFit/>
          </a:bodyPr>
          <a:lstStyle/>
          <a:p>
            <a:pPr algn="l">
              <a:spcAft>
                <a:spcPts val="0"/>
              </a:spcAft>
            </a:pPr>
            <a:r>
              <a:rPr sz="3200" b="1" i="0">
                <a:solidFill>
                  <a:srgbClr val="C0392B"/>
                </a:solidFill>
                <a:latin typeface="Cambria"/>
              </a:rPr>
              <a:t>415</a:t>
            </a:r>
          </a:p>
        </p:txBody>
      </p:sp>
      <p:sp>
        <p:nvSpPr>
          <p:cNvPr id="33" name="TextBox 32"/>
          <p:cNvSpPr txBox="1"/>
          <p:nvPr/>
        </p:nvSpPr>
        <p:spPr>
          <a:xfrm>
            <a:off x="6364224" y="3730752"/>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POST text/plain</a:t>
            </a:r>
          </a:p>
        </p:txBody>
      </p:sp>
      <p:sp>
        <p:nvSpPr>
          <p:cNvPr id="34" name="TextBox 33"/>
          <p:cNvSpPr txBox="1"/>
          <p:nvPr/>
        </p:nvSpPr>
        <p:spPr>
          <a:xfrm>
            <a:off x="6364224" y="400507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тип тела</a:t>
            </a:r>
          </a:p>
        </p:txBody>
      </p:sp>
      <p:sp>
        <p:nvSpPr>
          <p:cNvPr id="35" name="Rounded Rectangle 34"/>
          <p:cNvSpPr/>
          <p:nvPr/>
        </p:nvSpPr>
        <p:spPr>
          <a:xfrm>
            <a:off x="8997696" y="3017520"/>
            <a:ext cx="2587752" cy="132588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80576" y="3090672"/>
            <a:ext cx="1097280" cy="640080"/>
          </a:xfrm>
          <a:prstGeom prst="rect">
            <a:avLst/>
          </a:prstGeom>
          <a:noFill/>
        </p:spPr>
        <p:txBody>
          <a:bodyPr wrap="square" anchor="t" lIns="0" rIns="0" tIns="0" bIns="0">
            <a:spAutoFit/>
          </a:bodyPr>
          <a:lstStyle/>
          <a:p>
            <a:pPr algn="l">
              <a:spcAft>
                <a:spcPts val="0"/>
              </a:spcAft>
            </a:pPr>
            <a:r>
              <a:rPr sz="3200" b="1" i="0">
                <a:solidFill>
                  <a:srgbClr val="C0392B"/>
                </a:solidFill>
                <a:latin typeface="Cambria"/>
              </a:rPr>
              <a:t>406</a:t>
            </a:r>
          </a:p>
        </p:txBody>
      </p:sp>
      <p:sp>
        <p:nvSpPr>
          <p:cNvPr id="37" name="TextBox 36"/>
          <p:cNvSpPr txBox="1"/>
          <p:nvPr/>
        </p:nvSpPr>
        <p:spPr>
          <a:xfrm>
            <a:off x="9180576" y="3730752"/>
            <a:ext cx="2286000" cy="292608"/>
          </a:xfrm>
          <a:prstGeom prst="rect">
            <a:avLst/>
          </a:prstGeom>
          <a:noFill/>
        </p:spPr>
        <p:txBody>
          <a:bodyPr wrap="square" anchor="t" lIns="0" rIns="0" tIns="0" bIns="0">
            <a:spAutoFit/>
          </a:bodyPr>
          <a:lstStyle/>
          <a:p>
            <a:pPr algn="l">
              <a:spcAft>
                <a:spcPts val="0"/>
              </a:spcAft>
            </a:pPr>
            <a:r>
              <a:rPr sz="1200" b="1" i="0">
                <a:solidFill>
                  <a:srgbClr val="142B22"/>
                </a:solidFill>
                <a:latin typeface="Courier New"/>
              </a:rPr>
              <a:t>Accept: xml</a:t>
            </a:r>
          </a:p>
        </p:txBody>
      </p:sp>
      <p:sp>
        <p:nvSpPr>
          <p:cNvPr id="38" name="TextBox 37"/>
          <p:cNvSpPr txBox="1"/>
          <p:nvPr/>
        </p:nvSpPr>
        <p:spPr>
          <a:xfrm>
            <a:off x="9180576" y="4005072"/>
            <a:ext cx="2286000" cy="274320"/>
          </a:xfrm>
          <a:prstGeom prst="rect">
            <a:avLst/>
          </a:prstGeom>
          <a:noFill/>
        </p:spPr>
        <p:txBody>
          <a:bodyPr wrap="square" anchor="t" lIns="0" rIns="0" tIns="0" bIns="0">
            <a:spAutoFit/>
          </a:bodyPr>
          <a:lstStyle/>
          <a:p>
            <a:pPr algn="l">
              <a:spcAft>
                <a:spcPts val="0"/>
              </a:spcAft>
            </a:pPr>
            <a:r>
              <a:rPr sz="1200" b="0" i="0">
                <a:solidFill>
                  <a:srgbClr val="5E6B63"/>
                </a:solidFill>
                <a:latin typeface="Calibri"/>
              </a:rPr>
              <a:t>тип ответа</a:t>
            </a:r>
          </a:p>
        </p:txBody>
      </p:sp>
      <p:sp>
        <p:nvSpPr>
          <p:cNvPr id="39" name="TextBox 38"/>
          <p:cNvSpPr txBox="1"/>
          <p:nvPr/>
        </p:nvSpPr>
        <p:spPr>
          <a:xfrm>
            <a:off x="548640" y="4663440"/>
            <a:ext cx="5852160" cy="1645920"/>
          </a:xfrm>
          <a:prstGeom prst="rect">
            <a:avLst/>
          </a:prstGeom>
          <a:noFill/>
        </p:spPr>
        <p:txBody>
          <a:bodyPr wrap="square" lIns="0" rIns="0" tIns="0" bIns="0">
            <a:spAutoFit/>
          </a:bodyPr>
          <a:lstStyle/>
          <a:p>
            <a:pPr marL="274320" indent="-274320">
              <a:spcAft>
                <a:spcPts val="600"/>
              </a:spcAft>
              <a:buClr>
                <a:srgbClr val="6DB33F"/>
              </a:buClr>
              <a:buFont typeface="Arial"/>
              <a:buChar char="•"/>
            </a:pPr>
            <a:r>
              <a:rPr sz="1400" b="0">
                <a:solidFill>
                  <a:srgbClr val="1D2621"/>
                </a:solidFill>
                <a:latin typeface="Calibri"/>
              </a:rPr>
              <a:t>@RestController пишет в тело ответа, @Controller возвращает имя шаблона</a:t>
            </a:r>
          </a:p>
          <a:p>
            <a:pPr marL="274320" indent="-274320">
              <a:spcAft>
                <a:spcPts val="600"/>
              </a:spcAft>
              <a:buClr>
                <a:srgbClr val="6DB33F"/>
              </a:buClr>
              <a:buFont typeface="Arial"/>
              <a:buChar char="•"/>
            </a:pPr>
            <a:r>
              <a:rPr sz="1400" b="0">
                <a:solidFill>
                  <a:srgbClr val="1D2621"/>
                </a:solidFill>
                <a:latin typeface="Calibri"/>
              </a:rPr>
              <a:t>Post/Redirect/Get + flash: после F5 нет дубля</a:t>
            </a:r>
          </a:p>
          <a:p>
            <a:pPr marL="274320" indent="-274320">
              <a:spcAft>
                <a:spcPts val="600"/>
              </a:spcAft>
              <a:buClr>
                <a:srgbClr val="6DB33F"/>
              </a:buClr>
              <a:buFont typeface="Arial"/>
              <a:buChar char="•"/>
            </a:pPr>
            <a:r>
              <a:rPr sz="1400" b="0">
                <a:solidFill>
                  <a:srgbClr val="1D2621"/>
                </a:solidFill>
                <a:latin typeface="Calibri"/>
              </a:rPr>
              <a:t>static/index.html и css/app.css — без контроллера</a:t>
            </a:r>
          </a:p>
        </p:txBody>
      </p:sp>
      <p:sp>
        <p:nvSpPr>
          <p:cNvPr id="40" name="Rounded Rectangle 39"/>
          <p:cNvSpPr/>
          <p:nvPr/>
        </p:nvSpPr>
        <p:spPr>
          <a:xfrm>
            <a:off x="6629400" y="4663440"/>
            <a:ext cx="4983480" cy="155448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03720" y="4800600"/>
            <a:ext cx="4434840" cy="320040"/>
          </a:xfrm>
          <a:prstGeom prst="rect">
            <a:avLst/>
          </a:prstGeom>
          <a:noFill/>
        </p:spPr>
        <p:txBody>
          <a:bodyPr wrap="square" anchor="t" lIns="0" rIns="0" tIns="0" bIns="0">
            <a:spAutoFit/>
          </a:bodyPr>
          <a:lstStyle/>
          <a:p>
            <a:pPr algn="l">
              <a:spcAft>
                <a:spcPts val="0"/>
              </a:spcAft>
            </a:pPr>
            <a:r>
              <a:rPr sz="1100" b="1" i="0">
                <a:solidFill>
                  <a:srgbClr val="6DB33F"/>
                </a:solidFill>
                <a:latin typeface="Calibri"/>
              </a:rPr>
              <a:t>Вариант 6 · цитата</a:t>
            </a:r>
          </a:p>
        </p:txBody>
      </p:sp>
      <p:sp>
        <p:nvSpPr>
          <p:cNvPr id="42" name="TextBox 41"/>
          <p:cNvSpPr txBox="1"/>
          <p:nvPr/>
        </p:nvSpPr>
        <p:spPr>
          <a:xfrm>
            <a:off x="6903720" y="5166359"/>
            <a:ext cx="4434840" cy="914400"/>
          </a:xfrm>
          <a:prstGeom prst="rect">
            <a:avLst/>
          </a:prstGeom>
          <a:noFill/>
        </p:spPr>
        <p:txBody>
          <a:bodyPr wrap="square" anchor="t" lIns="0" rIns="0" tIns="0" bIns="0">
            <a:spAutoFit/>
          </a:bodyPr>
          <a:lstStyle/>
          <a:p>
            <a:pPr algn="l">
              <a:lnSpc>
                <a:spcPct val="105000"/>
              </a:lnSpc>
              <a:spcAft>
                <a:spcPts val="0"/>
              </a:spcAft>
            </a:pPr>
            <a:r>
              <a:rPr sz="1200" b="0" i="0">
                <a:solidFill>
                  <a:srgbClr val="D8F0C8"/>
                </a:solidFill>
                <a:latin typeface="Courier New"/>
              </a:rPr>
              <a:t>@GetMapping(value = "/{id}/citation",</a:t>
            </a:r>
          </a:p>
          <a:p>
            <a:pPr algn="l">
              <a:lnSpc>
                <a:spcPct val="105000"/>
              </a:lnSpc>
              <a:spcAft>
                <a:spcPts val="0"/>
              </a:spcAft>
            </a:pPr>
            <a:r>
              <a:rPr sz="1200" b="0" i="0">
                <a:solidFill>
                  <a:srgbClr val="D8F0C8"/>
                </a:solidFill>
                <a:latin typeface="Courier New"/>
              </a:rPr>
              <a:t>            produces = "text/plain")</a:t>
            </a:r>
          </a:p>
          <a:p>
            <a:pPr algn="l">
              <a:lnSpc>
                <a:spcPct val="105000"/>
              </a:lnSpc>
              <a:spcAft>
                <a:spcPts val="0"/>
              </a:spcAft>
            </a:pPr>
            <a:r>
              <a:rPr sz="1200" b="0" i="0">
                <a:solidFill>
                  <a:srgbClr val="D8F0C8"/>
                </a:solidFill>
                <a:latin typeface="Courier New"/>
              </a:rPr>
              <a:t>→ Joshua Bloch (2018). Effective Java.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778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Формы, валидация и обработка ошибок</a:t>
            </a:r>
          </a:p>
        </p:txBody>
      </p:sp>
      <p:sp>
        <p:nvSpPr>
          <p:cNvPr id="3" name="Rounded Rectangle 2"/>
          <p:cNvSpPr/>
          <p:nvPr/>
        </p:nvSpPr>
        <p:spPr>
          <a:xfrm>
            <a:off x="9646920" y="502920"/>
            <a:ext cx="2011680" cy="502920"/>
          </a:xfrm>
          <a:prstGeom prst="roundRect">
            <a:avLst>
              <a:gd name="adj" fmla="val 50000"/>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46920" y="502920"/>
            <a:ext cx="2011680" cy="502920"/>
          </a:xfrm>
          <a:prstGeom prst="rect">
            <a:avLst/>
          </a:prstGeom>
          <a:noFill/>
        </p:spPr>
        <p:txBody>
          <a:bodyPr wrap="square" anchor="ctr" lIns="0" rIns="0" tIns="0" bIns="0">
            <a:spAutoFit/>
          </a:bodyPr>
          <a:lstStyle/>
          <a:p>
            <a:pPr algn="ctr">
              <a:spcAft>
                <a:spcPts val="0"/>
              </a:spcAft>
            </a:pPr>
            <a:r>
              <a:rPr sz="1500" b="1" i="0">
                <a:solidFill>
                  <a:srgbClr val="FFFFFF"/>
                </a:solidFill>
                <a:latin typeface="Calibri"/>
              </a:rPr>
              <a:t>Лаб. 6  ·  V7</a:t>
            </a:r>
          </a:p>
        </p:txBody>
      </p:sp>
      <p:sp>
        <p:nvSpPr>
          <p:cNvPr id="5" name="TextBox 4"/>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6" name="TextBox 5"/>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9</a:t>
            </a:r>
          </a:p>
        </p:txBody>
      </p:sp>
      <p:sp>
        <p:nvSpPr>
          <p:cNvPr id="7" name="Oval 6"/>
          <p:cNvSpPr/>
          <p:nvPr/>
        </p:nvSpPr>
        <p:spPr>
          <a:xfrm>
            <a:off x="1051560" y="1508760"/>
            <a:ext cx="594360" cy="5943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1</a:t>
            </a:r>
          </a:p>
        </p:txBody>
      </p:sp>
      <p:sp>
        <p:nvSpPr>
          <p:cNvPr id="8" name="TextBox 7"/>
          <p:cNvSpPr txBox="1"/>
          <p:nvPr/>
        </p:nvSpPr>
        <p:spPr>
          <a:xfrm>
            <a:off x="548640" y="2194560"/>
            <a:ext cx="1691640" cy="320040"/>
          </a:xfrm>
          <a:prstGeom prst="rect">
            <a:avLst/>
          </a:prstGeom>
          <a:noFill/>
        </p:spPr>
        <p:txBody>
          <a:bodyPr wrap="square" anchor="t" lIns="0" rIns="0" tIns="0" bIns="0">
            <a:spAutoFit/>
          </a:bodyPr>
          <a:lstStyle/>
          <a:p>
            <a:pPr algn="ctr">
              <a:spcAft>
                <a:spcPts val="0"/>
              </a:spcAft>
            </a:pPr>
            <a:r>
              <a:rPr sz="1400" b="1" i="0">
                <a:solidFill>
                  <a:srgbClr val="142B22"/>
                </a:solidFill>
                <a:latin typeface="Calibri"/>
              </a:rPr>
              <a:t>Браузер</a:t>
            </a:r>
          </a:p>
        </p:txBody>
      </p:sp>
      <p:sp>
        <p:nvSpPr>
          <p:cNvPr id="9" name="TextBox 8"/>
          <p:cNvSpPr txBox="1"/>
          <p:nvPr/>
        </p:nvSpPr>
        <p:spPr>
          <a:xfrm>
            <a:off x="548640" y="2514600"/>
            <a:ext cx="1691640" cy="64008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POST /books
title=</a:t>
            </a:r>
          </a:p>
        </p:txBody>
      </p:sp>
      <p:cxnSp>
        <p:nvCxnSpPr>
          <p:cNvPr id="10" name="Connector 9"/>
          <p:cNvCxnSpPr/>
          <p:nvPr/>
        </p:nvCxnSpPr>
        <p:spPr>
          <a:xfrm>
            <a:off x="1737360" y="1805940"/>
            <a:ext cx="1188720" cy="0"/>
          </a:xfrm>
          <a:prstGeom prst="line">
            <a:avLst/>
          </a:prstGeom>
          <a:ln w="25400">
            <a:solidFill>
              <a:srgbClr val="C9D8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926080" y="1508760"/>
            <a:ext cx="594360" cy="5943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2</a:t>
            </a:r>
          </a:p>
        </p:txBody>
      </p:sp>
      <p:sp>
        <p:nvSpPr>
          <p:cNvPr id="12" name="TextBox 11"/>
          <p:cNvSpPr txBox="1"/>
          <p:nvPr/>
        </p:nvSpPr>
        <p:spPr>
          <a:xfrm>
            <a:off x="2423160" y="2194560"/>
            <a:ext cx="1691640" cy="320040"/>
          </a:xfrm>
          <a:prstGeom prst="rect">
            <a:avLst/>
          </a:prstGeom>
          <a:noFill/>
        </p:spPr>
        <p:txBody>
          <a:bodyPr wrap="square" anchor="t" lIns="0" rIns="0" tIns="0" bIns="0">
            <a:spAutoFit/>
          </a:bodyPr>
          <a:lstStyle/>
          <a:p>
            <a:pPr algn="ctr">
              <a:spcAft>
                <a:spcPts val="0"/>
              </a:spcAft>
            </a:pPr>
            <a:r>
              <a:rPr sz="1400" b="1" i="0">
                <a:solidFill>
                  <a:srgbClr val="142B22"/>
                </a:solidFill>
                <a:latin typeface="Calibri"/>
              </a:rPr>
              <a:t>WebDataBinder</a:t>
            </a:r>
          </a:p>
        </p:txBody>
      </p:sp>
      <p:sp>
        <p:nvSpPr>
          <p:cNvPr id="13" name="TextBox 12"/>
          <p:cNvSpPr txBox="1"/>
          <p:nvPr/>
        </p:nvSpPr>
        <p:spPr>
          <a:xfrm>
            <a:off x="2423160" y="2514600"/>
            <a:ext cx="1691640" cy="64008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 BookForm
typeMismatch</a:t>
            </a:r>
          </a:p>
        </p:txBody>
      </p:sp>
      <p:cxnSp>
        <p:nvCxnSpPr>
          <p:cNvPr id="14" name="Connector 13"/>
          <p:cNvCxnSpPr/>
          <p:nvPr/>
        </p:nvCxnSpPr>
        <p:spPr>
          <a:xfrm>
            <a:off x="3611880" y="1805940"/>
            <a:ext cx="1188720" cy="0"/>
          </a:xfrm>
          <a:prstGeom prst="line">
            <a:avLst/>
          </a:prstGeom>
          <a:ln w="25400">
            <a:solidFill>
              <a:srgbClr val="C9D8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800599" y="1508760"/>
            <a:ext cx="594360" cy="5943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3</a:t>
            </a:r>
          </a:p>
        </p:txBody>
      </p:sp>
      <p:sp>
        <p:nvSpPr>
          <p:cNvPr id="16" name="TextBox 15"/>
          <p:cNvSpPr txBox="1"/>
          <p:nvPr/>
        </p:nvSpPr>
        <p:spPr>
          <a:xfrm>
            <a:off x="4297679" y="2194560"/>
            <a:ext cx="1691640" cy="320040"/>
          </a:xfrm>
          <a:prstGeom prst="rect">
            <a:avLst/>
          </a:prstGeom>
          <a:noFill/>
        </p:spPr>
        <p:txBody>
          <a:bodyPr wrap="square" anchor="t" lIns="0" rIns="0" tIns="0" bIns="0">
            <a:spAutoFit/>
          </a:bodyPr>
          <a:lstStyle/>
          <a:p>
            <a:pPr algn="ctr">
              <a:spcAft>
                <a:spcPts val="0"/>
              </a:spcAft>
            </a:pPr>
            <a:r>
              <a:rPr sz="1400" b="1" i="0">
                <a:solidFill>
                  <a:srgbClr val="142B22"/>
                </a:solidFill>
                <a:latin typeface="Calibri"/>
              </a:rPr>
              <a:t>@Valid</a:t>
            </a:r>
          </a:p>
        </p:txBody>
      </p:sp>
      <p:sp>
        <p:nvSpPr>
          <p:cNvPr id="17" name="TextBox 16"/>
          <p:cNvSpPr txBox="1"/>
          <p:nvPr/>
        </p:nvSpPr>
        <p:spPr>
          <a:xfrm>
            <a:off x="4297679" y="2514600"/>
            <a:ext cx="1691640" cy="64008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Hibernate
Validator</a:t>
            </a:r>
          </a:p>
        </p:txBody>
      </p:sp>
      <p:cxnSp>
        <p:nvCxnSpPr>
          <p:cNvPr id="18" name="Connector 17"/>
          <p:cNvCxnSpPr/>
          <p:nvPr/>
        </p:nvCxnSpPr>
        <p:spPr>
          <a:xfrm>
            <a:off x="5486399" y="1805940"/>
            <a:ext cx="1188720" cy="0"/>
          </a:xfrm>
          <a:prstGeom prst="line">
            <a:avLst/>
          </a:prstGeom>
          <a:ln w="25400">
            <a:solidFill>
              <a:srgbClr val="C9D8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5119" y="1508760"/>
            <a:ext cx="594360" cy="5943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4</a:t>
            </a:r>
          </a:p>
        </p:txBody>
      </p:sp>
      <p:sp>
        <p:nvSpPr>
          <p:cNvPr id="20" name="TextBox 19"/>
          <p:cNvSpPr txBox="1"/>
          <p:nvPr/>
        </p:nvSpPr>
        <p:spPr>
          <a:xfrm>
            <a:off x="6172199" y="2194560"/>
            <a:ext cx="1691640" cy="320040"/>
          </a:xfrm>
          <a:prstGeom prst="rect">
            <a:avLst/>
          </a:prstGeom>
          <a:noFill/>
        </p:spPr>
        <p:txBody>
          <a:bodyPr wrap="square" anchor="t" lIns="0" rIns="0" tIns="0" bIns="0">
            <a:spAutoFit/>
          </a:bodyPr>
          <a:lstStyle/>
          <a:p>
            <a:pPr algn="ctr">
              <a:spcAft>
                <a:spcPts val="0"/>
              </a:spcAft>
            </a:pPr>
            <a:r>
              <a:rPr sz="1400" b="1" i="0">
                <a:solidFill>
                  <a:srgbClr val="142B22"/>
                </a:solidFill>
                <a:latin typeface="Calibri"/>
              </a:rPr>
              <a:t>MessageSource</a:t>
            </a:r>
          </a:p>
        </p:txBody>
      </p:sp>
      <p:sp>
        <p:nvSpPr>
          <p:cNvPr id="21" name="TextBox 20"/>
          <p:cNvSpPr txBox="1"/>
          <p:nvPr/>
        </p:nvSpPr>
        <p:spPr>
          <a:xfrm>
            <a:off x="6172199" y="2514600"/>
            <a:ext cx="1691640" cy="64008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{book.title.
required} · ru/en</a:t>
            </a:r>
          </a:p>
        </p:txBody>
      </p:sp>
      <p:cxnSp>
        <p:nvCxnSpPr>
          <p:cNvPr id="22" name="Connector 21"/>
          <p:cNvCxnSpPr/>
          <p:nvPr/>
        </p:nvCxnSpPr>
        <p:spPr>
          <a:xfrm>
            <a:off x="7360919" y="1805940"/>
            <a:ext cx="1188721" cy="0"/>
          </a:xfrm>
          <a:prstGeom prst="line">
            <a:avLst/>
          </a:prstGeom>
          <a:ln w="25400">
            <a:solidFill>
              <a:srgbClr val="C9D8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49640" y="1508760"/>
            <a:ext cx="594360" cy="5943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5</a:t>
            </a:r>
          </a:p>
        </p:txBody>
      </p:sp>
      <p:sp>
        <p:nvSpPr>
          <p:cNvPr id="24" name="TextBox 23"/>
          <p:cNvSpPr txBox="1"/>
          <p:nvPr/>
        </p:nvSpPr>
        <p:spPr>
          <a:xfrm>
            <a:off x="8046719" y="2194560"/>
            <a:ext cx="1691640" cy="320040"/>
          </a:xfrm>
          <a:prstGeom prst="rect">
            <a:avLst/>
          </a:prstGeom>
          <a:noFill/>
        </p:spPr>
        <p:txBody>
          <a:bodyPr wrap="square" anchor="t" lIns="0" rIns="0" tIns="0" bIns="0">
            <a:spAutoFit/>
          </a:bodyPr>
          <a:lstStyle/>
          <a:p>
            <a:pPr algn="ctr">
              <a:spcAft>
                <a:spcPts val="0"/>
              </a:spcAft>
            </a:pPr>
            <a:r>
              <a:rPr sz="1400" b="1" i="0">
                <a:solidFill>
                  <a:srgbClr val="142B22"/>
                </a:solidFill>
                <a:latin typeface="Calibri"/>
              </a:rPr>
              <a:t>BindingResult</a:t>
            </a:r>
          </a:p>
        </p:txBody>
      </p:sp>
      <p:sp>
        <p:nvSpPr>
          <p:cNvPr id="25" name="TextBox 24"/>
          <p:cNvSpPr txBox="1"/>
          <p:nvPr/>
        </p:nvSpPr>
        <p:spPr>
          <a:xfrm>
            <a:off x="8046719" y="2514600"/>
            <a:ext cx="1691640" cy="64008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ошибки, без
исключения</a:t>
            </a:r>
          </a:p>
        </p:txBody>
      </p:sp>
      <p:cxnSp>
        <p:nvCxnSpPr>
          <p:cNvPr id="26" name="Connector 25"/>
          <p:cNvCxnSpPr/>
          <p:nvPr/>
        </p:nvCxnSpPr>
        <p:spPr>
          <a:xfrm>
            <a:off x="9235440" y="1805940"/>
            <a:ext cx="1188719" cy="0"/>
          </a:xfrm>
          <a:prstGeom prst="line">
            <a:avLst/>
          </a:prstGeom>
          <a:ln w="25400">
            <a:solidFill>
              <a:srgbClr val="C9D8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424160" y="1508760"/>
            <a:ext cx="594360" cy="59436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6</a:t>
            </a:r>
          </a:p>
        </p:txBody>
      </p:sp>
      <p:sp>
        <p:nvSpPr>
          <p:cNvPr id="28" name="TextBox 27"/>
          <p:cNvSpPr txBox="1"/>
          <p:nvPr/>
        </p:nvSpPr>
        <p:spPr>
          <a:xfrm>
            <a:off x="9921240" y="2194560"/>
            <a:ext cx="1691640" cy="320040"/>
          </a:xfrm>
          <a:prstGeom prst="rect">
            <a:avLst/>
          </a:prstGeom>
          <a:noFill/>
        </p:spPr>
        <p:txBody>
          <a:bodyPr wrap="square" anchor="t" lIns="0" rIns="0" tIns="0" bIns="0">
            <a:spAutoFit/>
          </a:bodyPr>
          <a:lstStyle/>
          <a:p>
            <a:pPr algn="ctr">
              <a:spcAft>
                <a:spcPts val="0"/>
              </a:spcAft>
            </a:pPr>
            <a:r>
              <a:rPr sz="1400" b="1" i="0">
                <a:solidFill>
                  <a:srgbClr val="142B22"/>
                </a:solidFill>
                <a:latin typeface="Calibri"/>
              </a:rPr>
              <a:t>Thymeleaf</a:t>
            </a:r>
          </a:p>
        </p:txBody>
      </p:sp>
      <p:sp>
        <p:nvSpPr>
          <p:cNvPr id="29" name="TextBox 28"/>
          <p:cNvSpPr txBox="1"/>
          <p:nvPr/>
        </p:nvSpPr>
        <p:spPr>
          <a:xfrm>
            <a:off x="9921240" y="2514600"/>
            <a:ext cx="1691640" cy="640080"/>
          </a:xfrm>
          <a:prstGeom prst="rect">
            <a:avLst/>
          </a:prstGeom>
          <a:noFill/>
        </p:spPr>
        <p:txBody>
          <a:bodyPr wrap="square" anchor="t" lIns="0" rIns="0" tIns="0" bIns="0">
            <a:spAutoFit/>
          </a:bodyPr>
          <a:lstStyle/>
          <a:p>
            <a:pPr algn="ctr">
              <a:spcAft>
                <a:spcPts val="0"/>
              </a:spcAft>
            </a:pPr>
            <a:r>
              <a:rPr sz="1200" b="0" i="0">
                <a:solidFill>
                  <a:srgbClr val="5E6B63"/>
                </a:solidFill>
                <a:latin typeface="Calibri"/>
              </a:rPr>
              <a:t>th:errors
th:errorclass</a:t>
            </a:r>
          </a:p>
        </p:txBody>
      </p:sp>
      <p:sp>
        <p:nvSpPr>
          <p:cNvPr id="30" name="Rounded Rectangle 29"/>
          <p:cNvSpPr/>
          <p:nvPr/>
        </p:nvSpPr>
        <p:spPr>
          <a:xfrm>
            <a:off x="548640" y="3429000"/>
            <a:ext cx="5394960" cy="274320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3520440"/>
            <a:ext cx="4937760" cy="365760"/>
          </a:xfrm>
          <a:prstGeom prst="rect">
            <a:avLst/>
          </a:prstGeom>
          <a:noFill/>
        </p:spPr>
        <p:txBody>
          <a:bodyPr wrap="square" anchor="t" lIns="0" rIns="0" tIns="0" bIns="0">
            <a:spAutoFit/>
          </a:bodyPr>
          <a:lstStyle/>
          <a:p>
            <a:pPr algn="l">
              <a:spcAft>
                <a:spcPts val="0"/>
              </a:spcAft>
            </a:pPr>
            <a:r>
              <a:rPr sz="1700" b="1" i="0">
                <a:solidFill>
                  <a:srgbClr val="142B22"/>
                </a:solidFill>
                <a:latin typeface="Calibri"/>
              </a:rPr>
              <a:t>Вариант 7 · дата публикации</a:t>
            </a:r>
          </a:p>
        </p:txBody>
      </p:sp>
      <p:sp>
        <p:nvSpPr>
          <p:cNvPr id="32" name="TextBox 31"/>
          <p:cNvSpPr txBox="1"/>
          <p:nvPr/>
        </p:nvSpPr>
        <p:spPr>
          <a:xfrm>
            <a:off x="777240" y="3931920"/>
            <a:ext cx="4937760" cy="822960"/>
          </a:xfrm>
          <a:prstGeom prst="rect">
            <a:avLst/>
          </a:prstGeom>
          <a:noFill/>
        </p:spPr>
        <p:txBody>
          <a:bodyPr wrap="square" anchor="t" lIns="0" rIns="0" tIns="0" bIns="0">
            <a:spAutoFit/>
          </a:bodyPr>
          <a:lstStyle/>
          <a:p>
            <a:pPr algn="l">
              <a:spcAft>
                <a:spcPts val="0"/>
              </a:spcAft>
            </a:pPr>
            <a:r>
              <a:rPr sz="1200" b="0" i="0">
                <a:solidFill>
                  <a:srgbClr val="1D2621"/>
                </a:solidFill>
                <a:latin typeface="Courier New"/>
              </a:rPr>
              <a:t>@PastOrPresent</a:t>
            </a:r>
          </a:p>
          <a:p>
            <a:pPr algn="l">
              <a:spcAft>
                <a:spcPts val="0"/>
              </a:spcAft>
            </a:pPr>
            <a:r>
              <a:rPr sz="1200" b="0" i="0">
                <a:solidFill>
                  <a:srgbClr val="1D2621"/>
                </a:solidFill>
                <a:latin typeface="Courier New"/>
              </a:rPr>
              <a:t>@DateTimeFormat(style = "S-",</a:t>
            </a:r>
          </a:p>
          <a:p>
            <a:pPr algn="l">
              <a:spcAft>
                <a:spcPts val="0"/>
              </a:spcAft>
            </a:pPr>
            <a:r>
              <a:rPr sz="1200" b="0" i="0">
                <a:solidFill>
                  <a:srgbClr val="1D2621"/>
                </a:solidFill>
                <a:latin typeface="Courier New"/>
              </a:rPr>
              <a:t>  fallbackPatterns = "yyyy-MM-dd")</a:t>
            </a:r>
          </a:p>
        </p:txBody>
      </p:sp>
      <p:graphicFrame>
        <p:nvGraphicFramePr>
          <p:cNvPr id="33" name="Table 32"/>
          <p:cNvGraphicFramePr>
            <a:graphicFrameLocks noGrp="1"/>
          </p:cNvGraphicFramePr>
          <p:nvPr/>
        </p:nvGraphicFramePr>
        <p:xfrm>
          <a:off x="777240" y="4846320"/>
          <a:ext cx="4937760" cy="1097280"/>
        </p:xfrm>
        <a:graphic>
          <a:graphicData uri="http://schemas.openxmlformats.org/drawingml/2006/table">
            <a:tbl>
              <a:tblPr firstRow="1" bandRow="1">
                <a:tableStyleId>{5C22544A-7EE6-4342-B048-85BDC9FD1C3A}</a:tableStyleId>
              </a:tblPr>
              <a:tblGrid>
                <a:gridCol w="1097280"/>
                <a:gridCol w="1737360"/>
                <a:gridCol w="2103120"/>
              </a:tblGrid>
              <a:tr h="365760">
                <a:tc>
                  <a:txBody>
                    <a:bodyPr/>
                    <a:lstStyle/>
                    <a:p>
                      <a:r>
                        <a:rPr sz="1200" b="1">
                          <a:solidFill>
                            <a:srgbClr val="FFFFFF"/>
                          </a:solidFill>
                          <a:latin typeface="Calibri"/>
                        </a:rPr>
                        <a:t>Локаль</a:t>
                      </a:r>
                    </a:p>
                  </a:txBody>
                  <a:tcPr marL="109728" marR="109728" anchor="ctr">
                    <a:solidFill>
                      <a:srgbClr val="142B22"/>
                    </a:solidFill>
                  </a:tcPr>
                </a:tc>
                <a:tc>
                  <a:txBody>
                    <a:bodyPr/>
                    <a:lstStyle/>
                    <a:p>
                      <a:r>
                        <a:rPr sz="1200" b="1">
                          <a:solidFill>
                            <a:srgbClr val="FFFFFF"/>
                          </a:solidFill>
                          <a:latin typeface="Calibri"/>
                        </a:rPr>
                        <a:t>Ввод</a:t>
                      </a:r>
                    </a:p>
                  </a:txBody>
                  <a:tcPr marL="109728" marR="109728" anchor="ctr">
                    <a:solidFill>
                      <a:srgbClr val="142B22"/>
                    </a:solidFill>
                  </a:tcPr>
                </a:tc>
                <a:tc>
                  <a:txBody>
                    <a:bodyPr/>
                    <a:lstStyle/>
                    <a:p>
                      <a:r>
                        <a:rPr sz="1200" b="1">
                          <a:solidFill>
                            <a:srgbClr val="FFFFFF"/>
                          </a:solidFill>
                          <a:latin typeface="Calibri"/>
                        </a:rPr>
                        <a:t>В каталоге</a:t>
                      </a:r>
                    </a:p>
                  </a:txBody>
                  <a:tcPr marL="109728" marR="109728" anchor="ctr">
                    <a:solidFill>
                      <a:srgbClr val="142B22"/>
                    </a:solidFill>
                  </a:tcPr>
                </a:tc>
              </a:tr>
              <a:tr h="365760">
                <a:tc>
                  <a:txBody>
                    <a:bodyPr/>
                    <a:lstStyle/>
                    <a:p>
                      <a:r>
                        <a:rPr sz="1200" b="1">
                          <a:solidFill>
                            <a:srgbClr val="1D2621"/>
                          </a:solidFill>
                          <a:latin typeface="Calibri"/>
                        </a:rPr>
                        <a:t>en</a:t>
                      </a:r>
                    </a:p>
                  </a:txBody>
                  <a:tcPr marL="109728" marR="109728" anchor="ctr">
                    <a:solidFill>
                      <a:srgbClr val="FFFFFF"/>
                    </a:solidFill>
                  </a:tcPr>
                </a:tc>
                <a:tc>
                  <a:txBody>
                    <a:bodyPr/>
                    <a:lstStyle/>
                    <a:p>
                      <a:r>
                        <a:rPr sz="1200" b="0">
                          <a:solidFill>
                            <a:srgbClr val="1D2621"/>
                          </a:solidFill>
                          <a:latin typeface="Calibri"/>
                        </a:rPr>
                        <a:t>5/9/06</a:t>
                      </a:r>
                    </a:p>
                  </a:txBody>
                  <a:tcPr marL="109728" marR="109728" anchor="ctr">
                    <a:solidFill>
                      <a:srgbClr val="FFFFFF"/>
                    </a:solidFill>
                  </a:tcPr>
                </a:tc>
                <a:tc>
                  <a:txBody>
                    <a:bodyPr/>
                    <a:lstStyle/>
                    <a:p>
                      <a:r>
                        <a:rPr sz="1200" b="0">
                          <a:solidFill>
                            <a:srgbClr val="1D2621"/>
                          </a:solidFill>
                          <a:latin typeface="Calibri"/>
                        </a:rPr>
                        <a:t>9 May 2006</a:t>
                      </a:r>
                    </a:p>
                  </a:txBody>
                  <a:tcPr marL="109728" marR="109728" anchor="ctr">
                    <a:solidFill>
                      <a:srgbClr val="FFFFFF"/>
                    </a:solidFill>
                  </a:tcPr>
                </a:tc>
              </a:tr>
              <a:tr h="365760">
                <a:tc>
                  <a:txBody>
                    <a:bodyPr/>
                    <a:lstStyle/>
                    <a:p>
                      <a:r>
                        <a:rPr sz="1200" b="1">
                          <a:solidFill>
                            <a:srgbClr val="1D2621"/>
                          </a:solidFill>
                          <a:latin typeface="Calibri"/>
                        </a:rPr>
                        <a:t>ru</a:t>
                      </a:r>
                    </a:p>
                  </a:txBody>
                  <a:tcPr marL="109728" marR="109728" anchor="ctr">
                    <a:solidFill>
                      <a:srgbClr val="EAF4E2"/>
                    </a:solidFill>
                  </a:tcPr>
                </a:tc>
                <a:tc>
                  <a:txBody>
                    <a:bodyPr/>
                    <a:lstStyle/>
                    <a:p>
                      <a:r>
                        <a:rPr sz="1200" b="0">
                          <a:solidFill>
                            <a:srgbClr val="1D2621"/>
                          </a:solidFill>
                          <a:latin typeface="Calibri"/>
                        </a:rPr>
                        <a:t>09.05.2006</a:t>
                      </a:r>
                    </a:p>
                  </a:txBody>
                  <a:tcPr marL="109728" marR="109728" anchor="ctr">
                    <a:solidFill>
                      <a:srgbClr val="EAF4E2"/>
                    </a:solidFill>
                  </a:tcPr>
                </a:tc>
                <a:tc>
                  <a:txBody>
                    <a:bodyPr/>
                    <a:lstStyle/>
                    <a:p>
                      <a:r>
                        <a:rPr sz="1200" b="0">
                          <a:solidFill>
                            <a:srgbClr val="1D2621"/>
                          </a:solidFill>
                          <a:latin typeface="Calibri"/>
                        </a:rPr>
                        <a:t>9 мая 2006</a:t>
                      </a:r>
                    </a:p>
                  </a:txBody>
                  <a:tcPr marL="109728" marR="109728" anchor="ctr">
                    <a:solidFill>
                      <a:srgbClr val="EAF4E2"/>
                    </a:solidFill>
                  </a:tcPr>
                </a:tc>
              </a:tr>
            </a:tbl>
          </a:graphicData>
        </a:graphic>
      </p:graphicFrame>
      <p:sp>
        <p:nvSpPr>
          <p:cNvPr id="34" name="TextBox 33"/>
          <p:cNvSpPr txBox="1"/>
          <p:nvPr/>
        </p:nvSpPr>
        <p:spPr>
          <a:xfrm>
            <a:off x="6400800" y="3520440"/>
            <a:ext cx="5212080" cy="2743200"/>
          </a:xfrm>
          <a:prstGeom prst="rect">
            <a:avLst/>
          </a:prstGeom>
          <a:noFill/>
        </p:spPr>
        <p:txBody>
          <a:bodyPr wrap="square" lIns="0" rIns="0" tIns="0" bIns="0">
            <a:spAutoFit/>
          </a:bodyPr>
          <a:lstStyle/>
          <a:p>
            <a:pPr marL="274320" indent="-274320">
              <a:spcAft>
                <a:spcPts val="600"/>
              </a:spcAft>
              <a:buClr>
                <a:srgbClr val="6DB33F"/>
              </a:buClr>
              <a:buFont typeface="Arial"/>
              <a:buChar char="•"/>
            </a:pPr>
            <a:r>
              <a:rPr sz="1400" b="1">
                <a:solidFill>
                  <a:srgbClr val="1D2621"/>
                </a:solidFill>
                <a:latin typeface="Calibri"/>
              </a:rPr>
              <a:t>BookForm </a:t>
            </a:r>
            <a:r>
              <a:rPr sz="1400" b="0">
                <a:solidFill>
                  <a:srgbClr val="1D2621"/>
                </a:solidFill>
                <a:latin typeface="Calibri"/>
              </a:rPr>
              <a:t>отдельно от record Book — нет id, нет mass assignment</a:t>
            </a:r>
          </a:p>
          <a:p>
            <a:pPr marL="274320" indent="-274320">
              <a:spcAft>
                <a:spcPts val="600"/>
              </a:spcAft>
              <a:buClr>
                <a:srgbClr val="6DB33F"/>
              </a:buClr>
              <a:buFont typeface="Arial"/>
              <a:buChar char="•"/>
            </a:pPr>
            <a:r>
              <a:rPr sz="1400" b="1">
                <a:solidFill>
                  <a:srgbClr val="1D2621"/>
                </a:solidFill>
                <a:latin typeface="Calibri"/>
              </a:rPr>
              <a:t>@NoDigits </a:t>
            </a:r>
            <a:r>
              <a:rPr sz="1400" b="0">
                <a:solidFill>
                  <a:srgbClr val="1D2621"/>
                </a:solidFill>
                <a:latin typeface="Calibri"/>
              </a:rPr>
              <a:t>— своё ограничение; null валиден</a:t>
            </a:r>
          </a:p>
          <a:p>
            <a:pPr marL="274320" indent="-274320">
              <a:spcAft>
                <a:spcPts val="600"/>
              </a:spcAft>
              <a:buClr>
                <a:srgbClr val="6DB33F"/>
              </a:buClr>
              <a:buFont typeface="Arial"/>
              <a:buChar char="•"/>
            </a:pPr>
            <a:r>
              <a:rPr sz="1400" b="1">
                <a:solidFill>
                  <a:srgbClr val="1D2621"/>
                </a:solidFill>
                <a:latin typeface="Calibri"/>
              </a:rPr>
              <a:t>messages(_ru).properties </a:t>
            </a:r>
            <a:r>
              <a:rPr sz="1400" b="0">
                <a:solidFill>
                  <a:srgbClr val="1D2621"/>
                </a:solidFill>
                <a:latin typeface="Calibri"/>
              </a:rPr>
              <a:t>+ ?lang=ru через SessionLocaleResolver</a:t>
            </a:r>
          </a:p>
          <a:p>
            <a:pPr marL="274320" indent="-274320">
              <a:spcAft>
                <a:spcPts val="600"/>
              </a:spcAft>
              <a:buClr>
                <a:srgbClr val="6DB33F"/>
              </a:buClr>
              <a:buFont typeface="Arial"/>
              <a:buChar char="•"/>
            </a:pPr>
            <a:r>
              <a:rPr sz="1400" b="1">
                <a:solidFill>
                  <a:srgbClr val="1D2621"/>
                </a:solidFill>
                <a:latin typeface="Calibri"/>
              </a:rPr>
              <a:t>/books/999 </a:t>
            </a:r>
            <a:r>
              <a:rPr sz="1400" b="0">
                <a:solidFill>
                  <a:srgbClr val="1D2621"/>
                </a:solidFill>
                <a:latin typeface="Calibri"/>
              </a:rPr>
              <a:t>→ HTML-страница 404 (PageExceptionHandler)</a:t>
            </a:r>
          </a:p>
          <a:p>
            <a:pPr marL="274320" indent="-274320">
              <a:spcAft>
                <a:spcPts val="600"/>
              </a:spcAft>
              <a:buClr>
                <a:srgbClr val="6DB33F"/>
              </a:buClr>
              <a:buFont typeface="Arial"/>
              <a:buChar char="•"/>
            </a:pPr>
            <a:r>
              <a:rPr sz="1400" b="1">
                <a:solidFill>
                  <a:srgbClr val="1D2621"/>
                </a:solidFill>
                <a:latin typeface="Calibri"/>
              </a:rPr>
              <a:t>/api/books/999 </a:t>
            </a:r>
            <a:r>
              <a:rPr sz="1400" b="0">
                <a:solidFill>
                  <a:srgbClr val="1D2621"/>
                </a:solidFill>
                <a:latin typeface="Calibri"/>
              </a:rPr>
              <a:t>→ application/problem+json (ApiExceptionHandler)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Не рядом, а вместе: как связаны лабораторные</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10</a:t>
            </a:r>
          </a:p>
        </p:txBody>
      </p:sp>
      <p:sp>
        <p:nvSpPr>
          <p:cNvPr id="5" name="Rounded Rectangle 4"/>
          <p:cNvSpPr/>
          <p:nvPr/>
        </p:nvSpPr>
        <p:spPr>
          <a:xfrm>
            <a:off x="548640" y="1508760"/>
            <a:ext cx="3502152" cy="2148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737360"/>
            <a:ext cx="1234440" cy="411480"/>
          </a:xfrm>
          <a:prstGeom prst="roundRect">
            <a:avLst>
              <a:gd name="adj" fmla="val 50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234440" cy="411480"/>
          </a:xfrm>
          <a:prstGeom prst="rect">
            <a:avLst/>
          </a:prstGeom>
          <a:noFill/>
        </p:spPr>
        <p:txBody>
          <a:bodyPr wrap="square" anchor="ctr" lIns="0" rIns="0" tIns="0" bIns="0">
            <a:spAutoFit/>
          </a:bodyPr>
          <a:lstStyle/>
          <a:p>
            <a:pPr algn="ctr">
              <a:spcAft>
                <a:spcPts val="0"/>
              </a:spcAft>
            </a:pPr>
            <a:r>
              <a:rPr sz="1300" b="1" i="0">
                <a:solidFill>
                  <a:srgbClr val="6DB33F"/>
                </a:solidFill>
                <a:latin typeface="Calibri"/>
              </a:rPr>
              <a:t>2 → 5</a:t>
            </a:r>
          </a:p>
        </p:txBody>
      </p:sp>
      <p:sp>
        <p:nvSpPr>
          <p:cNvPr id="8" name="TextBox 7"/>
          <p:cNvSpPr txBox="1"/>
          <p:nvPr/>
        </p:nvSpPr>
        <p:spPr>
          <a:xfrm>
            <a:off x="777240" y="2331720"/>
            <a:ext cx="306324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Уведомления о новой книге</a:t>
            </a:r>
          </a:p>
        </p:txBody>
      </p:sp>
      <p:sp>
        <p:nvSpPr>
          <p:cNvPr id="9" name="TextBox 8"/>
          <p:cNvSpPr txBox="1"/>
          <p:nvPr/>
        </p:nvSpPr>
        <p:spPr>
          <a:xfrm>
            <a:off x="777240" y="2743200"/>
            <a:ext cx="3063240" cy="82296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BookService.create() вызывает @Primary EmailNotifier</a:t>
            </a:r>
          </a:p>
        </p:txBody>
      </p:sp>
      <p:sp>
        <p:nvSpPr>
          <p:cNvPr id="10" name="Rounded Rectangle 9"/>
          <p:cNvSpPr/>
          <p:nvPr/>
        </p:nvSpPr>
        <p:spPr>
          <a:xfrm>
            <a:off x="4279392" y="1508760"/>
            <a:ext cx="3502152" cy="2148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07992" y="1737360"/>
            <a:ext cx="1234440" cy="411480"/>
          </a:xfrm>
          <a:prstGeom prst="roundRect">
            <a:avLst>
              <a:gd name="adj" fmla="val 50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737360"/>
            <a:ext cx="1234440" cy="411480"/>
          </a:xfrm>
          <a:prstGeom prst="rect">
            <a:avLst/>
          </a:prstGeom>
          <a:noFill/>
        </p:spPr>
        <p:txBody>
          <a:bodyPr wrap="square" anchor="ctr" lIns="0" rIns="0" tIns="0" bIns="0">
            <a:spAutoFit/>
          </a:bodyPr>
          <a:lstStyle/>
          <a:p>
            <a:pPr algn="ctr">
              <a:spcAft>
                <a:spcPts val="0"/>
              </a:spcAft>
            </a:pPr>
            <a:r>
              <a:rPr sz="1300" b="1" i="0">
                <a:solidFill>
                  <a:srgbClr val="6DB33F"/>
                </a:solidFill>
                <a:latin typeface="Calibri"/>
              </a:rPr>
              <a:t>3 → 2</a:t>
            </a:r>
          </a:p>
        </p:txBody>
      </p:sp>
      <p:sp>
        <p:nvSpPr>
          <p:cNvPr id="13" name="TextBox 12"/>
          <p:cNvSpPr txBox="1"/>
          <p:nvPr/>
        </p:nvSpPr>
        <p:spPr>
          <a:xfrm>
            <a:off x="4507992" y="2331720"/>
            <a:ext cx="306324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Почта зависит от профиля</a:t>
            </a:r>
          </a:p>
        </p:txBody>
      </p:sp>
      <p:sp>
        <p:nvSpPr>
          <p:cNvPr id="14" name="TextBox 13"/>
          <p:cNvSpPr txBox="1"/>
          <p:nvPr/>
        </p:nvSpPr>
        <p:spPr>
          <a:xfrm>
            <a:off x="4507992" y="2743200"/>
            <a:ext cx="3063240" cy="82296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dev: mail выключен · prod: retry-count = 5</a:t>
            </a:r>
          </a:p>
        </p:txBody>
      </p:sp>
      <p:sp>
        <p:nvSpPr>
          <p:cNvPr id="15" name="Rounded Rectangle 14"/>
          <p:cNvSpPr/>
          <p:nvPr/>
        </p:nvSpPr>
        <p:spPr>
          <a:xfrm>
            <a:off x="8010144" y="1508760"/>
            <a:ext cx="3502152" cy="2148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38744" y="1737360"/>
            <a:ext cx="1234440" cy="411480"/>
          </a:xfrm>
          <a:prstGeom prst="roundRect">
            <a:avLst>
              <a:gd name="adj" fmla="val 50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1737360"/>
            <a:ext cx="1234440" cy="411480"/>
          </a:xfrm>
          <a:prstGeom prst="rect">
            <a:avLst/>
          </a:prstGeom>
          <a:noFill/>
        </p:spPr>
        <p:txBody>
          <a:bodyPr wrap="square" anchor="ctr" lIns="0" rIns="0" tIns="0" bIns="0">
            <a:spAutoFit/>
          </a:bodyPr>
          <a:lstStyle/>
          <a:p>
            <a:pPr algn="ctr">
              <a:spcAft>
                <a:spcPts val="0"/>
              </a:spcAft>
            </a:pPr>
            <a:r>
              <a:rPr sz="1300" b="1" i="0">
                <a:solidFill>
                  <a:srgbClr val="6DB33F"/>
                </a:solidFill>
                <a:latin typeface="Calibri"/>
              </a:rPr>
              <a:t>3 → 5</a:t>
            </a:r>
          </a:p>
        </p:txBody>
      </p:sp>
      <p:sp>
        <p:nvSpPr>
          <p:cNvPr id="18" name="TextBox 17"/>
          <p:cNvSpPr txBox="1"/>
          <p:nvPr/>
        </p:nvSpPr>
        <p:spPr>
          <a:xfrm>
            <a:off x="8238744" y="2331720"/>
            <a:ext cx="306324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Кэш цитат по app.cache</a:t>
            </a:r>
          </a:p>
        </p:txBody>
      </p:sp>
      <p:sp>
        <p:nvSpPr>
          <p:cNvPr id="19" name="TextBox 18"/>
          <p:cNvSpPr txBox="1"/>
          <p:nvPr/>
        </p:nvSpPr>
        <p:spPr>
          <a:xfrm>
            <a:off x="8238744" y="2743200"/>
            <a:ext cx="3063240" cy="82296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1 мин / 100 записей, под dev — 30 с / 50</a:t>
            </a:r>
          </a:p>
        </p:txBody>
      </p:sp>
      <p:sp>
        <p:nvSpPr>
          <p:cNvPr id="20" name="Rounded Rectangle 19"/>
          <p:cNvSpPr/>
          <p:nvPr/>
        </p:nvSpPr>
        <p:spPr>
          <a:xfrm>
            <a:off x="548640" y="3886200"/>
            <a:ext cx="3502152" cy="2148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114800"/>
            <a:ext cx="1234440" cy="411480"/>
          </a:xfrm>
          <a:prstGeom prst="roundRect">
            <a:avLst>
              <a:gd name="adj" fmla="val 50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14800"/>
            <a:ext cx="1234440" cy="411480"/>
          </a:xfrm>
          <a:prstGeom prst="rect">
            <a:avLst/>
          </a:prstGeom>
          <a:noFill/>
        </p:spPr>
        <p:txBody>
          <a:bodyPr wrap="square" anchor="ctr" lIns="0" rIns="0" tIns="0" bIns="0">
            <a:spAutoFit/>
          </a:bodyPr>
          <a:lstStyle/>
          <a:p>
            <a:pPr algn="ctr">
              <a:spcAft>
                <a:spcPts val="0"/>
              </a:spcAft>
            </a:pPr>
            <a:r>
              <a:rPr sz="1300" b="1" i="0">
                <a:solidFill>
                  <a:srgbClr val="6DB33F"/>
                </a:solidFill>
                <a:latin typeface="Calibri"/>
              </a:rPr>
              <a:t>4 → все</a:t>
            </a:r>
          </a:p>
        </p:txBody>
      </p:sp>
      <p:sp>
        <p:nvSpPr>
          <p:cNvPr id="23" name="TextBox 22"/>
          <p:cNvSpPr txBox="1"/>
          <p:nvPr/>
        </p:nvSpPr>
        <p:spPr>
          <a:xfrm>
            <a:off x="777240" y="4709160"/>
            <a:ext cx="306324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Каждая операция обёрнута</a:t>
            </a:r>
          </a:p>
        </p:txBody>
      </p:sp>
      <p:sp>
        <p:nvSpPr>
          <p:cNvPr id="24" name="TextBox 23"/>
          <p:cNvSpPr txBox="1"/>
          <p:nvPr/>
        </p:nvSpPr>
        <p:spPr>
          <a:xfrm>
            <a:off x="777240" y="5120640"/>
            <a:ext cx="3063240" cy="82296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Audit · Log · Time · Trace на всём сервисном слое</a:t>
            </a:r>
          </a:p>
        </p:txBody>
      </p:sp>
      <p:sp>
        <p:nvSpPr>
          <p:cNvPr id="25" name="Rounded Rectangle 24"/>
          <p:cNvSpPr/>
          <p:nvPr/>
        </p:nvSpPr>
        <p:spPr>
          <a:xfrm>
            <a:off x="4279392" y="3886200"/>
            <a:ext cx="3502152" cy="2148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07992" y="4114800"/>
            <a:ext cx="1234440" cy="411480"/>
          </a:xfrm>
          <a:prstGeom prst="roundRect">
            <a:avLst>
              <a:gd name="adj" fmla="val 50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4114800"/>
            <a:ext cx="1234440" cy="411480"/>
          </a:xfrm>
          <a:prstGeom prst="rect">
            <a:avLst/>
          </a:prstGeom>
          <a:noFill/>
        </p:spPr>
        <p:txBody>
          <a:bodyPr wrap="square" anchor="ctr" lIns="0" rIns="0" tIns="0" bIns="0">
            <a:spAutoFit/>
          </a:bodyPr>
          <a:lstStyle/>
          <a:p>
            <a:pPr algn="ctr">
              <a:spcAft>
                <a:spcPts val="0"/>
              </a:spcAft>
            </a:pPr>
            <a:r>
              <a:rPr sz="1300" b="1" i="0">
                <a:solidFill>
                  <a:srgbClr val="6DB33F"/>
                </a:solidFill>
                <a:latin typeface="Calibri"/>
              </a:rPr>
              <a:t>6 → 5</a:t>
            </a:r>
          </a:p>
        </p:txBody>
      </p:sp>
      <p:sp>
        <p:nvSpPr>
          <p:cNvPr id="28" name="TextBox 27"/>
          <p:cNvSpPr txBox="1"/>
          <p:nvPr/>
        </p:nvSpPr>
        <p:spPr>
          <a:xfrm>
            <a:off x="4507992" y="4709160"/>
            <a:ext cx="306324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Валидация JSON в API</a:t>
            </a:r>
          </a:p>
        </p:txBody>
      </p:sp>
      <p:sp>
        <p:nvSpPr>
          <p:cNvPr id="29" name="TextBox 28"/>
          <p:cNvSpPr txBox="1"/>
          <p:nvPr/>
        </p:nvSpPr>
        <p:spPr>
          <a:xfrm>
            <a:off x="4507992" y="5120640"/>
            <a:ext cx="3063240" cy="82296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BookRequest: те же ограничения и сообщения → 400</a:t>
            </a:r>
          </a:p>
        </p:txBody>
      </p:sp>
      <p:sp>
        <p:nvSpPr>
          <p:cNvPr id="30" name="Rounded Rectangle 29"/>
          <p:cNvSpPr/>
          <p:nvPr/>
        </p:nvSpPr>
        <p:spPr>
          <a:xfrm>
            <a:off x="8010144" y="3886200"/>
            <a:ext cx="3502152" cy="214884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238744" y="4114800"/>
            <a:ext cx="1234440" cy="411480"/>
          </a:xfrm>
          <a:prstGeom prst="roundRect">
            <a:avLst>
              <a:gd name="adj" fmla="val 50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8744" y="4114800"/>
            <a:ext cx="1234440" cy="411480"/>
          </a:xfrm>
          <a:prstGeom prst="rect">
            <a:avLst/>
          </a:prstGeom>
          <a:noFill/>
        </p:spPr>
        <p:txBody>
          <a:bodyPr wrap="square" anchor="ctr" lIns="0" rIns="0" tIns="0" bIns="0">
            <a:spAutoFit/>
          </a:bodyPr>
          <a:lstStyle/>
          <a:p>
            <a:pPr algn="ctr">
              <a:spcAft>
                <a:spcPts val="0"/>
              </a:spcAft>
            </a:pPr>
            <a:r>
              <a:rPr sz="1300" b="1" i="0">
                <a:solidFill>
                  <a:srgbClr val="6DB33F"/>
                </a:solidFill>
                <a:latin typeface="Calibri"/>
              </a:rPr>
              <a:t>4 + 6</a:t>
            </a:r>
          </a:p>
        </p:txBody>
      </p:sp>
      <p:sp>
        <p:nvSpPr>
          <p:cNvPr id="33" name="TextBox 32"/>
          <p:cNvSpPr txBox="1"/>
          <p:nvPr/>
        </p:nvSpPr>
        <p:spPr>
          <a:xfrm>
            <a:off x="8238744" y="4709160"/>
            <a:ext cx="3063240" cy="365760"/>
          </a:xfrm>
          <a:prstGeom prst="rect">
            <a:avLst/>
          </a:prstGeom>
          <a:noFill/>
        </p:spPr>
        <p:txBody>
          <a:bodyPr wrap="square" anchor="t" lIns="0" rIns="0" tIns="0" bIns="0">
            <a:spAutoFit/>
          </a:bodyPr>
          <a:lstStyle/>
          <a:p>
            <a:pPr algn="l">
              <a:spcAft>
                <a:spcPts val="0"/>
              </a:spcAft>
            </a:pPr>
            <a:r>
              <a:rPr sz="1600" b="1" i="0">
                <a:solidFill>
                  <a:srgbClr val="142B22"/>
                </a:solidFill>
                <a:latin typeface="Calibri"/>
              </a:rPr>
              <a:t>Ошибка клиента — 400</a:t>
            </a:r>
          </a:p>
        </p:txBody>
      </p:sp>
      <p:sp>
        <p:nvSpPr>
          <p:cNvPr id="34" name="TextBox 33"/>
          <p:cNvSpPr txBox="1"/>
          <p:nvPr/>
        </p:nvSpPr>
        <p:spPr>
          <a:xfrm>
            <a:off x="8238744" y="5120640"/>
            <a:ext cx="3063240" cy="82296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delete(0): @AfterThrowing, аудит failure, ProblemDetail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Каждый эксперимент — автоматический тест</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11</a:t>
            </a:r>
          </a:p>
        </p:txBody>
      </p:sp>
      <p:graphicFrame>
        <p:nvGraphicFramePr>
          <p:cNvPr id="5" name="Chart 4"/>
          <p:cNvGraphicFramePr>
            <a:graphicFrameLocks noGrp="1"/>
          </p:cNvGraphicFramePr>
          <p:nvPr/>
        </p:nvGraphicFramePr>
        <p:xfrm>
          <a:off x="548640" y="1463040"/>
          <a:ext cx="6583680" cy="4754880"/>
        </p:xfrm>
        <a:graphic>
          <a:graphicData uri="http://schemas.openxmlformats.org/drawingml/2006/chart">
            <c:chart xmlns:c="http://schemas.openxmlformats.org/drawingml/2006/chart" r:id="rId3"/>
          </a:graphicData>
        </a:graphic>
      </p:graphicFrame>
      <p:sp>
        <p:nvSpPr>
          <p:cNvPr id="6" name="Rounded Rectangle 5"/>
          <p:cNvSpPr/>
          <p:nvPr/>
        </p:nvSpPr>
        <p:spPr>
          <a:xfrm>
            <a:off x="7589520" y="1508760"/>
            <a:ext cx="4023360" cy="1828800"/>
          </a:xfrm>
          <a:prstGeom prst="roundRect">
            <a:avLst>
              <a:gd name="adj" fmla="val 8000"/>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600200"/>
            <a:ext cx="4023360" cy="914400"/>
          </a:xfrm>
          <a:prstGeom prst="rect">
            <a:avLst/>
          </a:prstGeom>
          <a:noFill/>
        </p:spPr>
        <p:txBody>
          <a:bodyPr wrap="square" anchor="t" lIns="0" rIns="0" tIns="0" bIns="0">
            <a:spAutoFit/>
          </a:bodyPr>
          <a:lstStyle/>
          <a:p>
            <a:pPr algn="ctr">
              <a:spcAft>
                <a:spcPts val="0"/>
              </a:spcAft>
            </a:pPr>
            <a:r>
              <a:rPr sz="4800" b="1" i="0">
                <a:solidFill>
                  <a:srgbClr val="6DB33F"/>
                </a:solidFill>
                <a:latin typeface="Cambria"/>
              </a:rPr>
              <a:t>17 / 17</a:t>
            </a:r>
          </a:p>
        </p:txBody>
      </p:sp>
      <p:sp>
        <p:nvSpPr>
          <p:cNvPr id="8" name="TextBox 7"/>
          <p:cNvSpPr txBox="1"/>
          <p:nvPr/>
        </p:nvSpPr>
        <p:spPr>
          <a:xfrm>
            <a:off x="7589520" y="2606040"/>
            <a:ext cx="4023360" cy="457200"/>
          </a:xfrm>
          <a:prstGeom prst="rect">
            <a:avLst/>
          </a:prstGeom>
          <a:noFill/>
        </p:spPr>
        <p:txBody>
          <a:bodyPr wrap="square" anchor="t" lIns="0" rIns="0" tIns="0" bIns="0">
            <a:spAutoFit/>
          </a:bodyPr>
          <a:lstStyle/>
          <a:p>
            <a:pPr algn="ctr">
              <a:spcAft>
                <a:spcPts val="0"/>
              </a:spcAft>
            </a:pPr>
            <a:r>
              <a:rPr sz="1400" b="0" i="0">
                <a:solidFill>
                  <a:srgbClr val="FFFFFF"/>
                </a:solidFill>
                <a:latin typeface="Courier New"/>
              </a:rPr>
              <a:t>./mvnw test  →  BUILD SUCCESS</a:t>
            </a:r>
          </a:p>
        </p:txBody>
      </p:sp>
      <p:sp>
        <p:nvSpPr>
          <p:cNvPr id="9" name="TextBox 8"/>
          <p:cNvSpPr txBox="1"/>
          <p:nvPr/>
        </p:nvSpPr>
        <p:spPr>
          <a:xfrm>
            <a:off x="7589520" y="3657600"/>
            <a:ext cx="4023360" cy="2651760"/>
          </a:xfrm>
          <a:prstGeom prst="rect">
            <a:avLst/>
          </a:prstGeom>
          <a:noFill/>
        </p:spPr>
        <p:txBody>
          <a:bodyPr wrap="square" lIns="0" rIns="0" tIns="0" bIns="0">
            <a:spAutoFit/>
          </a:bodyPr>
          <a:lstStyle/>
          <a:p>
            <a:pPr marL="274320" indent="-274320">
              <a:spcAft>
                <a:spcPts val="600"/>
              </a:spcAft>
              <a:buClr>
                <a:srgbClr val="6DB33F"/>
              </a:buClr>
              <a:buFont typeface="Arial"/>
              <a:buChar char="•"/>
            </a:pPr>
            <a:r>
              <a:rPr sz="1400" b="0">
                <a:solidFill>
                  <a:srgbClr val="1D2621"/>
                </a:solidFill>
                <a:latin typeface="Calibri"/>
              </a:rPr>
              <a:t>200 / 201 / 204 / 400 / 404 / 405 / 406 / 415</a:t>
            </a:r>
          </a:p>
          <a:p>
            <a:pPr marL="274320" indent="-274320">
              <a:spcAft>
                <a:spcPts val="600"/>
              </a:spcAft>
              <a:buClr>
                <a:srgbClr val="6DB33F"/>
              </a:buClr>
              <a:buFont typeface="Arial"/>
              <a:buChar char="•"/>
            </a:pPr>
            <a:r>
              <a:rPr sz="1400" b="0">
                <a:solidFill>
                  <a:srgbClr val="1D2621"/>
                </a:solidFill>
                <a:latin typeface="Calibri"/>
              </a:rPr>
              <a:t>ошибки формы на EN и RU, flash + redirect</a:t>
            </a:r>
          </a:p>
          <a:p>
            <a:pPr marL="274320" indent="-274320">
              <a:spcAft>
                <a:spcPts val="600"/>
              </a:spcAft>
              <a:buClr>
                <a:srgbClr val="6DB33F"/>
              </a:buClr>
              <a:buFont typeface="Arial"/>
              <a:buChar char="•"/>
            </a:pPr>
            <a:r>
              <a:rPr sz="1400" b="0">
                <a:solidFill>
                  <a:srgbClr val="1D2621"/>
                </a:solidFill>
                <a:latin typeface="Calibri"/>
              </a:rPr>
              <a:t>CGLIB-прокси и самовызов: 0 vs 2 записи</a:t>
            </a:r>
          </a:p>
          <a:p>
            <a:pPr marL="274320" indent="-274320">
              <a:spcAft>
                <a:spcPts val="600"/>
              </a:spcAft>
              <a:buClr>
                <a:srgbClr val="6DB33F"/>
              </a:buClr>
              <a:buFont typeface="Arial"/>
              <a:buChar char="•"/>
            </a:pPr>
            <a:r>
              <a:rPr sz="1400" b="0">
                <a:solidFill>
                  <a:srgbClr val="1D2621"/>
                </a:solidFill>
                <a:latin typeface="Calibri"/>
              </a:rPr>
              <a:t>профиль dev: порт 8081, ttl PT30S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Сценарий демонстрации</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12</a:t>
            </a:r>
          </a:p>
        </p:txBody>
      </p:sp>
      <p:sp>
        <p:nvSpPr>
          <p:cNvPr id="5" name="Oval 4"/>
          <p:cNvSpPr/>
          <p:nvPr/>
        </p:nvSpPr>
        <p:spPr>
          <a:xfrm>
            <a:off x="548640" y="1508760"/>
            <a:ext cx="457200" cy="4572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1</a:t>
            </a:r>
          </a:p>
        </p:txBody>
      </p:sp>
      <p:sp>
        <p:nvSpPr>
          <p:cNvPr id="6" name="TextBox 5"/>
          <p:cNvSpPr txBox="1"/>
          <p:nvPr/>
        </p:nvSpPr>
        <p:spPr>
          <a:xfrm>
            <a:off x="1234440" y="14630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./mvnw test</a:t>
            </a:r>
          </a:p>
        </p:txBody>
      </p:sp>
      <p:sp>
        <p:nvSpPr>
          <p:cNvPr id="7" name="TextBox 6"/>
          <p:cNvSpPr txBox="1"/>
          <p:nvPr/>
        </p:nvSpPr>
        <p:spPr>
          <a:xfrm>
            <a:off x="7315200" y="14630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17 тестов зелёные</a:t>
            </a:r>
          </a:p>
        </p:txBody>
      </p:sp>
      <p:sp>
        <p:nvSpPr>
          <p:cNvPr id="8" name="Oval 7"/>
          <p:cNvSpPr/>
          <p:nvPr/>
        </p:nvSpPr>
        <p:spPr>
          <a:xfrm>
            <a:off x="548640" y="2194560"/>
            <a:ext cx="457200" cy="457200"/>
          </a:xfrm>
          <a:prstGeom prst="ellipse">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2</a:t>
            </a:r>
          </a:p>
        </p:txBody>
      </p:sp>
      <p:sp>
        <p:nvSpPr>
          <p:cNvPr id="9" name="TextBox 8"/>
          <p:cNvSpPr txBox="1"/>
          <p:nvPr/>
        </p:nvSpPr>
        <p:spPr>
          <a:xfrm>
            <a:off x="1234440" y="21488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./mvnw spring-boot:run → /</a:t>
            </a:r>
          </a:p>
        </p:txBody>
      </p:sp>
      <p:sp>
        <p:nvSpPr>
          <p:cNvPr id="10" name="TextBox 9"/>
          <p:cNvSpPr txBox="1"/>
          <p:nvPr/>
        </p:nvSpPr>
        <p:spPr>
          <a:xfrm>
            <a:off x="7315200" y="21488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стартовая страница: ссылки по каждой лабе</a:t>
            </a:r>
          </a:p>
        </p:txBody>
      </p:sp>
      <p:sp>
        <p:nvSpPr>
          <p:cNvPr id="11" name="Oval 10"/>
          <p:cNvSpPr/>
          <p:nvPr/>
        </p:nvSpPr>
        <p:spPr>
          <a:xfrm>
            <a:off x="548640" y="2880360"/>
            <a:ext cx="457200" cy="4572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3</a:t>
            </a:r>
          </a:p>
        </p:txBody>
      </p:sp>
      <p:sp>
        <p:nvSpPr>
          <p:cNvPr id="12" name="TextBox 11"/>
          <p:cNvSpPr txBox="1"/>
          <p:nvPr/>
        </p:nvSpPr>
        <p:spPr>
          <a:xfrm>
            <a:off x="1234440" y="28346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/books/new?lang=ru → «Сохранить»</a:t>
            </a:r>
          </a:p>
        </p:txBody>
      </p:sp>
      <p:sp>
        <p:nvSpPr>
          <p:cNvPr id="13" name="TextBox 12"/>
          <p:cNvSpPr txBox="1"/>
          <p:nvPr/>
        </p:nvSpPr>
        <p:spPr>
          <a:xfrm>
            <a:off x="7315200" y="28346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все ошибки валидации на русском</a:t>
            </a:r>
          </a:p>
        </p:txBody>
      </p:sp>
      <p:sp>
        <p:nvSpPr>
          <p:cNvPr id="14" name="Oval 13"/>
          <p:cNvSpPr/>
          <p:nvPr/>
        </p:nvSpPr>
        <p:spPr>
          <a:xfrm>
            <a:off x="548640" y="3566160"/>
            <a:ext cx="457200" cy="457200"/>
          </a:xfrm>
          <a:prstGeom prst="ellipse">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4</a:t>
            </a:r>
          </a:p>
        </p:txBody>
      </p:sp>
      <p:sp>
        <p:nvSpPr>
          <p:cNvPr id="15" name="TextBox 14"/>
          <p:cNvSpPr txBox="1"/>
          <p:nvPr/>
        </p:nvSpPr>
        <p:spPr>
          <a:xfrm>
            <a:off x="1234440" y="35204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Корректная форма → F5</a:t>
            </a:r>
          </a:p>
        </p:txBody>
      </p:sp>
      <p:sp>
        <p:nvSpPr>
          <p:cNvPr id="16" name="TextBox 15"/>
          <p:cNvSpPr txBox="1"/>
          <p:nvPr/>
        </p:nvSpPr>
        <p:spPr>
          <a:xfrm>
            <a:off x="7315200" y="35204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redirect + flash, дубля нет; в логе [AUDIT] и EMAIL</a:t>
            </a:r>
          </a:p>
        </p:txBody>
      </p:sp>
      <p:sp>
        <p:nvSpPr>
          <p:cNvPr id="17" name="Oval 16"/>
          <p:cNvSpPr/>
          <p:nvPr/>
        </p:nvSpPr>
        <p:spPr>
          <a:xfrm>
            <a:off x="548640" y="4251959"/>
            <a:ext cx="457200" cy="4572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5</a:t>
            </a:r>
          </a:p>
        </p:txBody>
      </p:sp>
      <p:sp>
        <p:nvSpPr>
          <p:cNvPr id="18" name="TextBox 17"/>
          <p:cNvSpPr txBox="1"/>
          <p:nvPr/>
        </p:nvSpPr>
        <p:spPr>
          <a:xfrm>
            <a:off x="1234440" y="42062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DELETE /api/books/bulk?ids=1,2&amp;viaProxy=false|true</a:t>
            </a:r>
          </a:p>
        </p:txBody>
      </p:sp>
      <p:sp>
        <p:nvSpPr>
          <p:cNvPr id="19" name="TextBox 18"/>
          <p:cNvSpPr txBox="1"/>
          <p:nvPr/>
        </p:nvSpPr>
        <p:spPr>
          <a:xfrm>
            <a:off x="7315200" y="42062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/api/system/audit: 0 и 2 записи</a:t>
            </a:r>
          </a:p>
        </p:txBody>
      </p:sp>
      <p:sp>
        <p:nvSpPr>
          <p:cNvPr id="20" name="Oval 19"/>
          <p:cNvSpPr/>
          <p:nvPr/>
        </p:nvSpPr>
        <p:spPr>
          <a:xfrm>
            <a:off x="548640" y="4937759"/>
            <a:ext cx="457200" cy="457200"/>
          </a:xfrm>
          <a:prstGeom prst="ellipse">
            <a:avLst/>
          </a:prstGeom>
          <a:solidFill>
            <a:srgbClr val="142B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6</a:t>
            </a:r>
          </a:p>
        </p:txBody>
      </p:sp>
      <p:sp>
        <p:nvSpPr>
          <p:cNvPr id="21" name="TextBox 20"/>
          <p:cNvSpPr txBox="1"/>
          <p:nvPr/>
        </p:nvSpPr>
        <p:spPr>
          <a:xfrm>
            <a:off x="1234440" y="48920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/books/999 и /api/books/999</a:t>
            </a:r>
          </a:p>
        </p:txBody>
      </p:sp>
      <p:sp>
        <p:nvSpPr>
          <p:cNvPr id="22" name="TextBox 21"/>
          <p:cNvSpPr txBox="1"/>
          <p:nvPr/>
        </p:nvSpPr>
        <p:spPr>
          <a:xfrm>
            <a:off x="7315200" y="48920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HTML-страница vs ProblemDetail</a:t>
            </a:r>
          </a:p>
        </p:txBody>
      </p:sp>
      <p:sp>
        <p:nvSpPr>
          <p:cNvPr id="23" name="Oval 22"/>
          <p:cNvSpPr/>
          <p:nvPr/>
        </p:nvSpPr>
        <p:spPr>
          <a:xfrm>
            <a:off x="548640" y="5623559"/>
            <a:ext cx="457200" cy="4572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7</a:t>
            </a:r>
          </a:p>
        </p:txBody>
      </p:sp>
      <p:sp>
        <p:nvSpPr>
          <p:cNvPr id="24" name="TextBox 23"/>
          <p:cNvSpPr txBox="1"/>
          <p:nvPr/>
        </p:nvSpPr>
        <p:spPr>
          <a:xfrm>
            <a:off x="1234440" y="5577840"/>
            <a:ext cx="6035040" cy="548640"/>
          </a:xfrm>
          <a:prstGeom prst="rect">
            <a:avLst/>
          </a:prstGeom>
          <a:noFill/>
        </p:spPr>
        <p:txBody>
          <a:bodyPr wrap="square" anchor="ctr" lIns="0" rIns="0" tIns="0" bIns="0">
            <a:spAutoFit/>
          </a:bodyPr>
          <a:lstStyle/>
          <a:p>
            <a:pPr algn="l">
              <a:spcAft>
                <a:spcPts val="0"/>
              </a:spcAft>
            </a:pPr>
            <a:r>
              <a:rPr sz="1400" b="1" i="0">
                <a:solidFill>
                  <a:srgbClr val="142B22"/>
                </a:solidFill>
                <a:latin typeface="Courier New"/>
              </a:rPr>
              <a:t>-Dspring-boot.run.profiles=dev → /api/config</a:t>
            </a:r>
          </a:p>
        </p:txBody>
      </p:sp>
      <p:sp>
        <p:nvSpPr>
          <p:cNvPr id="25" name="TextBox 24"/>
          <p:cNvSpPr txBox="1"/>
          <p:nvPr/>
        </p:nvSpPr>
        <p:spPr>
          <a:xfrm>
            <a:off x="7315200" y="5577840"/>
            <a:ext cx="4297680" cy="548640"/>
          </a:xfrm>
          <a:prstGeom prst="rect">
            <a:avLst/>
          </a:prstGeom>
          <a:noFill/>
        </p:spPr>
        <p:txBody>
          <a:bodyPr wrap="square" anchor="ctr" lIns="0" rIns="0" tIns="0" bIns="0">
            <a:spAutoFit/>
          </a:bodyPr>
          <a:lstStyle/>
          <a:p>
            <a:pPr algn="l">
              <a:spcAft>
                <a:spcPts val="0"/>
              </a:spcAft>
            </a:pPr>
            <a:r>
              <a:rPr sz="1400" b="0" i="0">
                <a:solidFill>
                  <a:srgbClr val="5E6B63"/>
                </a:solidFill>
                <a:latin typeface="Calibri"/>
              </a:rPr>
              <a:t>порт 8081, PT30S, DEVELOPMENT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731520"/>
          </a:xfrm>
          <a:prstGeom prst="rect">
            <a:avLst/>
          </a:prstGeom>
          <a:noFill/>
        </p:spPr>
        <p:txBody>
          <a:bodyPr wrap="square" anchor="ctr" lIns="0" rIns="0" tIns="0" bIns="0">
            <a:spAutoFit/>
          </a:bodyPr>
          <a:lstStyle/>
          <a:p>
            <a:pPr algn="l">
              <a:spcAft>
                <a:spcPts val="0"/>
              </a:spcAft>
            </a:pPr>
            <a:r>
              <a:rPr sz="3400" b="1" i="0">
                <a:solidFill>
                  <a:srgbClr val="142B22"/>
                </a:solidFill>
                <a:latin typeface="Cambria"/>
              </a:rPr>
              <a:t>Ключевые вопросы защиты</a:t>
            </a:r>
          </a:p>
        </p:txBody>
      </p:sp>
      <p:sp>
        <p:nvSpPr>
          <p:cNvPr id="3" name="TextBox 2"/>
          <p:cNvSpPr txBox="1"/>
          <p:nvPr/>
        </p:nvSpPr>
        <p:spPr>
          <a:xfrm>
            <a:off x="548640" y="6400800"/>
            <a:ext cx="5486400" cy="274320"/>
          </a:xfrm>
          <a:prstGeom prst="rect">
            <a:avLst/>
          </a:prstGeom>
          <a:noFill/>
        </p:spPr>
        <p:txBody>
          <a:bodyPr wrap="square" anchor="t" lIns="0" rIns="0" tIns="0" bIns="0">
            <a:spAutoFit/>
          </a:bodyPr>
          <a:lstStyle/>
          <a:p>
            <a:pPr algn="l">
              <a:spcAft>
                <a:spcPts val="0"/>
              </a:spcAft>
            </a:pPr>
            <a:r>
              <a:rPr sz="1000" b="0" i="0">
                <a:solidFill>
                  <a:srgbClr val="5E6B63"/>
                </a:solidFill>
                <a:latin typeface="Calibri"/>
              </a:rPr>
              <a:t>Library Portal  ·  RWPSF 3305  ·  Бектурсын Куат</a:t>
            </a:r>
          </a:p>
        </p:txBody>
      </p:sp>
      <p:sp>
        <p:nvSpPr>
          <p:cNvPr id="4" name="TextBox 3"/>
          <p:cNvSpPr txBox="1"/>
          <p:nvPr/>
        </p:nvSpPr>
        <p:spPr>
          <a:xfrm>
            <a:off x="10725912" y="6400800"/>
            <a:ext cx="914400" cy="274320"/>
          </a:xfrm>
          <a:prstGeom prst="rect">
            <a:avLst/>
          </a:prstGeom>
          <a:noFill/>
        </p:spPr>
        <p:txBody>
          <a:bodyPr wrap="square" anchor="t" lIns="0" rIns="0" tIns="0" bIns="0">
            <a:spAutoFit/>
          </a:bodyPr>
          <a:lstStyle/>
          <a:p>
            <a:pPr algn="r">
              <a:spcAft>
                <a:spcPts val="0"/>
              </a:spcAft>
            </a:pPr>
            <a:r>
              <a:rPr sz="1000" b="0" i="0">
                <a:solidFill>
                  <a:srgbClr val="5E6B63"/>
                </a:solidFill>
                <a:latin typeface="Calibri"/>
              </a:rPr>
              <a:t>13</a:t>
            </a:r>
          </a:p>
        </p:txBody>
      </p:sp>
      <p:sp>
        <p:nvSpPr>
          <p:cNvPr id="5" name="Rounded Rectangle 4"/>
          <p:cNvSpPr/>
          <p:nvPr/>
        </p:nvSpPr>
        <p:spPr>
          <a:xfrm>
            <a:off x="548640" y="1463040"/>
            <a:ext cx="5394960" cy="105156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72768"/>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Почему внедрение через конструктор?</a:t>
            </a:r>
          </a:p>
        </p:txBody>
      </p:sp>
      <p:sp>
        <p:nvSpPr>
          <p:cNvPr id="7" name="TextBox 6"/>
          <p:cNvSpPr txBox="1"/>
          <p:nvPr/>
        </p:nvSpPr>
        <p:spPr>
          <a:xfrm>
            <a:off x="777240" y="1965960"/>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final-поля, объект всегда собран, легко тестировать</a:t>
            </a:r>
          </a:p>
        </p:txBody>
      </p:sp>
      <p:sp>
        <p:nvSpPr>
          <p:cNvPr id="8" name="Rounded Rectangle 7"/>
          <p:cNvSpPr/>
          <p:nvPr/>
        </p:nvSpPr>
        <p:spPr>
          <a:xfrm>
            <a:off x="6172200" y="1463040"/>
            <a:ext cx="5394960" cy="105156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72768"/>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Singleton с prototype внутри?</a:t>
            </a:r>
          </a:p>
        </p:txBody>
      </p:sp>
      <p:sp>
        <p:nvSpPr>
          <p:cNvPr id="10" name="TextBox 9"/>
          <p:cNvSpPr txBox="1"/>
          <p:nvPr/>
        </p:nvSpPr>
        <p:spPr>
          <a:xfrm>
            <a:off x="6400800" y="1965960"/>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prototype создаётся один раз; новый — через ObjectProvider</a:t>
            </a:r>
          </a:p>
        </p:txBody>
      </p:sp>
      <p:sp>
        <p:nvSpPr>
          <p:cNvPr id="11" name="Rounded Rectangle 10"/>
          <p:cNvSpPr/>
          <p:nvPr/>
        </p:nvSpPr>
        <p:spPr>
          <a:xfrm>
            <a:off x="548640" y="2679192"/>
            <a:ext cx="5394960" cy="105156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788920"/>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Профиль или аргумент --?</a:t>
            </a:r>
          </a:p>
        </p:txBody>
      </p:sp>
      <p:sp>
        <p:nvSpPr>
          <p:cNvPr id="13" name="TextBox 12"/>
          <p:cNvSpPr txBox="1"/>
          <p:nvPr/>
        </p:nvSpPr>
        <p:spPr>
          <a:xfrm>
            <a:off x="777240" y="3182112"/>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аргумент командной строки: профиль — тоже лишь PropertySource</a:t>
            </a:r>
          </a:p>
        </p:txBody>
      </p:sp>
      <p:sp>
        <p:nvSpPr>
          <p:cNvPr id="14" name="Rounded Rectangle 13"/>
          <p:cNvSpPr/>
          <p:nvPr/>
        </p:nvSpPr>
        <p:spPr>
          <a:xfrm>
            <a:off x="6172200" y="2679192"/>
            <a:ext cx="5394960" cy="105156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88920"/>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Что будет без proceed()?</a:t>
            </a:r>
          </a:p>
        </p:txBody>
      </p:sp>
      <p:sp>
        <p:nvSpPr>
          <p:cNvPr id="16" name="TextBox 15"/>
          <p:cNvSpPr txBox="1"/>
          <p:nvPr/>
        </p:nvSpPr>
        <p:spPr>
          <a:xfrm>
            <a:off x="6400800" y="3182112"/>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целевой метод не выполнится</a:t>
            </a:r>
          </a:p>
        </p:txBody>
      </p:sp>
      <p:sp>
        <p:nvSpPr>
          <p:cNvPr id="17" name="Rounded Rectangle 16"/>
          <p:cNvSpPr/>
          <p:nvPr/>
        </p:nvSpPr>
        <p:spPr>
          <a:xfrm>
            <a:off x="548640" y="3895344"/>
            <a:ext cx="5394960" cy="105156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05072"/>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Почему самовызов не перехватывается?</a:t>
            </a:r>
          </a:p>
        </p:txBody>
      </p:sp>
      <p:sp>
        <p:nvSpPr>
          <p:cNvPr id="19" name="TextBox 18"/>
          <p:cNvSpPr txBox="1"/>
          <p:nvPr/>
        </p:nvSpPr>
        <p:spPr>
          <a:xfrm>
            <a:off x="777240" y="4398264"/>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this.method() не проходит через прокси → self-ссылка</a:t>
            </a:r>
          </a:p>
        </p:txBody>
      </p:sp>
      <p:sp>
        <p:nvSpPr>
          <p:cNvPr id="20" name="Rounded Rectangle 19"/>
          <p:cNvSpPr/>
          <p:nvPr/>
        </p:nvSpPr>
        <p:spPr>
          <a:xfrm>
            <a:off x="6172200" y="3895344"/>
            <a:ext cx="5394960" cy="105156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005072"/>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Что значат 405 / 415 / 406?</a:t>
            </a:r>
          </a:p>
        </p:txBody>
      </p:sp>
      <p:sp>
        <p:nvSpPr>
          <p:cNvPr id="22" name="TextBox 21"/>
          <p:cNvSpPr txBox="1"/>
          <p:nvPr/>
        </p:nvSpPr>
        <p:spPr>
          <a:xfrm>
            <a:off x="6400800" y="4398264"/>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не совпал метод / тип тела / тип ответа</a:t>
            </a:r>
          </a:p>
        </p:txBody>
      </p:sp>
      <p:sp>
        <p:nvSpPr>
          <p:cNvPr id="23" name="Rounded Rectangle 22"/>
          <p:cNvSpPr/>
          <p:nvPr/>
        </p:nvSpPr>
        <p:spPr>
          <a:xfrm>
            <a:off x="548640" y="5111496"/>
            <a:ext cx="5394960" cy="1051560"/>
          </a:xfrm>
          <a:prstGeom prst="roundRect">
            <a:avLst>
              <a:gd name="adj" fmla="val 8000"/>
            </a:avLst>
          </a:prstGeom>
          <a:solidFill>
            <a:srgbClr val="FFFFFF"/>
          </a:solidFill>
          <a:ln w="12700">
            <a:solidFill>
              <a:srgbClr val="C9D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21224"/>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Зачем отдельный BookForm?</a:t>
            </a:r>
          </a:p>
        </p:txBody>
      </p:sp>
      <p:sp>
        <p:nvSpPr>
          <p:cNvPr id="25" name="TextBox 24"/>
          <p:cNvSpPr txBox="1"/>
          <p:nvPr/>
        </p:nvSpPr>
        <p:spPr>
          <a:xfrm>
            <a:off x="777240" y="5614416"/>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защита от mass assignment, ввод сохраняется</a:t>
            </a:r>
          </a:p>
        </p:txBody>
      </p:sp>
      <p:sp>
        <p:nvSpPr>
          <p:cNvPr id="26" name="Rounded Rectangle 25"/>
          <p:cNvSpPr/>
          <p:nvPr/>
        </p:nvSpPr>
        <p:spPr>
          <a:xfrm>
            <a:off x="6172200" y="5111496"/>
            <a:ext cx="5394960" cy="1051560"/>
          </a:xfrm>
          <a:prstGeom prst="roundRect">
            <a:avLst>
              <a:gd name="adj" fmla="val 8000"/>
            </a:avLst>
          </a:prstGeom>
          <a:solidFill>
            <a:srgbClr val="EA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5221224"/>
            <a:ext cx="4937760" cy="365760"/>
          </a:xfrm>
          <a:prstGeom prst="rect">
            <a:avLst/>
          </a:prstGeom>
          <a:noFill/>
        </p:spPr>
        <p:txBody>
          <a:bodyPr wrap="square" anchor="t" lIns="0" rIns="0" tIns="0" bIns="0">
            <a:spAutoFit/>
          </a:bodyPr>
          <a:lstStyle/>
          <a:p>
            <a:pPr algn="l">
              <a:spcAft>
                <a:spcPts val="0"/>
              </a:spcAft>
            </a:pPr>
            <a:r>
              <a:rPr sz="1500" b="1" i="0">
                <a:solidFill>
                  <a:srgbClr val="142B22"/>
                </a:solidFill>
                <a:latin typeface="Calibri"/>
              </a:rPr>
              <a:t>BindingResult не сразу после формы?</a:t>
            </a:r>
          </a:p>
        </p:txBody>
      </p:sp>
      <p:sp>
        <p:nvSpPr>
          <p:cNvPr id="28" name="TextBox 27"/>
          <p:cNvSpPr txBox="1"/>
          <p:nvPr/>
        </p:nvSpPr>
        <p:spPr>
          <a:xfrm>
            <a:off x="6400800" y="5614416"/>
            <a:ext cx="4937760" cy="457200"/>
          </a:xfrm>
          <a:prstGeom prst="rect">
            <a:avLst/>
          </a:prstGeom>
          <a:noFill/>
        </p:spPr>
        <p:txBody>
          <a:bodyPr wrap="square" anchor="t" lIns="0" rIns="0" tIns="0" bIns="0">
            <a:spAutoFit/>
          </a:bodyPr>
          <a:lstStyle/>
          <a:p>
            <a:pPr algn="l">
              <a:spcAft>
                <a:spcPts val="0"/>
              </a:spcAft>
            </a:pPr>
            <a:r>
              <a:rPr sz="1300" b="0" i="0">
                <a:solidFill>
                  <a:srgbClr val="5E6B63"/>
                </a:solidFill>
                <a:latin typeface="Calibri"/>
              </a:rPr>
              <a:t>исключение и 400 вместо формы с ошибками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B22"/>
        </a:solidFill>
        <a:effectLst/>
      </p:bgPr>
    </p:bg>
    <p:spTree>
      <p:nvGrpSpPr>
        <p:cNvPr id="1" name=""/>
        <p:cNvGrpSpPr/>
        <p:nvPr/>
      </p:nvGrpSpPr>
      <p:grpSpPr/>
      <p:sp>
        <p:nvSpPr>
          <p:cNvPr id="2" name="TextBox 1"/>
          <p:cNvSpPr txBox="1"/>
          <p:nvPr/>
        </p:nvSpPr>
        <p:spPr>
          <a:xfrm>
            <a:off x="822960" y="914400"/>
            <a:ext cx="10515600" cy="914400"/>
          </a:xfrm>
          <a:prstGeom prst="rect">
            <a:avLst/>
          </a:prstGeom>
          <a:noFill/>
        </p:spPr>
        <p:txBody>
          <a:bodyPr wrap="square" anchor="t" lIns="0" rIns="0" tIns="0" bIns="0">
            <a:spAutoFit/>
          </a:bodyPr>
          <a:lstStyle/>
          <a:p>
            <a:pPr algn="l">
              <a:spcAft>
                <a:spcPts val="0"/>
              </a:spcAft>
            </a:pPr>
            <a:r>
              <a:rPr sz="4800" b="1" i="0">
                <a:solidFill>
                  <a:srgbClr val="FFFFFF"/>
                </a:solidFill>
                <a:latin typeface="Cambria"/>
              </a:rPr>
              <a:t>Итоги</a:t>
            </a:r>
          </a:p>
        </p:txBody>
      </p:sp>
      <p:sp>
        <p:nvSpPr>
          <p:cNvPr id="3" name="Oval 2"/>
          <p:cNvSpPr/>
          <p:nvPr/>
        </p:nvSpPr>
        <p:spPr>
          <a:xfrm>
            <a:off x="822960" y="2286000"/>
            <a:ext cx="685800" cy="6858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000">
                <a:solidFill>
                  <a:srgbClr val="FFFFFF"/>
                </a:solidFill>
                <a:latin typeface="Cambria"/>
              </a:rPr>
              <a:t>1</a:t>
            </a:r>
          </a:p>
        </p:txBody>
      </p:sp>
      <p:sp>
        <p:nvSpPr>
          <p:cNvPr id="4" name="TextBox 3"/>
          <p:cNvSpPr txBox="1"/>
          <p:nvPr/>
        </p:nvSpPr>
        <p:spPr>
          <a:xfrm>
            <a:off x="822960" y="3154680"/>
            <a:ext cx="3291840" cy="457200"/>
          </a:xfrm>
          <a:prstGeom prst="rect">
            <a:avLst/>
          </a:prstGeom>
          <a:noFill/>
        </p:spPr>
        <p:txBody>
          <a:bodyPr wrap="square" anchor="t" lIns="0" rIns="0" tIns="0" bIns="0">
            <a:spAutoFit/>
          </a:bodyPr>
          <a:lstStyle/>
          <a:p>
            <a:pPr algn="l">
              <a:spcAft>
                <a:spcPts val="0"/>
              </a:spcAft>
            </a:pPr>
            <a:r>
              <a:rPr sz="2200" b="1" i="0">
                <a:solidFill>
                  <a:srgbClr val="FFFFFF"/>
                </a:solidFill>
                <a:latin typeface="Calibri"/>
              </a:rPr>
              <a:t>Одно приложение</a:t>
            </a:r>
          </a:p>
        </p:txBody>
      </p:sp>
      <p:sp>
        <p:nvSpPr>
          <p:cNvPr id="5" name="TextBox 4"/>
          <p:cNvSpPr txBox="1"/>
          <p:nvPr/>
        </p:nvSpPr>
        <p:spPr>
          <a:xfrm>
            <a:off x="822960" y="3657600"/>
            <a:ext cx="3291840" cy="914400"/>
          </a:xfrm>
          <a:prstGeom prst="rect">
            <a:avLst/>
          </a:prstGeom>
          <a:noFill/>
        </p:spPr>
        <p:txBody>
          <a:bodyPr wrap="square" anchor="t" lIns="0" rIns="0" tIns="0" bIns="0">
            <a:spAutoFit/>
          </a:bodyPr>
          <a:lstStyle/>
          <a:p>
            <a:pPr algn="l">
              <a:spcAft>
                <a:spcPts val="0"/>
              </a:spcAft>
            </a:pPr>
            <a:r>
              <a:rPr sz="1500" b="0" i="0">
                <a:solidFill>
                  <a:srgbClr val="D8F0C8"/>
                </a:solidFill>
                <a:latin typeface="Calibri"/>
              </a:rPr>
              <a:t>каталог библиотеки вместо шести отдельных демо</a:t>
            </a:r>
          </a:p>
        </p:txBody>
      </p:sp>
      <p:sp>
        <p:nvSpPr>
          <p:cNvPr id="6" name="Oval 5"/>
          <p:cNvSpPr/>
          <p:nvPr/>
        </p:nvSpPr>
        <p:spPr>
          <a:xfrm>
            <a:off x="4434840" y="2286000"/>
            <a:ext cx="685800" cy="6858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000">
                <a:solidFill>
                  <a:srgbClr val="FFFFFF"/>
                </a:solidFill>
                <a:latin typeface="Cambria"/>
              </a:rPr>
              <a:t>2</a:t>
            </a:r>
          </a:p>
        </p:txBody>
      </p:sp>
      <p:sp>
        <p:nvSpPr>
          <p:cNvPr id="7" name="TextBox 6"/>
          <p:cNvSpPr txBox="1"/>
          <p:nvPr/>
        </p:nvSpPr>
        <p:spPr>
          <a:xfrm>
            <a:off x="4434840" y="3154680"/>
            <a:ext cx="3291840" cy="457200"/>
          </a:xfrm>
          <a:prstGeom prst="rect">
            <a:avLst/>
          </a:prstGeom>
          <a:noFill/>
        </p:spPr>
        <p:txBody>
          <a:bodyPr wrap="square" anchor="t" lIns="0" rIns="0" tIns="0" bIns="0">
            <a:spAutoFit/>
          </a:bodyPr>
          <a:lstStyle/>
          <a:p>
            <a:pPr algn="l">
              <a:spcAft>
                <a:spcPts val="0"/>
              </a:spcAft>
            </a:pPr>
            <a:r>
              <a:rPr sz="2200" b="1" i="0">
                <a:solidFill>
                  <a:srgbClr val="FFFFFF"/>
                </a:solidFill>
                <a:latin typeface="Calibri"/>
              </a:rPr>
              <a:t>Шесть вариантов</a:t>
            </a:r>
          </a:p>
        </p:txBody>
      </p:sp>
      <p:sp>
        <p:nvSpPr>
          <p:cNvPr id="8" name="TextBox 7"/>
          <p:cNvSpPr txBox="1"/>
          <p:nvPr/>
        </p:nvSpPr>
        <p:spPr>
          <a:xfrm>
            <a:off x="4434840" y="3657600"/>
            <a:ext cx="3291840" cy="914400"/>
          </a:xfrm>
          <a:prstGeom prst="rect">
            <a:avLst/>
          </a:prstGeom>
          <a:noFill/>
        </p:spPr>
        <p:txBody>
          <a:bodyPr wrap="square" anchor="t" lIns="0" rIns="0" tIns="0" bIns="0">
            <a:spAutoFit/>
          </a:bodyPr>
          <a:lstStyle/>
          <a:p>
            <a:pPr algn="l">
              <a:spcAft>
                <a:spcPts val="0"/>
              </a:spcAft>
            </a:pPr>
            <a:r>
              <a:rPr sz="1500" b="0" i="0">
                <a:solidFill>
                  <a:srgbClr val="D8F0C8"/>
                </a:solidFill>
                <a:latin typeface="Calibri"/>
              </a:rPr>
              <a:t>V7 · V8 · V7 · V8 · V6 · V7 — реализованы и связаны</a:t>
            </a:r>
          </a:p>
        </p:txBody>
      </p:sp>
      <p:sp>
        <p:nvSpPr>
          <p:cNvPr id="9" name="Oval 8"/>
          <p:cNvSpPr/>
          <p:nvPr/>
        </p:nvSpPr>
        <p:spPr>
          <a:xfrm>
            <a:off x="8046720" y="2286000"/>
            <a:ext cx="685800" cy="685800"/>
          </a:xfrm>
          <a:prstGeom prst="ellipse">
            <a:avLst/>
          </a:prstGeom>
          <a:solidFill>
            <a:srgbClr val="6DB3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000">
                <a:solidFill>
                  <a:srgbClr val="FFFFFF"/>
                </a:solidFill>
                <a:latin typeface="Cambria"/>
              </a:rPr>
              <a:t>3</a:t>
            </a:r>
          </a:p>
        </p:txBody>
      </p:sp>
      <p:sp>
        <p:nvSpPr>
          <p:cNvPr id="10" name="TextBox 9"/>
          <p:cNvSpPr txBox="1"/>
          <p:nvPr/>
        </p:nvSpPr>
        <p:spPr>
          <a:xfrm>
            <a:off x="8046720" y="3154680"/>
            <a:ext cx="3291840" cy="457200"/>
          </a:xfrm>
          <a:prstGeom prst="rect">
            <a:avLst/>
          </a:prstGeom>
          <a:noFill/>
        </p:spPr>
        <p:txBody>
          <a:bodyPr wrap="square" anchor="t" lIns="0" rIns="0" tIns="0" bIns="0">
            <a:spAutoFit/>
          </a:bodyPr>
          <a:lstStyle/>
          <a:p>
            <a:pPr algn="l">
              <a:spcAft>
                <a:spcPts val="0"/>
              </a:spcAft>
            </a:pPr>
            <a:r>
              <a:rPr sz="2200" b="1" i="0">
                <a:solidFill>
                  <a:srgbClr val="FFFFFF"/>
                </a:solidFill>
                <a:latin typeface="Calibri"/>
              </a:rPr>
              <a:t>17 тестов</a:t>
            </a:r>
          </a:p>
        </p:txBody>
      </p:sp>
      <p:sp>
        <p:nvSpPr>
          <p:cNvPr id="11" name="TextBox 10"/>
          <p:cNvSpPr txBox="1"/>
          <p:nvPr/>
        </p:nvSpPr>
        <p:spPr>
          <a:xfrm>
            <a:off x="8046720" y="3657600"/>
            <a:ext cx="3291840" cy="914400"/>
          </a:xfrm>
          <a:prstGeom prst="rect">
            <a:avLst/>
          </a:prstGeom>
          <a:noFill/>
        </p:spPr>
        <p:txBody>
          <a:bodyPr wrap="square" anchor="t" lIns="0" rIns="0" tIns="0" bIns="0">
            <a:spAutoFit/>
          </a:bodyPr>
          <a:lstStyle/>
          <a:p>
            <a:pPr algn="l">
              <a:spcAft>
                <a:spcPts val="0"/>
              </a:spcAft>
            </a:pPr>
            <a:r>
              <a:rPr sz="1500" b="0" i="0">
                <a:solidFill>
                  <a:srgbClr val="D8F0C8"/>
                </a:solidFill>
                <a:latin typeface="Calibri"/>
              </a:rPr>
              <a:t>каждый эксперимент из отчётов воспроизводится</a:t>
            </a:r>
          </a:p>
        </p:txBody>
      </p:sp>
      <p:sp>
        <p:nvSpPr>
          <p:cNvPr id="12" name="TextBox 11"/>
          <p:cNvSpPr txBox="1"/>
          <p:nvPr/>
        </p:nvSpPr>
        <p:spPr>
          <a:xfrm>
            <a:off x="822960" y="5120640"/>
            <a:ext cx="10515600" cy="548640"/>
          </a:xfrm>
          <a:prstGeom prst="rect">
            <a:avLst/>
          </a:prstGeom>
          <a:noFill/>
        </p:spPr>
        <p:txBody>
          <a:bodyPr wrap="square" anchor="t" lIns="0" rIns="0" tIns="0" bIns="0">
            <a:spAutoFit/>
          </a:bodyPr>
          <a:lstStyle/>
          <a:p>
            <a:pPr algn="l">
              <a:spcAft>
                <a:spcPts val="0"/>
              </a:spcAft>
            </a:pPr>
            <a:r>
              <a:rPr sz="2400" b="0" i="0">
                <a:solidFill>
                  <a:srgbClr val="FFFFFF"/>
                </a:solidFill>
                <a:latin typeface="Calibri"/>
              </a:rPr>
              <a:t>Спасибо за внимание! Готов ответить на вопросы.</a:t>
            </a:r>
          </a:p>
        </p:txBody>
      </p:sp>
      <p:sp>
        <p:nvSpPr>
          <p:cNvPr id="13" name="TextBox 12"/>
          <p:cNvSpPr txBox="1"/>
          <p:nvPr/>
        </p:nvSpPr>
        <p:spPr>
          <a:xfrm>
            <a:off x="822960" y="5760720"/>
            <a:ext cx="10515600" cy="365760"/>
          </a:xfrm>
          <a:prstGeom prst="rect">
            <a:avLst/>
          </a:prstGeom>
          <a:noFill/>
        </p:spPr>
        <p:txBody>
          <a:bodyPr wrap="square" anchor="t" lIns="0" rIns="0" tIns="0" bIns="0">
            <a:spAutoFit/>
          </a:bodyPr>
          <a:lstStyle/>
          <a:p>
            <a:pPr algn="l">
              <a:spcAft>
                <a:spcPts val="0"/>
              </a:spcAft>
            </a:pPr>
            <a:r>
              <a:rPr sz="1600" b="0" i="0">
                <a:solidFill>
                  <a:srgbClr val="6DB33F"/>
                </a:solidFill>
                <a:latin typeface="Calibri"/>
              </a:rPr>
              <a:t>github.com/AkAyu44/library-portal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