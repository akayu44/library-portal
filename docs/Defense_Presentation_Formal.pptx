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5A6372"/>
                </a:solidFill>
              </a:rPr>
              <a:t>Tests per lab</a:t>
            </a:r>
          </a:p>
        </c:rich>
      </c:tx>
      <c:layout/>
      <c:overlay val="0"/>
    </c:title>
    <c:autoTitleDeleted val="0"/>
    <c:plotArea>
      <c:barChart>
        <c:barDir val="col"/>
        <c:grouping val="clustered"/>
        <c:ser>
          <c:idx val="0"/>
          <c:order val="0"/>
          <c:tx>
            <c:strRef>
              <c:f>Sheet1!$B$1</c:f>
              <c:strCache>
                <c:ptCount val="1"/>
                <c:pt idx="0">
                  <c:v>Tests</c:v>
                </c:pt>
              </c:strCache>
            </c:strRef>
          </c:tx>
          <c:spPr>
            <a:solidFill>
              <a:srgbClr val="B08A3E"/>
            </a:solidFill>
          </c:spPr>
          <c:cat>
            <c:strRef>
              <c:f>Sheet1!$A$2:$A$8</c:f>
              <c:strCache>
                <c:ptCount val="7"/>
                <c:pt idx="0">
                  <c:v>Lab 1</c:v>
                </c:pt>
                <c:pt idx="1">
                  <c:v>Lab 2</c:v>
                </c:pt>
                <c:pt idx="2">
                  <c:v>Lab 3</c:v>
                </c:pt>
                <c:pt idx="3">
                  <c:v>Lab 4</c:v>
                </c:pt>
                <c:pt idx="4">
                  <c:v>Lab 5</c:v>
                </c:pt>
                <c:pt idx="5">
                  <c:v>Lab 6</c:v>
                </c:pt>
                <c:pt idx="6">
                  <c:v>Lab 7</c:v>
                </c:pt>
              </c:strCache>
            </c:strRef>
          </c:cat>
          <c:val>
            <c:numRef>
              <c:f>Sheet1!$B$2:$B$8</c:f>
              <c:numCache>
                <c:formatCode>General</c:formatCode>
                <c:ptCount val="7"/>
                <c:pt idx="0">
                  <c:v>1</c:v>
                </c:pt>
                <c:pt idx="1">
                  <c:v>2</c:v>
                </c:pt>
                <c:pt idx="2">
                  <c:v>2</c:v>
                </c:pt>
                <c:pt idx="3">
                  <c:v>3</c:v>
                </c:pt>
                <c:pt idx="4">
                  <c:v>5</c:v>
                </c:pt>
                <c:pt idx="5">
                  <c:v>5</c:v>
                </c:pt>
                <c:pt idx="6">
                  <c:v>14</c:v>
                </c:pt>
              </c:numCache>
            </c:numRef>
          </c:val>
        </c:ser>
        <c:dLbls>
          <c:txPr>
            <a:bodyPr/>
            <a:lstStyle/>
            <a:p>
              <a:pPr>
                <a:defRPr sz="1400" b="1">
                  <a:solidFill>
                    <a:srgbClr val="1B2A41"/>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BE4"/>
            </a:solidFill>
          </a:ln>
        </c:spPr>
        <c:txPr>
          <a:bodyPr/>
          <a:lstStyle/>
          <a:p>
            <a:pPr>
              <a:defRPr sz="1300">
                <a:solidFill>
                  <a:srgbClr val="5A6372"/>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I am presenting the final educational project for the course Web Application Development with Spring Framework. It is one application, a library catalogue, which combines the topics and the individual variants of all seven laboratory 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the labs were done in one repository, spring-lab-01, but each one on its own branch and as a separate demonstration. In the final project they become layers of one library catalogue: REST and MVC are the entry point, IoC assembles the application, configuration supplies the parameters, AOP adds cross-cutting behaviour, forms are the user interface and lab 7 turns the API into a documented contract. Everything works on one BookService, and every experiment from the reports is reproduced by an automated test.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request enters the DispatcherServlet. The LocaleChangeInterceptor from lab 6 selects the language. The REST controllers from labs 1, 3, 5 and 7 return JSON — lab 7 adds request and response DTOs, a mapper and HATEOAS links — the page controller returns a Thymeleaf view name. Errors are split between two ControllerAdvice classes. Below is the CGLIB proxy of BookService, through which the four aspects from lab 4 pass. The service itself uses the repository, the notifications from lab 2 and the citation cache, whose parameters come from the configuration of lab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 set up the environment and the first project. From it the final project keeps the parent POM, the webmvc starter, DevTools, the Maven Wrapper and HelloController. Individual variant 7 is the wordcount endpoint: it counts words and characters and finds the longest word. If the parameter is missing, defaultValue is an empty string, so the answer is zeros instead of a 400 error.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 is about the IoC container. There is a Notifier interface with four implementations. Email is marked Primary, noop is Fallback, and Order defines the order in the list. NotificationService receives them in every possible way: through Primary, Qualifier, List and Map. Variant 8 is HtmlNotifier, which escapes angle brackets. In the final project this is not just a demo: when a book is added, the service sends a notification through the Primary bean. There is also a @Bean for DateTimeFormatter, the bean lifecycle and a prototype Ticket bean obtained through ObjectProvider.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3 is about external configuration. application.yml holds the shared values, dev and prod override them. AppProperties is a record with ConfigurationProperties and Validated: with retry-count set to 99 the application does not start. EnvironmentBanner shows that for any combination of profiles exactly one bean exists. Variant 7 is app.cache. In the report it was only printed in JSON; here CitationCache really caches citations by ttl and max-entries. Precedence: a command-line argument beats a JVM system property, which beats an environment variable, which beats the files.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4 is AOP. Pointcuts is a library of named pointcuts: public methods of the service package. The aspects are ordered: audit is the outermost, then logging, then timing. Auditing applies only to methods carrying the Audited annotation. The service is a CGLIB proxy, which /api/system/proxy shows. Self-invocation: if deleteBulk calls this.delete, there is no audit; through self there is one record per id. Variant 8 is call tracing: a citation call, which calls CitationCache.get inside, produces a real nested indentation.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5 was done by my partner Gibrat Bekbaev; in the final project it became the base of the catalogue. A Book domain record, an in-memory repository, a service, a REST controller with five operations and a page controller with Thymeleaf. The key experiment is the status codes: each of 400, 404, 405, 415 and 406 points to the part of the mapping that did not match. Variant 6 is a citation as text/plain; with Accept application/json the answer is 406.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6 is about forms. BookForm is a separate mutable class without an id, which protects from mass assignment. The path of an error message: the binder fills the form, Valid runs Hibernate Validator, the key in braces is resolved through the MessageSource for the current locale, the error goes into BindingResult, the controller returns the form and th:errors prints the text. There is a custom NoDigits constraint and two ControllerAdvice classes for pages and the API. Variant 7 is the publication date, whose format depends on the language. In the final project the same constraints also validate the JSON of the REST API.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7 turns the lab 5 controller into an API another team could use. What crosses the boundary is a DTO: BookRequest carries only what a client may send — no id and no createdAt — and BookResponse carries what the contract promises. BookMapper is the single place that knows both shapes and the Book record, so the controller has no conversion code. Every outcome has a deliberate status: 201 with a Location header for a creation, 204 for a deletion, 404 for a missing book — also on a repeated DELETE, because nothing changes on the server and the client learns there was nothing to delete — and 409 for a duplicate, because the body is valid but conflicts with the catalogue. All errors are RFC 9457 problem details from one advice.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springdoc-openapi 3.1.1, the line for Spring Boot 4, generates the OpenAPI document at /v3/api-docs and serves Swagger UI at /swagger-ui.html. Without a single annotation it already knows the paths, the methods, the parameters and the DTO schemas — even maxLength 120 of the title, taken from @Size. The annotations @Tag, @Operation, @ApiResponses and @Parameter add what the code cannot say: summaries, the meaning of each status code, examples. Here Swagger UI executes GET /api/books/999 and shows the 404 problem detail. Under the prod profile the document and the page are switched off. My variant 7 is HATEOAS: GET of one book returns an EntityModel in HAL format with links to itself, to the collection and to its citation.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screenshots of the running application. On the left, the start page: a card for every laboratory work with links to its endpoints; the page itself is a static resource from lab 5, served without a controller. On the right, the catalogue — a Thymeleaf page from labs 5 and 6 with a filter by author; every title opens the book's details. The interface is responsive and switches between English and Russian.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the new-book form in Russian after an invalid submission: every error is listed at once and each field is marked — an empty title, an author with digits rejected by my own NoDigits constraint, a year out of range, no genre, and a publication date in the future, which is my lab 6 variant 7. On the right, Swagger UI generated by springdoc from the code: every operation of /api/books with its summary. Requests can be executed from this page directly, which is how I show lab 7 live.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difference between the final project and a set of labs is the connections. Configuration controls notifications and the cache. Aspects wrap every catalogue operation. Validation from lab 6 also protects the REST API, and the IllegalArgumentException from lab 4 now becomes 400 instead of 500.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the defence does not depend on screenshots, every experiment from the reports is written as a MockMvc integration test. There are 32 of them, 14 for lab 7 alone: they check status codes, validation errors, Russian messages, the proxy, self-invocation and the dev profile. One command, mvnw test, and everything is green.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demonstration takes about five minutes. First the tests, then the start page with a card for each lab, the Russian form with errors, adding a book correctly and the aspect log in the console, the self-invocation experiment, the lab 7 requests from books.http and Swagger UI, two different 404 responses and a restart with the dev profile.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most frequent questions across all labs. The full list with answers is in docs/DEFENSE.md.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seven laboratory works are combined into one working application where each topic is a layer of the system, the individual variants are implemented and connected to each other, and the experiments are verified by tests. Thank you for your attention, I am ready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188720"/>
            <a:ext cx="822960" cy="822960"/>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3000">
                <a:solidFill>
                  <a:srgbClr val="FFFFFF"/>
                </a:solidFill>
                <a:latin typeface="Cambria"/>
              </a:rPr>
              <a:t>7</a:t>
            </a:r>
          </a:p>
        </p:txBody>
      </p:sp>
      <p:sp>
        <p:nvSpPr>
          <p:cNvPr id="3" name="TextBox 2"/>
          <p:cNvSpPr txBox="1"/>
          <p:nvPr/>
        </p:nvSpPr>
        <p:spPr>
          <a:xfrm>
            <a:off x="822960" y="2240280"/>
            <a:ext cx="10515600" cy="1097280"/>
          </a:xfrm>
          <a:prstGeom prst="rect">
            <a:avLst/>
          </a:prstGeom>
          <a:noFill/>
        </p:spPr>
        <p:txBody>
          <a:bodyPr wrap="square" anchor="t" lIns="0" rIns="0" tIns="0" bIns="0">
            <a:spAutoFit/>
          </a:bodyPr>
          <a:lstStyle/>
          <a:p>
            <a:pPr algn="l">
              <a:spcAft>
                <a:spcPts val="0"/>
              </a:spcAft>
            </a:pPr>
            <a:r>
              <a:rPr sz="6000" b="1" i="0">
                <a:solidFill>
                  <a:srgbClr val="FFFFFF"/>
                </a:solidFill>
                <a:latin typeface="Cambria"/>
              </a:rPr>
              <a:t>Library Portal</a:t>
            </a:r>
          </a:p>
        </p:txBody>
      </p:sp>
      <p:sp>
        <p:nvSpPr>
          <p:cNvPr id="4" name="TextBox 3"/>
          <p:cNvSpPr txBox="1"/>
          <p:nvPr/>
        </p:nvSpPr>
        <p:spPr>
          <a:xfrm>
            <a:off x="822960" y="3337560"/>
            <a:ext cx="10515600" cy="731520"/>
          </a:xfrm>
          <a:prstGeom prst="rect">
            <a:avLst/>
          </a:prstGeom>
          <a:noFill/>
        </p:spPr>
        <p:txBody>
          <a:bodyPr wrap="square" anchor="t" lIns="0" rIns="0" tIns="0" bIns="0">
            <a:spAutoFit/>
          </a:bodyPr>
          <a:lstStyle/>
          <a:p>
            <a:pPr algn="l">
              <a:spcAft>
                <a:spcPts val="0"/>
              </a:spcAft>
            </a:pPr>
            <a:r>
              <a:rPr sz="2400" b="0" i="0">
                <a:solidFill>
                  <a:srgbClr val="E4E8EF"/>
                </a:solidFill>
                <a:latin typeface="Calibri"/>
              </a:rPr>
              <a:t>Final educational project: seven laboratory works in one Spring Boot application</a:t>
            </a:r>
          </a:p>
        </p:txBody>
      </p:sp>
      <p:sp>
        <p:nvSpPr>
          <p:cNvPr id="5" name="TextBox 4"/>
          <p:cNvSpPr txBox="1"/>
          <p:nvPr/>
        </p:nvSpPr>
        <p:spPr>
          <a:xfrm>
            <a:off x="822960" y="4754880"/>
            <a:ext cx="7315200" cy="1280160"/>
          </a:xfrm>
          <a:prstGeom prst="rect">
            <a:avLst/>
          </a:prstGeom>
          <a:noFill/>
        </p:spPr>
        <p:txBody>
          <a:bodyPr wrap="square" anchor="t" lIns="0" rIns="0" tIns="0" bIns="0">
            <a:spAutoFit/>
          </a:bodyPr>
          <a:lstStyle/>
          <a:p>
            <a:pPr algn="l">
              <a:spcAft>
                <a:spcPts val="400"/>
              </a:spcAft>
            </a:pPr>
            <a:r>
              <a:rPr sz="1600" b="1" i="0">
                <a:solidFill>
                  <a:srgbClr val="FFFFFF"/>
                </a:solidFill>
                <a:latin typeface="Calibri"/>
              </a:rPr>
              <a:t>Kuat Bektursyn</a:t>
            </a:r>
          </a:p>
          <a:p>
            <a:pPr algn="l">
              <a:spcAft>
                <a:spcPts val="400"/>
              </a:spcAft>
            </a:pPr>
            <a:r>
              <a:rPr sz="1600" b="0" i="0">
                <a:solidFill>
                  <a:srgbClr val="E4E8EF"/>
                </a:solidFill>
                <a:latin typeface="Calibri"/>
              </a:rPr>
              <a:t>Group IT1-2409IS  ·  RWPSF 3305 — Web Application Development with Spring Framework</a:t>
            </a:r>
          </a:p>
          <a:p>
            <a:pPr algn="l">
              <a:spcAft>
                <a:spcPts val="400"/>
              </a:spcAft>
            </a:pPr>
            <a:r>
              <a:rPr sz="1600" b="0" i="0">
                <a:solidFill>
                  <a:srgbClr val="E4E8EF"/>
                </a:solidFill>
                <a:latin typeface="Calibri"/>
              </a:rPr>
              <a:t>IITU, Almaty, 2026</a:t>
            </a:r>
          </a:p>
        </p:txBody>
      </p:sp>
      <p:sp>
        <p:nvSpPr>
          <p:cNvPr id="6" name="TextBox 5"/>
          <p:cNvSpPr txBox="1"/>
          <p:nvPr/>
        </p:nvSpPr>
        <p:spPr>
          <a:xfrm>
            <a:off x="8138160" y="5715000"/>
            <a:ext cx="3474720" cy="365760"/>
          </a:xfrm>
          <a:prstGeom prst="rect">
            <a:avLst/>
          </a:prstGeom>
          <a:noFill/>
        </p:spPr>
        <p:txBody>
          <a:bodyPr wrap="square" anchor="t" lIns="0" rIns="0" tIns="0" bIns="0">
            <a:spAutoFit/>
          </a:bodyPr>
          <a:lstStyle/>
          <a:p>
            <a:pPr algn="r">
              <a:spcAft>
                <a:spcPts val="0"/>
              </a:spcAft>
            </a:pPr>
            <a:r>
              <a:rPr sz="1400" b="0" i="0">
                <a:solidFill>
                  <a:srgbClr val="B08A3E"/>
                </a:solidFill>
                <a:latin typeface="Calibri"/>
              </a:rPr>
              <a:t>github.com/AkAyu44/library-portal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The idea: seven labs as seven layers</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2</a:t>
            </a:r>
          </a:p>
        </p:txBody>
      </p:sp>
      <p:sp>
        <p:nvSpPr>
          <p:cNvPr id="5" name="Rounded Rectangle 4"/>
          <p:cNvSpPr/>
          <p:nvPr/>
        </p:nvSpPr>
        <p:spPr>
          <a:xfrm>
            <a:off x="548640" y="1508760"/>
            <a:ext cx="2587752" cy="20574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2587752" cy="1005840"/>
          </a:xfrm>
          <a:prstGeom prst="rect">
            <a:avLst/>
          </a:prstGeom>
          <a:noFill/>
        </p:spPr>
        <p:txBody>
          <a:bodyPr wrap="square" anchor="t" lIns="0" rIns="0" tIns="0" bIns="0">
            <a:spAutoFit/>
          </a:bodyPr>
          <a:lstStyle/>
          <a:p>
            <a:pPr algn="ctr">
              <a:spcAft>
                <a:spcPts val="0"/>
              </a:spcAft>
            </a:pPr>
            <a:r>
              <a:rPr sz="6000" b="1" i="0">
                <a:solidFill>
                  <a:srgbClr val="B08A3E"/>
                </a:solidFill>
                <a:latin typeface="Cambria"/>
              </a:rPr>
              <a:t>7</a:t>
            </a:r>
          </a:p>
        </p:txBody>
      </p:sp>
      <p:sp>
        <p:nvSpPr>
          <p:cNvPr id="7" name="TextBox 6"/>
          <p:cNvSpPr txBox="1"/>
          <p:nvPr/>
        </p:nvSpPr>
        <p:spPr>
          <a:xfrm>
            <a:off x="685800" y="2697480"/>
            <a:ext cx="2313432" cy="777240"/>
          </a:xfrm>
          <a:prstGeom prst="rect">
            <a:avLst/>
          </a:prstGeom>
          <a:noFill/>
        </p:spPr>
        <p:txBody>
          <a:bodyPr wrap="square" anchor="t" lIns="0" rIns="0" tIns="0" bIns="0">
            <a:spAutoFit/>
          </a:bodyPr>
          <a:lstStyle/>
          <a:p>
            <a:pPr algn="ctr">
              <a:spcAft>
                <a:spcPts val="0"/>
              </a:spcAft>
            </a:pPr>
            <a:r>
              <a:rPr sz="1400" b="0" i="0">
                <a:solidFill>
                  <a:srgbClr val="1F2533"/>
                </a:solidFill>
                <a:latin typeface="Calibri"/>
              </a:rPr>
              <a:t>laboratory works
in one application</a:t>
            </a:r>
          </a:p>
        </p:txBody>
      </p:sp>
      <p:sp>
        <p:nvSpPr>
          <p:cNvPr id="8" name="Rounded Rectangle 7"/>
          <p:cNvSpPr/>
          <p:nvPr/>
        </p:nvSpPr>
        <p:spPr>
          <a:xfrm>
            <a:off x="3364992" y="1508760"/>
            <a:ext cx="2587752" cy="20574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64992" y="1645920"/>
            <a:ext cx="2587752" cy="1005840"/>
          </a:xfrm>
          <a:prstGeom prst="rect">
            <a:avLst/>
          </a:prstGeom>
          <a:noFill/>
        </p:spPr>
        <p:txBody>
          <a:bodyPr wrap="square" anchor="t" lIns="0" rIns="0" tIns="0" bIns="0">
            <a:spAutoFit/>
          </a:bodyPr>
          <a:lstStyle/>
          <a:p>
            <a:pPr algn="ctr">
              <a:spcAft>
                <a:spcPts val="0"/>
              </a:spcAft>
            </a:pPr>
            <a:r>
              <a:rPr sz="6000" b="1" i="0">
                <a:solidFill>
                  <a:srgbClr val="B08A3E"/>
                </a:solidFill>
                <a:latin typeface="Cambria"/>
              </a:rPr>
              <a:t>32</a:t>
            </a:r>
          </a:p>
        </p:txBody>
      </p:sp>
      <p:sp>
        <p:nvSpPr>
          <p:cNvPr id="10" name="TextBox 9"/>
          <p:cNvSpPr txBox="1"/>
          <p:nvPr/>
        </p:nvSpPr>
        <p:spPr>
          <a:xfrm>
            <a:off x="3502152" y="2697480"/>
            <a:ext cx="2313432" cy="777240"/>
          </a:xfrm>
          <a:prstGeom prst="rect">
            <a:avLst/>
          </a:prstGeom>
          <a:noFill/>
        </p:spPr>
        <p:txBody>
          <a:bodyPr wrap="square" anchor="t" lIns="0" rIns="0" tIns="0" bIns="0">
            <a:spAutoFit/>
          </a:bodyPr>
          <a:lstStyle/>
          <a:p>
            <a:pPr algn="ctr">
              <a:spcAft>
                <a:spcPts val="0"/>
              </a:spcAft>
            </a:pPr>
            <a:r>
              <a:rPr sz="1400" b="0" i="0">
                <a:solidFill>
                  <a:srgbClr val="1F2533"/>
                </a:solidFill>
                <a:latin typeface="Calibri"/>
              </a:rPr>
              <a:t>integration tests —
one per experiment</a:t>
            </a:r>
          </a:p>
        </p:txBody>
      </p:sp>
      <p:sp>
        <p:nvSpPr>
          <p:cNvPr id="11" name="Rounded Rectangle 10"/>
          <p:cNvSpPr/>
          <p:nvPr/>
        </p:nvSpPr>
        <p:spPr>
          <a:xfrm>
            <a:off x="6181344" y="1508760"/>
            <a:ext cx="2587752" cy="20574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1344" y="1645920"/>
            <a:ext cx="2587752" cy="1005840"/>
          </a:xfrm>
          <a:prstGeom prst="rect">
            <a:avLst/>
          </a:prstGeom>
          <a:noFill/>
        </p:spPr>
        <p:txBody>
          <a:bodyPr wrap="square" anchor="t" lIns="0" rIns="0" tIns="0" bIns="0">
            <a:spAutoFit/>
          </a:bodyPr>
          <a:lstStyle/>
          <a:p>
            <a:pPr algn="ctr">
              <a:spcAft>
                <a:spcPts val="0"/>
              </a:spcAft>
            </a:pPr>
            <a:r>
              <a:rPr sz="6000" b="1" i="0">
                <a:solidFill>
                  <a:srgbClr val="B08A3E"/>
                </a:solidFill>
                <a:latin typeface="Cambria"/>
              </a:rPr>
              <a:t>7</a:t>
            </a:r>
          </a:p>
        </p:txBody>
      </p:sp>
      <p:sp>
        <p:nvSpPr>
          <p:cNvPr id="13" name="TextBox 12"/>
          <p:cNvSpPr txBox="1"/>
          <p:nvPr/>
        </p:nvSpPr>
        <p:spPr>
          <a:xfrm>
            <a:off x="6318504" y="2697480"/>
            <a:ext cx="2313432" cy="777240"/>
          </a:xfrm>
          <a:prstGeom prst="rect">
            <a:avLst/>
          </a:prstGeom>
          <a:noFill/>
        </p:spPr>
        <p:txBody>
          <a:bodyPr wrap="square" anchor="t" lIns="0" rIns="0" tIns="0" bIns="0">
            <a:spAutoFit/>
          </a:bodyPr>
          <a:lstStyle/>
          <a:p>
            <a:pPr algn="ctr">
              <a:spcAft>
                <a:spcPts val="0"/>
              </a:spcAft>
            </a:pPr>
            <a:r>
              <a:rPr sz="1400" b="0" i="0">
                <a:solidFill>
                  <a:srgbClr val="1F2533"/>
                </a:solidFill>
                <a:latin typeface="Calibri"/>
              </a:rPr>
              <a:t>individual variants
implemented</a:t>
            </a:r>
          </a:p>
        </p:txBody>
      </p:sp>
      <p:sp>
        <p:nvSpPr>
          <p:cNvPr id="14" name="Rounded Rectangle 13"/>
          <p:cNvSpPr/>
          <p:nvPr/>
        </p:nvSpPr>
        <p:spPr>
          <a:xfrm>
            <a:off x="8997696" y="1508760"/>
            <a:ext cx="2587752" cy="20574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97696" y="1645920"/>
            <a:ext cx="2587752" cy="1005840"/>
          </a:xfrm>
          <a:prstGeom prst="rect">
            <a:avLst/>
          </a:prstGeom>
          <a:noFill/>
        </p:spPr>
        <p:txBody>
          <a:bodyPr wrap="square" anchor="t" lIns="0" rIns="0" tIns="0" bIns="0">
            <a:spAutoFit/>
          </a:bodyPr>
          <a:lstStyle/>
          <a:p>
            <a:pPr algn="ctr">
              <a:spcAft>
                <a:spcPts val="0"/>
              </a:spcAft>
            </a:pPr>
            <a:r>
              <a:rPr sz="6000" b="1" i="0">
                <a:solidFill>
                  <a:srgbClr val="B08A3E"/>
                </a:solidFill>
                <a:latin typeface="Cambria"/>
              </a:rPr>
              <a:t>1</a:t>
            </a:r>
          </a:p>
        </p:txBody>
      </p:sp>
      <p:sp>
        <p:nvSpPr>
          <p:cNvPr id="16" name="TextBox 15"/>
          <p:cNvSpPr txBox="1"/>
          <p:nvPr/>
        </p:nvSpPr>
        <p:spPr>
          <a:xfrm>
            <a:off x="9134856" y="2697480"/>
            <a:ext cx="2313432" cy="777240"/>
          </a:xfrm>
          <a:prstGeom prst="rect">
            <a:avLst/>
          </a:prstGeom>
          <a:noFill/>
        </p:spPr>
        <p:txBody>
          <a:bodyPr wrap="square" anchor="t" lIns="0" rIns="0" tIns="0" bIns="0">
            <a:spAutoFit/>
          </a:bodyPr>
          <a:lstStyle/>
          <a:p>
            <a:pPr algn="ctr">
              <a:spcAft>
                <a:spcPts val="0"/>
              </a:spcAft>
            </a:pPr>
            <a:r>
              <a:rPr sz="1400" b="0" i="0">
                <a:solidFill>
                  <a:srgbClr val="1F2533"/>
                </a:solidFill>
                <a:latin typeface="Calibri"/>
              </a:rPr>
              <a:t>shared BookService
for every layer</a:t>
            </a:r>
          </a:p>
        </p:txBody>
      </p:sp>
      <p:sp>
        <p:nvSpPr>
          <p:cNvPr id="17" name="TextBox 16"/>
          <p:cNvSpPr txBox="1"/>
          <p:nvPr/>
        </p:nvSpPr>
        <p:spPr>
          <a:xfrm>
            <a:off x="548640" y="3931920"/>
            <a:ext cx="4572000" cy="365760"/>
          </a:xfrm>
          <a:prstGeom prst="rect">
            <a:avLst/>
          </a:prstGeom>
          <a:noFill/>
        </p:spPr>
        <p:txBody>
          <a:bodyPr wrap="square" anchor="t" lIns="0" rIns="0" tIns="0" bIns="0">
            <a:spAutoFit/>
          </a:bodyPr>
          <a:lstStyle/>
          <a:p>
            <a:pPr algn="l">
              <a:spcAft>
                <a:spcPts val="0"/>
              </a:spcAft>
            </a:pPr>
            <a:r>
              <a:rPr sz="2000" b="1" i="0">
                <a:solidFill>
                  <a:srgbClr val="1B2A41"/>
                </a:solidFill>
                <a:latin typeface="Cambria"/>
              </a:rPr>
              <a:t>Technology stack</a:t>
            </a:r>
          </a:p>
        </p:txBody>
      </p:sp>
      <p:sp>
        <p:nvSpPr>
          <p:cNvPr id="18" name="TextBox 17"/>
          <p:cNvSpPr txBox="1"/>
          <p:nvPr/>
        </p:nvSpPr>
        <p:spPr>
          <a:xfrm>
            <a:off x="548640" y="4389120"/>
            <a:ext cx="5303520" cy="1828800"/>
          </a:xfrm>
          <a:prstGeom prst="rect">
            <a:avLst/>
          </a:prstGeom>
          <a:noFill/>
        </p:spPr>
        <p:txBody>
          <a:bodyPr wrap="square" lIns="0" rIns="0" tIns="0" bIns="0">
            <a:spAutoFit/>
          </a:bodyPr>
          <a:lstStyle/>
          <a:p>
            <a:pPr marL="274320" indent="-274320">
              <a:spcAft>
                <a:spcPts val="800"/>
              </a:spcAft>
              <a:buClr>
                <a:srgbClr val="B08A3E"/>
              </a:buClr>
              <a:buFont typeface="Arial"/>
              <a:buChar char="•"/>
            </a:pPr>
            <a:r>
              <a:rPr sz="1500" b="0">
                <a:solidFill>
                  <a:srgbClr val="1F2533"/>
                </a:solidFill>
                <a:latin typeface="Calibri"/>
              </a:rPr>
              <a:t>Java 25, Spring Boot 4.1.1 (Spring Framework 7), Maven 3.9</a:t>
            </a:r>
          </a:p>
          <a:p>
            <a:pPr marL="274320" indent="-274320">
              <a:spcAft>
                <a:spcPts val="800"/>
              </a:spcAft>
              <a:buClr>
                <a:srgbClr val="B08A3E"/>
              </a:buClr>
              <a:buFont typeface="Arial"/>
              <a:buChar char="•"/>
            </a:pPr>
            <a:r>
              <a:rPr sz="1500" b="0">
                <a:solidFill>
                  <a:srgbClr val="1F2533"/>
                </a:solidFill>
                <a:latin typeface="Calibri"/>
              </a:rPr>
              <a:t>Spring MVC + Thymeleaf, Hibernate Validator</a:t>
            </a:r>
          </a:p>
          <a:p>
            <a:pPr marL="274320" indent="-274320">
              <a:spcAft>
                <a:spcPts val="800"/>
              </a:spcAft>
              <a:buClr>
                <a:srgbClr val="B08A3E"/>
              </a:buClr>
              <a:buFont typeface="Arial"/>
              <a:buChar char="•"/>
            </a:pPr>
            <a:r>
              <a:rPr sz="1500" b="0">
                <a:solidFill>
                  <a:srgbClr val="1F2533"/>
                </a:solidFill>
                <a:latin typeface="Calibri"/>
              </a:rPr>
              <a:t>Spring AOP (AspectJ annotations), Spring Boot Actuator</a:t>
            </a:r>
          </a:p>
          <a:p>
            <a:pPr marL="274320" indent="-274320">
              <a:spcAft>
                <a:spcPts val="800"/>
              </a:spcAft>
              <a:buClr>
                <a:srgbClr val="B08A3E"/>
              </a:buClr>
              <a:buFont typeface="Arial"/>
              <a:buChar char="•"/>
            </a:pPr>
            <a:r>
              <a:rPr sz="1500" b="0">
                <a:solidFill>
                  <a:srgbClr val="1F2533"/>
                </a:solidFill>
                <a:latin typeface="Calibri"/>
              </a:rPr>
              <a:t>Spring HATEOAS, springdoc-openapi 3 + Swagger UI</a:t>
            </a:r>
          </a:p>
        </p:txBody>
      </p:sp>
      <p:sp>
        <p:nvSpPr>
          <p:cNvPr id="19" name="TextBox 18"/>
          <p:cNvSpPr txBox="1"/>
          <p:nvPr/>
        </p:nvSpPr>
        <p:spPr>
          <a:xfrm>
            <a:off x="6309360" y="3931920"/>
            <a:ext cx="5303520" cy="365760"/>
          </a:xfrm>
          <a:prstGeom prst="rect">
            <a:avLst/>
          </a:prstGeom>
          <a:noFill/>
        </p:spPr>
        <p:txBody>
          <a:bodyPr wrap="square" anchor="t" lIns="0" rIns="0" tIns="0" bIns="0">
            <a:spAutoFit/>
          </a:bodyPr>
          <a:lstStyle/>
          <a:p>
            <a:pPr algn="l">
              <a:spcAft>
                <a:spcPts val="0"/>
              </a:spcAft>
            </a:pPr>
            <a:r>
              <a:rPr sz="2000" b="1" i="0">
                <a:solidFill>
                  <a:srgbClr val="1B2A41"/>
                </a:solidFill>
                <a:latin typeface="Cambria"/>
              </a:rPr>
              <a:t>Domain</a:t>
            </a:r>
          </a:p>
        </p:txBody>
      </p:sp>
      <p:sp>
        <p:nvSpPr>
          <p:cNvPr id="20" name="TextBox 19"/>
          <p:cNvSpPr txBox="1"/>
          <p:nvPr/>
        </p:nvSpPr>
        <p:spPr>
          <a:xfrm>
            <a:off x="6309360" y="4389120"/>
            <a:ext cx="5303520" cy="1828800"/>
          </a:xfrm>
          <a:prstGeom prst="rect">
            <a:avLst/>
          </a:prstGeom>
          <a:noFill/>
        </p:spPr>
        <p:txBody>
          <a:bodyPr wrap="square" lIns="0" rIns="0" tIns="0" bIns="0">
            <a:spAutoFit/>
          </a:bodyPr>
          <a:lstStyle/>
          <a:p>
            <a:pPr marL="274320" indent="-274320">
              <a:spcAft>
                <a:spcPts val="800"/>
              </a:spcAft>
              <a:buClr>
                <a:srgbClr val="B08A3E"/>
              </a:buClr>
              <a:buFont typeface="Arial"/>
              <a:buChar char="•"/>
            </a:pPr>
            <a:r>
              <a:rPr sz="1500" b="0">
                <a:solidFill>
                  <a:srgbClr val="1F2533"/>
                </a:solidFill>
                <a:latin typeface="Calibri"/>
              </a:rPr>
              <a:t>Book catalogue: list, details, add, delete</a:t>
            </a:r>
          </a:p>
          <a:p>
            <a:pPr marL="274320" indent="-274320">
              <a:spcAft>
                <a:spcPts val="800"/>
              </a:spcAft>
              <a:buClr>
                <a:srgbClr val="B08A3E"/>
              </a:buClr>
              <a:buFont typeface="Arial"/>
              <a:buChar char="•"/>
            </a:pPr>
            <a:r>
              <a:rPr sz="1500" b="0">
                <a:solidFill>
                  <a:srgbClr val="1F2533"/>
                </a:solidFill>
                <a:latin typeface="Calibri"/>
              </a:rPr>
              <a:t>REST API /api/books (DTOs, HAL links, Swagger UI) and HTML pages /books</a:t>
            </a:r>
          </a:p>
          <a:p>
            <a:pPr marL="274320" indent="-274320">
              <a:spcAft>
                <a:spcPts val="800"/>
              </a:spcAft>
              <a:buClr>
                <a:srgbClr val="B08A3E"/>
              </a:buClr>
              <a:buFont typeface="Arial"/>
              <a:buChar char="•"/>
            </a:pPr>
            <a:r>
              <a:rPr sz="1500" b="0">
                <a:solidFill>
                  <a:srgbClr val="1F2533"/>
                </a:solidFill>
                <a:latin typeface="Calibri"/>
              </a:rPr>
              <a:t>Two interface languages — EN and RU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Architecture: where each lab lives</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3</a:t>
            </a:r>
          </a:p>
        </p:txBody>
      </p:sp>
      <p:sp>
        <p:nvSpPr>
          <p:cNvPr id="5" name="Rounded Rectangle 4"/>
          <p:cNvSpPr/>
          <p:nvPr/>
        </p:nvSpPr>
        <p:spPr>
          <a:xfrm>
            <a:off x="548640" y="1508760"/>
            <a:ext cx="3291840" cy="1005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18488"/>
            <a:ext cx="292608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DispatcherServlet</a:t>
            </a:r>
          </a:p>
        </p:txBody>
      </p:sp>
      <p:sp>
        <p:nvSpPr>
          <p:cNvPr id="7" name="TextBox 6"/>
          <p:cNvSpPr txBox="1"/>
          <p:nvPr/>
        </p:nvSpPr>
        <p:spPr>
          <a:xfrm>
            <a:off x="731520" y="1965960"/>
            <a:ext cx="2926080" cy="5029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LocaleChangeInterceptor · ?lang=ru</a:t>
            </a:r>
          </a:p>
        </p:txBody>
      </p:sp>
      <p:sp>
        <p:nvSpPr>
          <p:cNvPr id="8" name="Oval 7"/>
          <p:cNvSpPr/>
          <p:nvPr/>
        </p:nvSpPr>
        <p:spPr>
          <a:xfrm>
            <a:off x="3383280" y="1344168"/>
            <a:ext cx="384048" cy="384048"/>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6</a:t>
            </a:r>
          </a:p>
        </p:txBody>
      </p:sp>
      <p:sp>
        <p:nvSpPr>
          <p:cNvPr id="9" name="Rounded Rectangle 8"/>
          <p:cNvSpPr/>
          <p:nvPr/>
        </p:nvSpPr>
        <p:spPr>
          <a:xfrm>
            <a:off x="4389120" y="1508760"/>
            <a:ext cx="3474720" cy="1005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18488"/>
            <a:ext cx="310896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@RestController + DTOs</a:t>
            </a:r>
          </a:p>
        </p:txBody>
      </p:sp>
      <p:sp>
        <p:nvSpPr>
          <p:cNvPr id="11" name="TextBox 10"/>
          <p:cNvSpPr txBox="1"/>
          <p:nvPr/>
        </p:nvSpPr>
        <p:spPr>
          <a:xfrm>
            <a:off x="4572000" y="1965960"/>
            <a:ext cx="3108960" cy="5029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BookMapper · HATEOAS · OpenAPI</a:t>
            </a:r>
          </a:p>
        </p:txBody>
      </p:sp>
      <p:sp>
        <p:nvSpPr>
          <p:cNvPr id="12" name="Oval 11"/>
          <p:cNvSpPr/>
          <p:nvPr/>
        </p:nvSpPr>
        <p:spPr>
          <a:xfrm>
            <a:off x="7406640" y="1344168"/>
            <a:ext cx="384048" cy="384048"/>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1·5·7</a:t>
            </a:r>
          </a:p>
        </p:txBody>
      </p:sp>
      <p:sp>
        <p:nvSpPr>
          <p:cNvPr id="13" name="Rounded Rectangle 12"/>
          <p:cNvSpPr/>
          <p:nvPr/>
        </p:nvSpPr>
        <p:spPr>
          <a:xfrm>
            <a:off x="8412480" y="1508760"/>
            <a:ext cx="3200400" cy="1005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59" y="1618488"/>
            <a:ext cx="283464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@Controller + Thymeleaf</a:t>
            </a:r>
          </a:p>
        </p:txBody>
      </p:sp>
      <p:sp>
        <p:nvSpPr>
          <p:cNvPr id="15" name="TextBox 14"/>
          <p:cNvSpPr txBox="1"/>
          <p:nvPr/>
        </p:nvSpPr>
        <p:spPr>
          <a:xfrm>
            <a:off x="8595359" y="1965960"/>
            <a:ext cx="2834640" cy="5029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BookPageController · /books</a:t>
            </a:r>
          </a:p>
        </p:txBody>
      </p:sp>
      <p:sp>
        <p:nvSpPr>
          <p:cNvPr id="16" name="Oval 15"/>
          <p:cNvSpPr/>
          <p:nvPr/>
        </p:nvSpPr>
        <p:spPr>
          <a:xfrm>
            <a:off x="11155680" y="1344168"/>
            <a:ext cx="384048" cy="384048"/>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5·6</a:t>
            </a:r>
          </a:p>
        </p:txBody>
      </p:sp>
      <p:sp>
        <p:nvSpPr>
          <p:cNvPr id="17" name="Rounded Rectangle 16"/>
          <p:cNvSpPr/>
          <p:nvPr/>
        </p:nvSpPr>
        <p:spPr>
          <a:xfrm>
            <a:off x="4389120" y="3063240"/>
            <a:ext cx="722376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3172968"/>
            <a:ext cx="6858000" cy="365760"/>
          </a:xfrm>
          <a:prstGeom prst="rect">
            <a:avLst/>
          </a:prstGeom>
          <a:noFill/>
        </p:spPr>
        <p:txBody>
          <a:bodyPr wrap="square" anchor="t" lIns="0" rIns="0" tIns="0" bIns="0">
            <a:spAutoFit/>
          </a:bodyPr>
          <a:lstStyle/>
          <a:p>
            <a:pPr algn="l">
              <a:spcAft>
                <a:spcPts val="0"/>
              </a:spcAft>
            </a:pPr>
            <a:r>
              <a:rPr sz="1500" b="1" i="0">
                <a:solidFill>
                  <a:srgbClr val="FFFFFF"/>
                </a:solidFill>
                <a:latin typeface="Calibri"/>
              </a:rPr>
              <a:t>CGLIB proxy of BookService</a:t>
            </a:r>
          </a:p>
        </p:txBody>
      </p:sp>
      <p:sp>
        <p:nvSpPr>
          <p:cNvPr id="19" name="TextBox 18"/>
          <p:cNvSpPr txBox="1"/>
          <p:nvPr/>
        </p:nvSpPr>
        <p:spPr>
          <a:xfrm>
            <a:off x="4572000" y="3520440"/>
            <a:ext cx="6858000" cy="502920"/>
          </a:xfrm>
          <a:prstGeom prst="rect">
            <a:avLst/>
          </a:prstGeom>
          <a:noFill/>
        </p:spPr>
        <p:txBody>
          <a:bodyPr wrap="square" anchor="t" lIns="0" rIns="0" tIns="0" bIns="0">
            <a:spAutoFit/>
          </a:bodyPr>
          <a:lstStyle/>
          <a:p>
            <a:pPr algn="l">
              <a:spcAft>
                <a:spcPts val="0"/>
              </a:spcAft>
            </a:pPr>
            <a:r>
              <a:rPr sz="1200" b="0" i="0">
                <a:solidFill>
                  <a:srgbClr val="FFFFFF"/>
                </a:solidFill>
                <a:latin typeface="Calibri"/>
              </a:rPr>
              <a:t>Audit(1) → Logging(2) → Timing(3) → CallTracing</a:t>
            </a:r>
          </a:p>
        </p:txBody>
      </p:sp>
      <p:sp>
        <p:nvSpPr>
          <p:cNvPr id="20" name="Oval 19"/>
          <p:cNvSpPr/>
          <p:nvPr/>
        </p:nvSpPr>
        <p:spPr>
          <a:xfrm>
            <a:off x="11155680" y="2898648"/>
            <a:ext cx="384048" cy="384048"/>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4</a:t>
            </a:r>
          </a:p>
        </p:txBody>
      </p:sp>
      <p:sp>
        <p:nvSpPr>
          <p:cNvPr id="21" name="Rounded Rectangle 20"/>
          <p:cNvSpPr/>
          <p:nvPr/>
        </p:nvSpPr>
        <p:spPr>
          <a:xfrm>
            <a:off x="548640" y="3063240"/>
            <a:ext cx="3291840" cy="1005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172968"/>
            <a:ext cx="292608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@ControllerAdvice</a:t>
            </a:r>
          </a:p>
        </p:txBody>
      </p:sp>
      <p:sp>
        <p:nvSpPr>
          <p:cNvPr id="23" name="TextBox 22"/>
          <p:cNvSpPr txBox="1"/>
          <p:nvPr/>
        </p:nvSpPr>
        <p:spPr>
          <a:xfrm>
            <a:off x="731520" y="3520440"/>
            <a:ext cx="2926080" cy="5029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HTML 404 · ProblemDetail 404/409</a:t>
            </a:r>
          </a:p>
        </p:txBody>
      </p:sp>
      <p:sp>
        <p:nvSpPr>
          <p:cNvPr id="24" name="Oval 23"/>
          <p:cNvSpPr/>
          <p:nvPr/>
        </p:nvSpPr>
        <p:spPr>
          <a:xfrm>
            <a:off x="3383280" y="2898648"/>
            <a:ext cx="384048" cy="384048"/>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6·7</a:t>
            </a:r>
          </a:p>
        </p:txBody>
      </p:sp>
      <p:sp>
        <p:nvSpPr>
          <p:cNvPr id="25" name="Rounded Rectangle 24"/>
          <p:cNvSpPr/>
          <p:nvPr/>
        </p:nvSpPr>
        <p:spPr>
          <a:xfrm>
            <a:off x="548640" y="4709160"/>
            <a:ext cx="3291840" cy="1005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818888"/>
            <a:ext cx="292608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BookRepository</a:t>
            </a:r>
          </a:p>
        </p:txBody>
      </p:sp>
      <p:sp>
        <p:nvSpPr>
          <p:cNvPr id="27" name="TextBox 26"/>
          <p:cNvSpPr txBox="1"/>
          <p:nvPr/>
        </p:nvSpPr>
        <p:spPr>
          <a:xfrm>
            <a:off x="731520" y="5166360"/>
            <a:ext cx="2926080" cy="5029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in-memory, ConcurrentHashMap</a:t>
            </a:r>
          </a:p>
        </p:txBody>
      </p:sp>
      <p:sp>
        <p:nvSpPr>
          <p:cNvPr id="28" name="Oval 27"/>
          <p:cNvSpPr/>
          <p:nvPr/>
        </p:nvSpPr>
        <p:spPr>
          <a:xfrm>
            <a:off x="3383280" y="4544568"/>
            <a:ext cx="384048" cy="384048"/>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5</a:t>
            </a:r>
          </a:p>
        </p:txBody>
      </p:sp>
      <p:sp>
        <p:nvSpPr>
          <p:cNvPr id="29" name="Rounded Rectangle 28"/>
          <p:cNvSpPr/>
          <p:nvPr/>
        </p:nvSpPr>
        <p:spPr>
          <a:xfrm>
            <a:off x="4389120" y="4709160"/>
            <a:ext cx="3474720" cy="1005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0" y="4818888"/>
            <a:ext cx="310896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NotificationService</a:t>
            </a:r>
          </a:p>
        </p:txBody>
      </p:sp>
      <p:sp>
        <p:nvSpPr>
          <p:cNvPr id="31" name="TextBox 30"/>
          <p:cNvSpPr txBox="1"/>
          <p:nvPr/>
        </p:nvSpPr>
        <p:spPr>
          <a:xfrm>
            <a:off x="4572000" y="5166360"/>
            <a:ext cx="3108960" cy="5029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@Primary EmailNotifier ← app.mail</a:t>
            </a:r>
          </a:p>
        </p:txBody>
      </p:sp>
      <p:sp>
        <p:nvSpPr>
          <p:cNvPr id="32" name="Oval 31"/>
          <p:cNvSpPr/>
          <p:nvPr/>
        </p:nvSpPr>
        <p:spPr>
          <a:xfrm>
            <a:off x="7406640" y="4544568"/>
            <a:ext cx="384048" cy="384048"/>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2·3</a:t>
            </a:r>
          </a:p>
        </p:txBody>
      </p:sp>
      <p:sp>
        <p:nvSpPr>
          <p:cNvPr id="33" name="Rounded Rectangle 32"/>
          <p:cNvSpPr/>
          <p:nvPr/>
        </p:nvSpPr>
        <p:spPr>
          <a:xfrm>
            <a:off x="8412480" y="4709160"/>
            <a:ext cx="3200400" cy="1005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59" y="4818888"/>
            <a:ext cx="283464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CitationCache</a:t>
            </a:r>
          </a:p>
        </p:txBody>
      </p:sp>
      <p:sp>
        <p:nvSpPr>
          <p:cNvPr id="35" name="TextBox 34"/>
          <p:cNvSpPr txBox="1"/>
          <p:nvPr/>
        </p:nvSpPr>
        <p:spPr>
          <a:xfrm>
            <a:off x="8595359" y="5166360"/>
            <a:ext cx="2834640" cy="5029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app.cache.ttl / max-entries</a:t>
            </a:r>
          </a:p>
        </p:txBody>
      </p:sp>
      <p:sp>
        <p:nvSpPr>
          <p:cNvPr id="36" name="Oval 35"/>
          <p:cNvSpPr/>
          <p:nvPr/>
        </p:nvSpPr>
        <p:spPr>
          <a:xfrm>
            <a:off x="11155680" y="4544568"/>
            <a:ext cx="384048" cy="384048"/>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3</a:t>
            </a:r>
          </a:p>
        </p:txBody>
      </p:sp>
      <p:cxnSp>
        <p:nvCxnSpPr>
          <p:cNvPr id="37" name="Connector 36"/>
          <p:cNvCxnSpPr/>
          <p:nvPr/>
        </p:nvCxnSpPr>
        <p:spPr>
          <a:xfrm>
            <a:off x="3840480" y="2011680"/>
            <a:ext cx="548640" cy="0"/>
          </a:xfrm>
          <a:prstGeom prst="line">
            <a:avLst/>
          </a:prstGeom>
          <a:ln w="25400">
            <a:solidFill>
              <a:srgbClr val="B08A3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63840" y="2011680"/>
            <a:ext cx="548640" cy="0"/>
          </a:xfrm>
          <a:prstGeom prst="line">
            <a:avLst/>
          </a:prstGeom>
          <a:ln w="25400">
            <a:solidFill>
              <a:srgbClr val="B08A3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126480" y="2514600"/>
            <a:ext cx="0" cy="548640"/>
          </a:xfrm>
          <a:prstGeom prst="line">
            <a:avLst/>
          </a:prstGeom>
          <a:ln w="25400">
            <a:solidFill>
              <a:srgbClr val="B08A3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012680" y="2514600"/>
            <a:ext cx="0" cy="548640"/>
          </a:xfrm>
          <a:prstGeom prst="line">
            <a:avLst/>
          </a:prstGeom>
          <a:ln w="25400">
            <a:solidFill>
              <a:srgbClr val="B08A3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3840480" y="3566160"/>
            <a:ext cx="548640" cy="0"/>
          </a:xfrm>
          <a:prstGeom prst="line">
            <a:avLst/>
          </a:prstGeom>
          <a:ln w="25400">
            <a:solidFill>
              <a:srgbClr val="B08A3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2194560" y="4069080"/>
            <a:ext cx="2926080" cy="640080"/>
          </a:xfrm>
          <a:prstGeom prst="line">
            <a:avLst/>
          </a:prstGeom>
          <a:ln w="25400">
            <a:solidFill>
              <a:srgbClr val="B08A3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26480" y="4069080"/>
            <a:ext cx="0" cy="640080"/>
          </a:xfrm>
          <a:prstGeom prst="line">
            <a:avLst/>
          </a:prstGeom>
          <a:ln w="25400">
            <a:solidFill>
              <a:srgbClr val="B08A3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012680" y="4069080"/>
            <a:ext cx="0" cy="640080"/>
          </a:xfrm>
          <a:prstGeom prst="line">
            <a:avLst/>
          </a:prstGeom>
          <a:ln w="25400">
            <a:solidFill>
              <a:srgbClr val="B08A3E"/>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Spring Boot and the first REST controller</a:t>
            </a:r>
          </a:p>
        </p:txBody>
      </p:sp>
      <p:sp>
        <p:nvSpPr>
          <p:cNvPr id="3" name="Rounded Rectangle 2"/>
          <p:cNvSpPr/>
          <p:nvPr/>
        </p:nvSpPr>
        <p:spPr>
          <a:xfrm>
            <a:off x="9646920" y="502920"/>
            <a:ext cx="2011680" cy="50292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Lab 1  ·  V7</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4</a:t>
            </a:r>
          </a:p>
        </p:txBody>
      </p:sp>
      <p:sp>
        <p:nvSpPr>
          <p:cNvPr id="7" name="TextBox 6"/>
          <p:cNvSpPr txBox="1"/>
          <p:nvPr/>
        </p:nvSpPr>
        <p:spPr>
          <a:xfrm>
            <a:off x="548640" y="1508760"/>
            <a:ext cx="5120640" cy="2926080"/>
          </a:xfrm>
          <a:prstGeom prst="rect">
            <a:avLst/>
          </a:prstGeom>
          <a:noFill/>
        </p:spPr>
        <p:txBody>
          <a:bodyPr wrap="square" lIns="0" rIns="0" tIns="0" bIns="0">
            <a:spAutoFit/>
          </a:bodyPr>
          <a:lstStyle/>
          <a:p>
            <a:pPr marL="274320" indent="-274320">
              <a:spcAft>
                <a:spcPts val="800"/>
              </a:spcAft>
              <a:buClr>
                <a:srgbClr val="B08A3E"/>
              </a:buClr>
              <a:buFont typeface="Arial"/>
              <a:buChar char="•"/>
            </a:pPr>
            <a:r>
              <a:rPr sz="1500" b="1">
                <a:solidFill>
                  <a:srgbClr val="1F2533"/>
                </a:solidFill>
                <a:latin typeface="Calibri"/>
              </a:rPr>
              <a:t>Project: </a:t>
            </a:r>
            <a:r>
              <a:rPr sz="1500" b="0">
                <a:solidFill>
                  <a:srgbClr val="1F2533"/>
                </a:solidFill>
                <a:latin typeface="Calibri"/>
              </a:rPr>
              <a:t>Spring Initializr, parent POM 4.1.1, Java 25, Maven Wrapper</a:t>
            </a:r>
          </a:p>
          <a:p>
            <a:pPr marL="274320" indent="-274320">
              <a:spcAft>
                <a:spcPts val="800"/>
              </a:spcAft>
              <a:buClr>
                <a:srgbClr val="B08A3E"/>
              </a:buClr>
              <a:buFont typeface="Arial"/>
              <a:buChar char="•"/>
            </a:pPr>
            <a:r>
              <a:rPr sz="1500" b="1">
                <a:solidFill>
                  <a:srgbClr val="1F2533"/>
                </a:solidFill>
                <a:latin typeface="Calibri"/>
              </a:rPr>
              <a:t>Starters: </a:t>
            </a:r>
            <a:r>
              <a:rPr sz="1500" b="0">
                <a:solidFill>
                  <a:srgbClr val="1F2533"/>
                </a:solidFill>
                <a:latin typeface="Calibri"/>
              </a:rPr>
              <a:t>webmvc (Tomcat and Jackson come transitively), DevTools</a:t>
            </a:r>
          </a:p>
          <a:p>
            <a:pPr marL="274320" indent="-274320">
              <a:spcAft>
                <a:spcPts val="800"/>
              </a:spcAft>
              <a:buClr>
                <a:srgbClr val="B08A3E"/>
              </a:buClr>
              <a:buFont typeface="Arial"/>
              <a:buChar char="•"/>
            </a:pPr>
            <a:r>
              <a:rPr sz="1500" b="1">
                <a:solidFill>
                  <a:srgbClr val="1F2533"/>
                </a:solidFill>
                <a:latin typeface="Calibri"/>
              </a:rPr>
              <a:t>HelloController: </a:t>
            </a:r>
            <a:r>
              <a:rPr sz="1500" b="0">
                <a:solidFill>
                  <a:srgbClr val="1F2533"/>
                </a:solidFill>
                <a:latin typeface="Calibri"/>
              </a:rPr>
              <a:t>@RestController, @GetMapping, @RequestParam, @Value</a:t>
            </a:r>
          </a:p>
          <a:p>
            <a:pPr marL="274320" indent="-274320">
              <a:spcAft>
                <a:spcPts val="800"/>
              </a:spcAft>
              <a:buClr>
                <a:srgbClr val="B08A3E"/>
              </a:buClr>
              <a:buFont typeface="Arial"/>
              <a:buChar char="•"/>
            </a:pPr>
            <a:r>
              <a:rPr sz="1500" b="1">
                <a:solidFill>
                  <a:srgbClr val="1F2533"/>
                </a:solidFill>
                <a:latin typeface="Calibri"/>
              </a:rPr>
              <a:t>Endpoints: </a:t>
            </a:r>
            <a:r>
              <a:rPr sz="1500" b="0">
                <a:solidFill>
                  <a:srgbClr val="1F2533"/>
                </a:solidFill>
                <a:latin typeface="Calibri"/>
              </a:rPr>
              <a:t>/api/hello, /api/info</a:t>
            </a:r>
          </a:p>
          <a:p>
            <a:pPr marL="274320" indent="-274320">
              <a:spcAft>
                <a:spcPts val="800"/>
              </a:spcAft>
              <a:buClr>
                <a:srgbClr val="B08A3E"/>
              </a:buClr>
              <a:buFont typeface="Arial"/>
              <a:buChar char="•"/>
            </a:pPr>
            <a:r>
              <a:rPr sz="1500" b="1">
                <a:solidFill>
                  <a:srgbClr val="B08A3E"/>
                </a:solidFill>
                <a:latin typeface="Calibri"/>
              </a:rPr>
              <a:t>Variant 7: </a:t>
            </a:r>
            <a:r>
              <a:rPr sz="1500" b="0">
                <a:solidFill>
                  <a:srgbClr val="1F2533"/>
                </a:solidFill>
                <a:latin typeface="Calibri"/>
              </a:rPr>
              <a:t>/api/wordcount — words, characters, longest word</a:t>
            </a:r>
          </a:p>
        </p:txBody>
      </p:sp>
      <p:sp>
        <p:nvSpPr>
          <p:cNvPr id="8" name="Rounded Rectangle 7"/>
          <p:cNvSpPr/>
          <p:nvPr/>
        </p:nvSpPr>
        <p:spPr>
          <a:xfrm>
            <a:off x="6126480" y="1508760"/>
            <a:ext cx="5486400" cy="26060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19"/>
            <a:ext cx="4937760" cy="320040"/>
          </a:xfrm>
          <a:prstGeom prst="rect">
            <a:avLst/>
          </a:prstGeom>
          <a:noFill/>
        </p:spPr>
        <p:txBody>
          <a:bodyPr wrap="square" anchor="t" lIns="0" rIns="0" tIns="0" bIns="0">
            <a:spAutoFit/>
          </a:bodyPr>
          <a:lstStyle/>
          <a:p>
            <a:pPr algn="l">
              <a:spcAft>
                <a:spcPts val="0"/>
              </a:spcAft>
            </a:pPr>
            <a:r>
              <a:rPr sz="1100" b="1" i="0">
                <a:solidFill>
                  <a:srgbClr val="B08A3E"/>
                </a:solidFill>
                <a:latin typeface="Calibri"/>
              </a:rPr>
              <a:t>web/HelloController.java</a:t>
            </a:r>
          </a:p>
        </p:txBody>
      </p:sp>
      <p:sp>
        <p:nvSpPr>
          <p:cNvPr id="10" name="TextBox 9"/>
          <p:cNvSpPr txBox="1"/>
          <p:nvPr/>
        </p:nvSpPr>
        <p:spPr>
          <a:xfrm>
            <a:off x="6400800" y="2011680"/>
            <a:ext cx="4937760" cy="1965960"/>
          </a:xfrm>
          <a:prstGeom prst="rect">
            <a:avLst/>
          </a:prstGeom>
          <a:noFill/>
        </p:spPr>
        <p:txBody>
          <a:bodyPr wrap="square" anchor="t" lIns="0" rIns="0" tIns="0" bIns="0">
            <a:spAutoFit/>
          </a:bodyPr>
          <a:lstStyle/>
          <a:p>
            <a:pPr algn="l">
              <a:lnSpc>
                <a:spcPct val="105000"/>
              </a:lnSpc>
              <a:spcAft>
                <a:spcPts val="0"/>
              </a:spcAft>
            </a:pPr>
            <a:r>
              <a:rPr sz="1200" b="0" i="0">
                <a:solidFill>
                  <a:srgbClr val="E4E8EF"/>
                </a:solidFill>
                <a:latin typeface="Courier New"/>
              </a:rPr>
              <a:t>@GetMapping("/wordcount")</a:t>
            </a:r>
          </a:p>
          <a:p>
            <a:pPr algn="l">
              <a:lnSpc>
                <a:spcPct val="105000"/>
              </a:lnSpc>
              <a:spcAft>
                <a:spcPts val="0"/>
              </a:spcAft>
            </a:pPr>
            <a:r>
              <a:rPr sz="1200" b="0" i="0">
                <a:solidFill>
                  <a:srgbClr val="E4E8EF"/>
                </a:solidFill>
                <a:latin typeface="Courier New"/>
              </a:rPr>
              <a:t>public WordCount wordCount(</a:t>
            </a:r>
          </a:p>
          <a:p>
            <a:pPr algn="l">
              <a:lnSpc>
                <a:spcPct val="105000"/>
              </a:lnSpc>
              <a:spcAft>
                <a:spcPts val="0"/>
              </a:spcAft>
            </a:pPr>
            <a:r>
              <a:rPr sz="1200" b="0" i="0">
                <a:solidFill>
                  <a:srgbClr val="E4E8EF"/>
                </a:solidFill>
                <a:latin typeface="Courier New"/>
              </a:rPr>
              <a:t>    @RequestParam(defaultValue = "") String text) {</a:t>
            </a:r>
          </a:p>
          <a:p>
            <a:pPr algn="l">
              <a:lnSpc>
                <a:spcPct val="105000"/>
              </a:lnSpc>
              <a:spcAft>
                <a:spcPts val="0"/>
              </a:spcAft>
            </a:pPr>
            <a:r>
              <a:rPr sz="1200" b="0" i="0">
                <a:solidFill>
                  <a:srgbClr val="E4E8EF"/>
                </a:solidFill>
                <a:latin typeface="Courier New"/>
              </a:rPr>
              <a:t>  String trimmed = text.trim();</a:t>
            </a:r>
          </a:p>
          <a:p>
            <a:pPr algn="l">
              <a:lnSpc>
                <a:spcPct val="105000"/>
              </a:lnSpc>
              <a:spcAft>
                <a:spcPts val="0"/>
              </a:spcAft>
            </a:pPr>
            <a:r>
              <a:rPr sz="1200" b="0" i="0">
                <a:solidFill>
                  <a:srgbClr val="E4E8EF"/>
                </a:solidFill>
                <a:latin typeface="Courier New"/>
              </a:rPr>
              <a:t>  if (trimmed.isEmpty())</a:t>
            </a:r>
          </a:p>
          <a:p>
            <a:pPr algn="l">
              <a:lnSpc>
                <a:spcPct val="105000"/>
              </a:lnSpc>
              <a:spcAft>
                <a:spcPts val="0"/>
              </a:spcAft>
            </a:pPr>
            <a:r>
              <a:rPr sz="1200" b="0" i="0">
                <a:solidFill>
                  <a:srgbClr val="E4E8EF"/>
                </a:solidFill>
                <a:latin typeface="Courier New"/>
              </a:rPr>
              <a:t>      return new WordCount(0, 0, "");</a:t>
            </a:r>
          </a:p>
          <a:p>
            <a:pPr algn="l">
              <a:lnSpc>
                <a:spcPct val="105000"/>
              </a:lnSpc>
              <a:spcAft>
                <a:spcPts val="0"/>
              </a:spcAft>
            </a:pPr>
            <a:r>
              <a:rPr sz="1200" b="0" i="0">
                <a:solidFill>
                  <a:srgbClr val="E4E8EF"/>
                </a:solidFill>
                <a:latin typeface="Courier New"/>
              </a:rPr>
              <a:t>  String[] words = trimmed.split("\\s+");</a:t>
            </a:r>
          </a:p>
          <a:p>
            <a:pPr algn="l">
              <a:lnSpc>
                <a:spcPct val="105000"/>
              </a:lnSpc>
              <a:spcAft>
                <a:spcPts val="0"/>
              </a:spcAft>
            </a:pPr>
            <a:r>
              <a:rPr sz="1200" b="0" i="0">
                <a:solidFill>
                  <a:srgbClr val="E4E8EF"/>
                </a:solidFill>
                <a:latin typeface="Courier New"/>
              </a:rPr>
              <a:t>  ...</a:t>
            </a:r>
          </a:p>
        </p:txBody>
      </p:sp>
      <p:graphicFrame>
        <p:nvGraphicFramePr>
          <p:cNvPr id="11" name="Table 10"/>
          <p:cNvGraphicFramePr>
            <a:graphicFrameLocks noGrp="1"/>
          </p:cNvGraphicFramePr>
          <p:nvPr/>
        </p:nvGraphicFramePr>
        <p:xfrm>
          <a:off x="548640" y="4526280"/>
          <a:ext cx="11064240" cy="1536192"/>
        </p:xfrm>
        <a:graphic>
          <a:graphicData uri="http://schemas.openxmlformats.org/drawingml/2006/table">
            <a:tbl>
              <a:tblPr firstRow="1" bandRow="1">
                <a:tableStyleId>{5C22544A-7EE6-4342-B048-85BDC9FD1C3A}</a:tableStyleId>
              </a:tblPr>
              <a:tblGrid>
                <a:gridCol w="4754880"/>
                <a:gridCol w="2011680"/>
                <a:gridCol w="2194560"/>
                <a:gridCol w="2103120"/>
              </a:tblGrid>
              <a:tr h="384048">
                <a:tc>
                  <a:txBody>
                    <a:bodyPr/>
                    <a:lstStyle/>
                    <a:p>
                      <a:r>
                        <a:rPr sz="1400" b="1">
                          <a:solidFill>
                            <a:srgbClr val="FFFFFF"/>
                          </a:solidFill>
                          <a:latin typeface="Calibri"/>
                        </a:rPr>
                        <a:t>Input text</a:t>
                      </a:r>
                    </a:p>
                  </a:txBody>
                  <a:tcPr marL="109728" marR="109728" anchor="ctr">
                    <a:solidFill>
                      <a:srgbClr val="1B2A41"/>
                    </a:solidFill>
                  </a:tcPr>
                </a:tc>
                <a:tc>
                  <a:txBody>
                    <a:bodyPr/>
                    <a:lstStyle/>
                    <a:p>
                      <a:r>
                        <a:rPr sz="1400" b="1">
                          <a:solidFill>
                            <a:srgbClr val="FFFFFF"/>
                          </a:solidFill>
                          <a:latin typeface="Calibri"/>
                        </a:rPr>
                        <a:t>wordCount</a:t>
                      </a:r>
                    </a:p>
                  </a:txBody>
                  <a:tcPr marL="109728" marR="109728" anchor="ctr">
                    <a:solidFill>
                      <a:srgbClr val="1B2A41"/>
                    </a:solidFill>
                  </a:tcPr>
                </a:tc>
                <a:tc>
                  <a:txBody>
                    <a:bodyPr/>
                    <a:lstStyle/>
                    <a:p>
                      <a:r>
                        <a:rPr sz="1400" b="1">
                          <a:solidFill>
                            <a:srgbClr val="FFFFFF"/>
                          </a:solidFill>
                          <a:latin typeface="Calibri"/>
                        </a:rPr>
                        <a:t>characterCount</a:t>
                      </a:r>
                    </a:p>
                  </a:txBody>
                  <a:tcPr marL="109728" marR="109728" anchor="ctr">
                    <a:solidFill>
                      <a:srgbClr val="1B2A41"/>
                    </a:solidFill>
                  </a:tcPr>
                </a:tc>
                <a:tc>
                  <a:txBody>
                    <a:bodyPr/>
                    <a:lstStyle/>
                    <a:p>
                      <a:r>
                        <a:rPr sz="1400" b="1">
                          <a:solidFill>
                            <a:srgbClr val="FFFFFF"/>
                          </a:solidFill>
                          <a:latin typeface="Calibri"/>
                        </a:rPr>
                        <a:t>longestWord</a:t>
                      </a:r>
                    </a:p>
                  </a:txBody>
                  <a:tcPr marL="109728" marR="109728" anchor="ctr">
                    <a:solidFill>
                      <a:srgbClr val="1B2A41"/>
                    </a:solidFill>
                  </a:tcPr>
                </a:tc>
              </a:tr>
              <a:tr h="384048">
                <a:tc>
                  <a:txBody>
                    <a:bodyPr/>
                    <a:lstStyle/>
                    <a:p>
                      <a:r>
                        <a:rPr sz="1400" b="1">
                          <a:solidFill>
                            <a:srgbClr val="1F2533"/>
                          </a:solidFill>
                          <a:latin typeface="Calibri"/>
                        </a:rPr>
                        <a:t>Hello World</a:t>
                      </a:r>
                    </a:p>
                  </a:txBody>
                  <a:tcPr marL="109728" marR="109728" anchor="ctr">
                    <a:solidFill>
                      <a:srgbClr val="FFFFFF"/>
                    </a:solidFill>
                  </a:tcPr>
                </a:tc>
                <a:tc>
                  <a:txBody>
                    <a:bodyPr/>
                    <a:lstStyle/>
                    <a:p>
                      <a:r>
                        <a:rPr sz="1400" b="0">
                          <a:solidFill>
                            <a:srgbClr val="1F2533"/>
                          </a:solidFill>
                          <a:latin typeface="Calibri"/>
                        </a:rPr>
                        <a:t>2</a:t>
                      </a:r>
                    </a:p>
                  </a:txBody>
                  <a:tcPr marL="109728" marR="109728" anchor="ctr">
                    <a:solidFill>
                      <a:srgbClr val="FFFFFF"/>
                    </a:solidFill>
                  </a:tcPr>
                </a:tc>
                <a:tc>
                  <a:txBody>
                    <a:bodyPr/>
                    <a:lstStyle/>
                    <a:p>
                      <a:r>
                        <a:rPr sz="1400" b="0">
                          <a:solidFill>
                            <a:srgbClr val="1F2533"/>
                          </a:solidFill>
                          <a:latin typeface="Calibri"/>
                        </a:rPr>
                        <a:t>11</a:t>
                      </a:r>
                    </a:p>
                  </a:txBody>
                  <a:tcPr marL="109728" marR="109728" anchor="ctr">
                    <a:solidFill>
                      <a:srgbClr val="FFFFFF"/>
                    </a:solidFill>
                  </a:tcPr>
                </a:tc>
                <a:tc>
                  <a:txBody>
                    <a:bodyPr/>
                    <a:lstStyle/>
                    <a:p>
                      <a:r>
                        <a:rPr sz="1400" b="0">
                          <a:solidFill>
                            <a:srgbClr val="1F2533"/>
                          </a:solidFill>
                          <a:latin typeface="Calibri"/>
                        </a:rPr>
                        <a:t>Hello</a:t>
                      </a:r>
                    </a:p>
                  </a:txBody>
                  <a:tcPr marL="109728" marR="109728" anchor="ctr">
                    <a:solidFill>
                      <a:srgbClr val="FFFFFF"/>
                    </a:solidFill>
                  </a:tcPr>
                </a:tc>
              </a:tr>
              <a:tr h="384048">
                <a:tc>
                  <a:txBody>
                    <a:bodyPr/>
                    <a:lstStyle/>
                    <a:p>
                      <a:r>
                        <a:rPr sz="1400" b="1">
                          <a:solidFill>
                            <a:srgbClr val="1F2533"/>
                          </a:solidFill>
                          <a:latin typeface="Calibri"/>
                        </a:rPr>
                        <a:t>Spring Boot is very interesting</a:t>
                      </a:r>
                    </a:p>
                  </a:txBody>
                  <a:tcPr marL="109728" marR="109728" anchor="ctr">
                    <a:solidFill>
                      <a:srgbClr val="F1F3F7"/>
                    </a:solidFill>
                  </a:tcPr>
                </a:tc>
                <a:tc>
                  <a:txBody>
                    <a:bodyPr/>
                    <a:lstStyle/>
                    <a:p>
                      <a:r>
                        <a:rPr sz="1400" b="0">
                          <a:solidFill>
                            <a:srgbClr val="1F2533"/>
                          </a:solidFill>
                          <a:latin typeface="Calibri"/>
                        </a:rPr>
                        <a:t>5</a:t>
                      </a:r>
                    </a:p>
                  </a:txBody>
                  <a:tcPr marL="109728" marR="109728" anchor="ctr">
                    <a:solidFill>
                      <a:srgbClr val="F1F3F7"/>
                    </a:solidFill>
                  </a:tcPr>
                </a:tc>
                <a:tc>
                  <a:txBody>
                    <a:bodyPr/>
                    <a:lstStyle/>
                    <a:p>
                      <a:r>
                        <a:rPr sz="1400" b="0">
                          <a:solidFill>
                            <a:srgbClr val="1F2533"/>
                          </a:solidFill>
                          <a:latin typeface="Calibri"/>
                        </a:rPr>
                        <a:t>31</a:t>
                      </a:r>
                    </a:p>
                  </a:txBody>
                  <a:tcPr marL="109728" marR="109728" anchor="ctr">
                    <a:solidFill>
                      <a:srgbClr val="F1F3F7"/>
                    </a:solidFill>
                  </a:tcPr>
                </a:tc>
                <a:tc>
                  <a:txBody>
                    <a:bodyPr/>
                    <a:lstStyle/>
                    <a:p>
                      <a:r>
                        <a:rPr sz="1400" b="0">
                          <a:solidFill>
                            <a:srgbClr val="1F2533"/>
                          </a:solidFill>
                          <a:latin typeface="Calibri"/>
                        </a:rPr>
                        <a:t>interesting</a:t>
                      </a:r>
                    </a:p>
                  </a:txBody>
                  <a:tcPr marL="109728" marR="109728" anchor="ctr">
                    <a:solidFill>
                      <a:srgbClr val="F1F3F7"/>
                    </a:solidFill>
                  </a:tcPr>
                </a:tc>
              </a:tr>
              <a:tr h="384048">
                <a:tc>
                  <a:txBody>
                    <a:bodyPr/>
                    <a:lstStyle/>
                    <a:p>
                      <a:r>
                        <a:rPr sz="1400" b="1">
                          <a:solidFill>
                            <a:srgbClr val="1F2533"/>
                          </a:solidFill>
                          <a:latin typeface="Calibri"/>
                        </a:rPr>
                        <a:t>(parameter omitted)</a:t>
                      </a:r>
                    </a:p>
                  </a:txBody>
                  <a:tcPr marL="109728" marR="109728" anchor="ctr">
                    <a:solidFill>
                      <a:srgbClr val="FFFFFF"/>
                    </a:solidFill>
                  </a:tcPr>
                </a:tc>
                <a:tc>
                  <a:txBody>
                    <a:bodyPr/>
                    <a:lstStyle/>
                    <a:p>
                      <a:r>
                        <a:rPr sz="1400" b="0">
                          <a:solidFill>
                            <a:srgbClr val="1F2533"/>
                          </a:solidFill>
                          <a:latin typeface="Calibri"/>
                        </a:rPr>
                        <a:t>0</a:t>
                      </a:r>
                    </a:p>
                  </a:txBody>
                  <a:tcPr marL="109728" marR="109728" anchor="ctr">
                    <a:solidFill>
                      <a:srgbClr val="FFFFFF"/>
                    </a:solidFill>
                  </a:tcPr>
                </a:tc>
                <a:tc>
                  <a:txBody>
                    <a:bodyPr/>
                    <a:lstStyle/>
                    <a:p>
                      <a:r>
                        <a:rPr sz="1400" b="0">
                          <a:solidFill>
                            <a:srgbClr val="1F2533"/>
                          </a:solidFill>
                          <a:latin typeface="Calibri"/>
                        </a:rPr>
                        <a:t>0</a:t>
                      </a:r>
                    </a:p>
                  </a:txBody>
                  <a:tcPr marL="109728" marR="109728" anchor="ctr">
                    <a:solidFill>
                      <a:srgbClr val="FFFFFF"/>
                    </a:solidFill>
                  </a:tcPr>
                </a:tc>
                <a:tc>
                  <a:txBody>
                    <a:bodyPr/>
                    <a:lstStyle/>
                    <a:p>
                      <a:r>
                        <a:rPr sz="1400" b="0">
                          <a:solidFill>
                            <a:srgbClr val="1F2533"/>
                          </a:solidFill>
                          <a:latin typeface="Calibri"/>
                        </a:rPr>
                        <a:t>""</a:t>
                      </a:r>
                    </a:p>
                  </a:txBody>
                  <a:tcPr marL="109728" marR="109728"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IoC container: beans, injection, scopes</a:t>
            </a:r>
          </a:p>
        </p:txBody>
      </p:sp>
      <p:sp>
        <p:nvSpPr>
          <p:cNvPr id="3" name="Rounded Rectangle 2"/>
          <p:cNvSpPr/>
          <p:nvPr/>
        </p:nvSpPr>
        <p:spPr>
          <a:xfrm>
            <a:off x="9646920" y="502920"/>
            <a:ext cx="2011680" cy="50292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Lab 2  ·  V8</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5</a:t>
            </a:r>
          </a:p>
        </p:txBody>
      </p:sp>
      <p:sp>
        <p:nvSpPr>
          <p:cNvPr id="7" name="Oval 6"/>
          <p:cNvSpPr/>
          <p:nvPr/>
        </p:nvSpPr>
        <p:spPr>
          <a:xfrm>
            <a:off x="731520" y="1554480"/>
            <a:ext cx="1005840" cy="10058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200">
                <a:solidFill>
                  <a:srgbClr val="FFFFFF"/>
                </a:solidFill>
                <a:latin typeface="Cambria"/>
              </a:rPr>
              <a:t>1</a:t>
            </a:r>
          </a:p>
        </p:txBody>
      </p:sp>
      <p:sp>
        <p:nvSpPr>
          <p:cNvPr id="8" name="TextBox 7"/>
          <p:cNvSpPr txBox="1"/>
          <p:nvPr/>
        </p:nvSpPr>
        <p:spPr>
          <a:xfrm>
            <a:off x="548640" y="2651760"/>
            <a:ext cx="1371600" cy="320040"/>
          </a:xfrm>
          <a:prstGeom prst="rect">
            <a:avLst/>
          </a:prstGeom>
          <a:noFill/>
        </p:spPr>
        <p:txBody>
          <a:bodyPr wrap="square" anchor="t" lIns="0" rIns="0" tIns="0" bIns="0">
            <a:spAutoFit/>
          </a:bodyPr>
          <a:lstStyle/>
          <a:p>
            <a:pPr algn="ctr">
              <a:spcAft>
                <a:spcPts val="0"/>
              </a:spcAft>
            </a:pPr>
            <a:r>
              <a:rPr sz="1500" b="1" i="0">
                <a:solidFill>
                  <a:srgbClr val="1B2A41"/>
                </a:solidFill>
                <a:latin typeface="Calibri"/>
              </a:rPr>
              <a:t>console</a:t>
            </a:r>
          </a:p>
        </p:txBody>
      </p:sp>
      <p:sp>
        <p:nvSpPr>
          <p:cNvPr id="9" name="TextBox 8"/>
          <p:cNvSpPr txBox="1"/>
          <p:nvPr/>
        </p:nvSpPr>
        <p:spPr>
          <a:xfrm>
            <a:off x="548640" y="2971800"/>
            <a:ext cx="1371600" cy="320040"/>
          </a:xfrm>
          <a:prstGeom prst="rect">
            <a:avLst/>
          </a:prstGeom>
          <a:noFill/>
        </p:spPr>
        <p:txBody>
          <a:bodyPr wrap="square" anchor="t" lIns="0" rIns="0" tIns="0" bIns="0">
            <a:spAutoFit/>
          </a:bodyPr>
          <a:lstStyle/>
          <a:p>
            <a:pPr algn="ctr">
              <a:spcAft>
                <a:spcPts val="0"/>
              </a:spcAft>
            </a:pPr>
            <a:r>
              <a:rPr sz="1200" b="0" i="0">
                <a:solidFill>
                  <a:srgbClr val="5A6372"/>
                </a:solidFill>
                <a:latin typeface="Calibri"/>
              </a:rPr>
              <a:t>@Order(1)</a:t>
            </a:r>
          </a:p>
        </p:txBody>
      </p:sp>
      <p:sp>
        <p:nvSpPr>
          <p:cNvPr id="10" name="Oval 9"/>
          <p:cNvSpPr/>
          <p:nvPr/>
        </p:nvSpPr>
        <p:spPr>
          <a:xfrm>
            <a:off x="2194560" y="1554480"/>
            <a:ext cx="1005840" cy="1005840"/>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200">
                <a:solidFill>
                  <a:srgbClr val="FFFFFF"/>
                </a:solidFill>
                <a:latin typeface="Cambria"/>
              </a:rPr>
              <a:t>2</a:t>
            </a:r>
          </a:p>
        </p:txBody>
      </p:sp>
      <p:sp>
        <p:nvSpPr>
          <p:cNvPr id="11" name="TextBox 10"/>
          <p:cNvSpPr txBox="1"/>
          <p:nvPr/>
        </p:nvSpPr>
        <p:spPr>
          <a:xfrm>
            <a:off x="2011680" y="2651760"/>
            <a:ext cx="1371600" cy="320040"/>
          </a:xfrm>
          <a:prstGeom prst="rect">
            <a:avLst/>
          </a:prstGeom>
          <a:noFill/>
        </p:spPr>
        <p:txBody>
          <a:bodyPr wrap="square" anchor="t" lIns="0" rIns="0" tIns="0" bIns="0">
            <a:spAutoFit/>
          </a:bodyPr>
          <a:lstStyle/>
          <a:p>
            <a:pPr algn="ctr">
              <a:spcAft>
                <a:spcPts val="0"/>
              </a:spcAft>
            </a:pPr>
            <a:r>
              <a:rPr sz="1500" b="1" i="0">
                <a:solidFill>
                  <a:srgbClr val="1B2A41"/>
                </a:solidFill>
                <a:latin typeface="Calibri"/>
              </a:rPr>
              <a:t>email</a:t>
            </a:r>
          </a:p>
        </p:txBody>
      </p:sp>
      <p:sp>
        <p:nvSpPr>
          <p:cNvPr id="12" name="TextBox 11"/>
          <p:cNvSpPr txBox="1"/>
          <p:nvPr/>
        </p:nvSpPr>
        <p:spPr>
          <a:xfrm>
            <a:off x="2011680" y="2971800"/>
            <a:ext cx="1371600" cy="320040"/>
          </a:xfrm>
          <a:prstGeom prst="rect">
            <a:avLst/>
          </a:prstGeom>
          <a:noFill/>
        </p:spPr>
        <p:txBody>
          <a:bodyPr wrap="square" anchor="t" lIns="0" rIns="0" tIns="0" bIns="0">
            <a:spAutoFit/>
          </a:bodyPr>
          <a:lstStyle/>
          <a:p>
            <a:pPr algn="ctr">
              <a:spcAft>
                <a:spcPts val="0"/>
              </a:spcAft>
            </a:pPr>
            <a:r>
              <a:rPr sz="1200" b="0" i="0">
                <a:solidFill>
                  <a:srgbClr val="5A6372"/>
                </a:solidFill>
                <a:latin typeface="Calibri"/>
              </a:rPr>
              <a:t>@Primary</a:t>
            </a:r>
          </a:p>
        </p:txBody>
      </p:sp>
      <p:sp>
        <p:nvSpPr>
          <p:cNvPr id="13" name="Oval 12"/>
          <p:cNvSpPr/>
          <p:nvPr/>
        </p:nvSpPr>
        <p:spPr>
          <a:xfrm>
            <a:off x="3657600" y="1554480"/>
            <a:ext cx="1005840" cy="1005840"/>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200">
                <a:solidFill>
                  <a:srgbClr val="FFFFFF"/>
                </a:solidFill>
                <a:latin typeface="Cambria"/>
              </a:rPr>
              <a:t>3</a:t>
            </a:r>
          </a:p>
        </p:txBody>
      </p:sp>
      <p:sp>
        <p:nvSpPr>
          <p:cNvPr id="14" name="TextBox 13"/>
          <p:cNvSpPr txBox="1"/>
          <p:nvPr/>
        </p:nvSpPr>
        <p:spPr>
          <a:xfrm>
            <a:off x="3474720" y="2651760"/>
            <a:ext cx="1371600" cy="320040"/>
          </a:xfrm>
          <a:prstGeom prst="rect">
            <a:avLst/>
          </a:prstGeom>
          <a:noFill/>
        </p:spPr>
        <p:txBody>
          <a:bodyPr wrap="square" anchor="t" lIns="0" rIns="0" tIns="0" bIns="0">
            <a:spAutoFit/>
          </a:bodyPr>
          <a:lstStyle/>
          <a:p>
            <a:pPr algn="ctr">
              <a:spcAft>
                <a:spcPts val="0"/>
              </a:spcAft>
            </a:pPr>
            <a:r>
              <a:rPr sz="1500" b="1" i="0">
                <a:solidFill>
                  <a:srgbClr val="1B2A41"/>
                </a:solidFill>
                <a:latin typeface="Calibri"/>
              </a:rPr>
              <a:t>html</a:t>
            </a:r>
          </a:p>
        </p:txBody>
      </p:sp>
      <p:sp>
        <p:nvSpPr>
          <p:cNvPr id="15" name="TextBox 14"/>
          <p:cNvSpPr txBox="1"/>
          <p:nvPr/>
        </p:nvSpPr>
        <p:spPr>
          <a:xfrm>
            <a:off x="3474720" y="2971800"/>
            <a:ext cx="1371600" cy="320040"/>
          </a:xfrm>
          <a:prstGeom prst="rect">
            <a:avLst/>
          </a:prstGeom>
          <a:noFill/>
        </p:spPr>
        <p:txBody>
          <a:bodyPr wrap="square" anchor="t" lIns="0" rIns="0" tIns="0" bIns="0">
            <a:spAutoFit/>
          </a:bodyPr>
          <a:lstStyle/>
          <a:p>
            <a:pPr algn="ctr">
              <a:spcAft>
                <a:spcPts val="0"/>
              </a:spcAft>
            </a:pPr>
            <a:r>
              <a:rPr sz="1200" b="0" i="0">
                <a:solidFill>
                  <a:srgbClr val="5A6372"/>
                </a:solidFill>
                <a:latin typeface="Calibri"/>
              </a:rPr>
              <a:t>V8 · escape</a:t>
            </a:r>
          </a:p>
        </p:txBody>
      </p:sp>
      <p:sp>
        <p:nvSpPr>
          <p:cNvPr id="16" name="Oval 15"/>
          <p:cNvSpPr/>
          <p:nvPr/>
        </p:nvSpPr>
        <p:spPr>
          <a:xfrm>
            <a:off x="5120640" y="1554480"/>
            <a:ext cx="1005840" cy="10058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200">
                <a:solidFill>
                  <a:srgbClr val="FFFFFF"/>
                </a:solidFill>
                <a:latin typeface="Cambria"/>
              </a:rPr>
              <a:t>99</a:t>
            </a:r>
          </a:p>
        </p:txBody>
      </p:sp>
      <p:sp>
        <p:nvSpPr>
          <p:cNvPr id="17" name="TextBox 16"/>
          <p:cNvSpPr txBox="1"/>
          <p:nvPr/>
        </p:nvSpPr>
        <p:spPr>
          <a:xfrm>
            <a:off x="4937760" y="2651760"/>
            <a:ext cx="1371600" cy="320040"/>
          </a:xfrm>
          <a:prstGeom prst="rect">
            <a:avLst/>
          </a:prstGeom>
          <a:noFill/>
        </p:spPr>
        <p:txBody>
          <a:bodyPr wrap="square" anchor="t" lIns="0" rIns="0" tIns="0" bIns="0">
            <a:spAutoFit/>
          </a:bodyPr>
          <a:lstStyle/>
          <a:p>
            <a:pPr algn="ctr">
              <a:spcAft>
                <a:spcPts val="0"/>
              </a:spcAft>
            </a:pPr>
            <a:r>
              <a:rPr sz="1500" b="1" i="0">
                <a:solidFill>
                  <a:srgbClr val="1B2A41"/>
                </a:solidFill>
                <a:latin typeface="Calibri"/>
              </a:rPr>
              <a:t>noop</a:t>
            </a:r>
          </a:p>
        </p:txBody>
      </p:sp>
      <p:sp>
        <p:nvSpPr>
          <p:cNvPr id="18" name="TextBox 17"/>
          <p:cNvSpPr txBox="1"/>
          <p:nvPr/>
        </p:nvSpPr>
        <p:spPr>
          <a:xfrm>
            <a:off x="4937760" y="2971800"/>
            <a:ext cx="1371600" cy="320040"/>
          </a:xfrm>
          <a:prstGeom prst="rect">
            <a:avLst/>
          </a:prstGeom>
          <a:noFill/>
        </p:spPr>
        <p:txBody>
          <a:bodyPr wrap="square" anchor="t" lIns="0" rIns="0" tIns="0" bIns="0">
            <a:spAutoFit/>
          </a:bodyPr>
          <a:lstStyle/>
          <a:p>
            <a:pPr algn="ctr">
              <a:spcAft>
                <a:spcPts val="0"/>
              </a:spcAft>
            </a:pPr>
            <a:r>
              <a:rPr sz="1200" b="0" i="0">
                <a:solidFill>
                  <a:srgbClr val="5A6372"/>
                </a:solidFill>
                <a:latin typeface="Calibri"/>
              </a:rPr>
              <a:t>@Fallback</a:t>
            </a:r>
          </a:p>
        </p:txBody>
      </p:sp>
      <p:sp>
        <p:nvSpPr>
          <p:cNvPr id="19" name="TextBox 18"/>
          <p:cNvSpPr txBox="1"/>
          <p:nvPr/>
        </p:nvSpPr>
        <p:spPr>
          <a:xfrm>
            <a:off x="548640" y="3520440"/>
            <a:ext cx="5669280" cy="32004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List&lt;Notifier&gt; is ordered by @Order: console → email → html → noop</a:t>
            </a:r>
          </a:p>
        </p:txBody>
      </p:sp>
      <p:sp>
        <p:nvSpPr>
          <p:cNvPr id="20" name="TextBox 19"/>
          <p:cNvSpPr txBox="1"/>
          <p:nvPr/>
        </p:nvSpPr>
        <p:spPr>
          <a:xfrm>
            <a:off x="548640" y="4023360"/>
            <a:ext cx="5669280" cy="2286000"/>
          </a:xfrm>
          <a:prstGeom prst="rect">
            <a:avLst/>
          </a:prstGeom>
          <a:noFill/>
        </p:spPr>
        <p:txBody>
          <a:bodyPr wrap="square" lIns="0" rIns="0" tIns="0" bIns="0">
            <a:spAutoFit/>
          </a:bodyPr>
          <a:lstStyle/>
          <a:p>
            <a:pPr marL="274320" indent="-274320">
              <a:spcAft>
                <a:spcPts val="600"/>
              </a:spcAft>
              <a:buClr>
                <a:srgbClr val="B08A3E"/>
              </a:buClr>
              <a:buFont typeface="Arial"/>
              <a:buChar char="•"/>
            </a:pPr>
            <a:r>
              <a:rPr sz="1400" b="1">
                <a:solidFill>
                  <a:srgbClr val="1F2533"/>
                </a:solidFill>
                <a:latin typeface="Calibri"/>
              </a:rPr>
              <a:t>@Primary / @Qualifier / List / Map</a:t>
            </a:r>
            <a:r>
              <a:rPr sz="1400" b="0">
                <a:solidFill>
                  <a:srgbClr val="1F2533"/>
                </a:solidFill>
                <a:latin typeface="Calibri"/>
              </a:rPr>
              <a:t> — 4 ways to pick a bean</a:t>
            </a:r>
          </a:p>
          <a:p>
            <a:pPr marL="274320" indent="-274320">
              <a:spcAft>
                <a:spcPts val="600"/>
              </a:spcAft>
              <a:buClr>
                <a:srgbClr val="B08A3E"/>
              </a:buClr>
              <a:buFont typeface="Arial"/>
              <a:buChar char="•"/>
            </a:pPr>
            <a:r>
              <a:rPr sz="1400" b="1">
                <a:solidFill>
                  <a:srgbClr val="1F2533"/>
                </a:solidFill>
                <a:latin typeface="Calibri"/>
              </a:rPr>
              <a:t>@Bean reportDateFormatter</a:t>
            </a:r>
            <a:r>
              <a:rPr sz="1400" b="0">
                <a:solidFill>
                  <a:srgbClr val="1F2533"/>
                </a:solidFill>
                <a:latin typeface="Calibri"/>
              </a:rPr>
              <a:t> — a JDK class without @Component</a:t>
            </a:r>
          </a:p>
          <a:p>
            <a:pPr marL="274320" indent="-274320">
              <a:spcAft>
                <a:spcPts val="600"/>
              </a:spcAft>
              <a:buClr>
                <a:srgbClr val="B08A3E"/>
              </a:buClr>
              <a:buFont typeface="Arial"/>
              <a:buChar char="•"/>
            </a:pPr>
            <a:r>
              <a:rPr sz="1400" b="1">
                <a:solidFill>
                  <a:srgbClr val="1F2533"/>
                </a:solidFill>
                <a:latin typeface="Calibri"/>
              </a:rPr>
              <a:t>LifecycleDemo:</a:t>
            </a:r>
            <a:r>
              <a:rPr sz="1400" b="0">
                <a:solidFill>
                  <a:srgbClr val="1F2533"/>
                </a:solidFill>
                <a:latin typeface="Calibri"/>
              </a:rPr>
              <a:t> constructor → @PostConstruct → @PreDestroy</a:t>
            </a:r>
          </a:p>
          <a:p>
            <a:pPr marL="274320" indent="-274320">
              <a:spcAft>
                <a:spcPts val="600"/>
              </a:spcAft>
              <a:buClr>
                <a:srgbClr val="B08A3E"/>
              </a:buClr>
              <a:buFont typeface="Arial"/>
              <a:buChar char="•"/>
            </a:pPr>
            <a:r>
              <a:rPr sz="1400" b="1">
                <a:solidFill>
                  <a:srgbClr val="1F2533"/>
                </a:solidFill>
                <a:latin typeface="Calibri"/>
              </a:rPr>
              <a:t>Ticket (prototype):</a:t>
            </a:r>
            <a:r>
              <a:rPr sz="1400" b="0">
                <a:solidFill>
                  <a:srgbClr val="1F2533"/>
                </a:solidFill>
                <a:latin typeface="Calibri"/>
              </a:rPr>
              <a:t> a new instance only through ObjectProvider</a:t>
            </a:r>
          </a:p>
        </p:txBody>
      </p:sp>
      <p:sp>
        <p:nvSpPr>
          <p:cNvPr id="21" name="Rounded Rectangle 20"/>
          <p:cNvSpPr/>
          <p:nvPr/>
        </p:nvSpPr>
        <p:spPr>
          <a:xfrm>
            <a:off x="6675120" y="1508760"/>
            <a:ext cx="4937760" cy="219456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0" y="1645920"/>
            <a:ext cx="4389120" cy="365760"/>
          </a:xfrm>
          <a:prstGeom prst="rect">
            <a:avLst/>
          </a:prstGeom>
          <a:noFill/>
        </p:spPr>
        <p:txBody>
          <a:bodyPr wrap="square" anchor="t" lIns="0" rIns="0" tIns="0" bIns="0">
            <a:spAutoFit/>
          </a:bodyPr>
          <a:lstStyle/>
          <a:p>
            <a:pPr algn="l">
              <a:spcAft>
                <a:spcPts val="0"/>
              </a:spcAft>
            </a:pPr>
            <a:r>
              <a:rPr sz="1700" b="1" i="0">
                <a:solidFill>
                  <a:srgbClr val="1B2A41"/>
                </a:solidFill>
                <a:latin typeface="Calibri"/>
              </a:rPr>
              <a:t>Variant 8 · HtmlNotifier</a:t>
            </a:r>
          </a:p>
        </p:txBody>
      </p:sp>
      <p:sp>
        <p:nvSpPr>
          <p:cNvPr id="23" name="TextBox 22"/>
          <p:cNvSpPr txBox="1"/>
          <p:nvPr/>
        </p:nvSpPr>
        <p:spPr>
          <a:xfrm>
            <a:off x="6949440" y="2103120"/>
            <a:ext cx="4389120" cy="1463040"/>
          </a:xfrm>
          <a:prstGeom prst="rect">
            <a:avLst/>
          </a:prstGeom>
          <a:noFill/>
        </p:spPr>
        <p:txBody>
          <a:bodyPr wrap="square" anchor="t" lIns="0" rIns="0" tIns="0" bIns="0">
            <a:spAutoFit/>
          </a:bodyPr>
          <a:lstStyle/>
          <a:p>
            <a:pPr algn="l">
              <a:spcAft>
                <a:spcPts val="600"/>
              </a:spcAft>
            </a:pPr>
            <a:r>
              <a:rPr sz="1400" b="1" i="0">
                <a:solidFill>
                  <a:srgbClr val="1F2533"/>
                </a:solidFill>
                <a:latin typeface="Calibri"/>
              </a:rPr>
              <a:t>input:  </a:t>
            </a:r>
            <a:r>
              <a:rPr sz="1400" b="0" i="0">
                <a:solidFill>
                  <a:srgbClr val="1F2533"/>
                </a:solidFill>
                <a:latin typeface="Courier New"/>
              </a:rPr>
              <a:t>Hello &lt;world&gt;</a:t>
            </a:r>
          </a:p>
          <a:p>
            <a:pPr algn="l">
              <a:spcAft>
                <a:spcPts val="600"/>
              </a:spcAft>
            </a:pPr>
            <a:r>
              <a:rPr sz="1400" b="1" i="0">
                <a:solidFill>
                  <a:srgbClr val="1F2533"/>
                </a:solidFill>
                <a:latin typeface="Calibri"/>
              </a:rPr>
              <a:t>output: </a:t>
            </a:r>
            <a:r>
              <a:rPr sz="1400" b="0" i="0">
                <a:solidFill>
                  <a:srgbClr val="1F2533"/>
                </a:solidFill>
                <a:latin typeface="Courier New"/>
              </a:rPr>
              <a:t>&lt;p&gt;Hello &amp;lt;world&amp;gt;&lt;/p&gt;</a:t>
            </a:r>
          </a:p>
          <a:p>
            <a:pPr algn="l">
              <a:spcAft>
                <a:spcPts val="600"/>
              </a:spcAft>
            </a:pPr>
            <a:r>
              <a:rPr sz="1400" b="0" i="0">
                <a:solidFill>
                  <a:srgbClr val="1F2533"/>
                </a:solidFill>
                <a:latin typeface="Calibri"/>
              </a:rPr>
              <a:t>Angle brackets are escaped instead of being interpreted as HTML</a:t>
            </a:r>
          </a:p>
        </p:txBody>
      </p:sp>
      <p:sp>
        <p:nvSpPr>
          <p:cNvPr id="24" name="Rounded Rectangle 23"/>
          <p:cNvSpPr/>
          <p:nvPr/>
        </p:nvSpPr>
        <p:spPr>
          <a:xfrm>
            <a:off x="6675120" y="3977639"/>
            <a:ext cx="4937760" cy="219456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0" y="4114800"/>
            <a:ext cx="4389120" cy="365760"/>
          </a:xfrm>
          <a:prstGeom prst="rect">
            <a:avLst/>
          </a:prstGeom>
          <a:noFill/>
        </p:spPr>
        <p:txBody>
          <a:bodyPr wrap="square" anchor="t" lIns="0" rIns="0" tIns="0" bIns="0">
            <a:spAutoFit/>
          </a:bodyPr>
          <a:lstStyle/>
          <a:p>
            <a:pPr algn="l">
              <a:spcAft>
                <a:spcPts val="0"/>
              </a:spcAft>
            </a:pPr>
            <a:r>
              <a:rPr sz="1700" b="1" i="0">
                <a:solidFill>
                  <a:srgbClr val="B08A3E"/>
                </a:solidFill>
                <a:latin typeface="Calibri"/>
              </a:rPr>
              <a:t>How it is used in the project</a:t>
            </a:r>
          </a:p>
        </p:txBody>
      </p:sp>
      <p:sp>
        <p:nvSpPr>
          <p:cNvPr id="26" name="TextBox 25"/>
          <p:cNvSpPr txBox="1"/>
          <p:nvPr/>
        </p:nvSpPr>
        <p:spPr>
          <a:xfrm>
            <a:off x="6949440" y="4572000"/>
            <a:ext cx="4389120" cy="1463040"/>
          </a:xfrm>
          <a:prstGeom prst="rect">
            <a:avLst/>
          </a:prstGeom>
          <a:noFill/>
        </p:spPr>
        <p:txBody>
          <a:bodyPr wrap="square" anchor="t" lIns="0" rIns="0" tIns="0" bIns="0">
            <a:spAutoFit/>
          </a:bodyPr>
          <a:lstStyle/>
          <a:p>
            <a:pPr algn="l">
              <a:spcAft>
                <a:spcPts val="0"/>
              </a:spcAft>
            </a:pPr>
            <a:r>
              <a:rPr sz="1400" b="0" i="0">
                <a:solidFill>
                  <a:srgbClr val="FFFFFF"/>
                </a:solidFill>
                <a:latin typeface="Calibri"/>
              </a:rPr>
              <a:t>BookService.create() sends «New book in the catalogue» through the @Primary EmailNotifier, which reads app.mail.* from lab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Configuration: YAML, profiles, properties</a:t>
            </a:r>
          </a:p>
        </p:txBody>
      </p:sp>
      <p:sp>
        <p:nvSpPr>
          <p:cNvPr id="3" name="Rounded Rectangle 2"/>
          <p:cNvSpPr/>
          <p:nvPr/>
        </p:nvSpPr>
        <p:spPr>
          <a:xfrm>
            <a:off x="9646920" y="502920"/>
            <a:ext cx="2011680" cy="50292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Lab 3  ·  V7</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6</a:t>
            </a:r>
          </a:p>
        </p:txBody>
      </p:sp>
      <p:graphicFrame>
        <p:nvGraphicFramePr>
          <p:cNvPr id="7" name="Table 6"/>
          <p:cNvGraphicFramePr>
            <a:graphicFrameLocks noGrp="1"/>
          </p:cNvGraphicFramePr>
          <p:nvPr/>
        </p:nvGraphicFramePr>
        <p:xfrm>
          <a:off x="548640" y="1508760"/>
          <a:ext cx="6675120" cy="2880360"/>
        </p:xfrm>
        <a:graphic>
          <a:graphicData uri="http://schemas.openxmlformats.org/drawingml/2006/table">
            <a:tbl>
              <a:tblPr firstRow="1" bandRow="1">
                <a:tableStyleId>{5C22544A-7EE6-4342-B048-85BDC9FD1C3A}</a:tableStyleId>
              </a:tblPr>
              <a:tblGrid>
                <a:gridCol w="2286000"/>
                <a:gridCol w="1463040"/>
                <a:gridCol w="1463040"/>
                <a:gridCol w="1463040"/>
              </a:tblGrid>
              <a:tr h="411480">
                <a:tc>
                  <a:txBody>
                    <a:bodyPr/>
                    <a:lstStyle/>
                    <a:p>
                      <a:r>
                        <a:rPr sz="1400" b="1">
                          <a:solidFill>
                            <a:srgbClr val="FFFFFF"/>
                          </a:solidFill>
                          <a:latin typeface="Calibri"/>
                        </a:rPr>
                        <a:t>/api/config field</a:t>
                      </a:r>
                    </a:p>
                  </a:txBody>
                  <a:tcPr marL="109728" marR="109728" anchor="ctr">
                    <a:solidFill>
                      <a:srgbClr val="1B2A41"/>
                    </a:solidFill>
                  </a:tcPr>
                </a:tc>
                <a:tc>
                  <a:txBody>
                    <a:bodyPr/>
                    <a:lstStyle/>
                    <a:p>
                      <a:r>
                        <a:rPr sz="1400" b="1">
                          <a:solidFill>
                            <a:srgbClr val="FFFFFF"/>
                          </a:solidFill>
                          <a:latin typeface="Calibri"/>
                        </a:rPr>
                        <a:t>no profile</a:t>
                      </a:r>
                    </a:p>
                  </a:txBody>
                  <a:tcPr marL="109728" marR="109728" anchor="ctr">
                    <a:solidFill>
                      <a:srgbClr val="1B2A41"/>
                    </a:solidFill>
                  </a:tcPr>
                </a:tc>
                <a:tc>
                  <a:txBody>
                    <a:bodyPr/>
                    <a:lstStyle/>
                    <a:p>
                      <a:r>
                        <a:rPr sz="1400" b="1">
                          <a:solidFill>
                            <a:srgbClr val="FFFFFF"/>
                          </a:solidFill>
                          <a:latin typeface="Calibri"/>
                        </a:rPr>
                        <a:t>dev</a:t>
                      </a:r>
                    </a:p>
                  </a:txBody>
                  <a:tcPr marL="109728" marR="109728" anchor="ctr">
                    <a:solidFill>
                      <a:srgbClr val="1B2A41"/>
                    </a:solidFill>
                  </a:tcPr>
                </a:tc>
                <a:tc>
                  <a:txBody>
                    <a:bodyPr/>
                    <a:lstStyle/>
                    <a:p>
                      <a:r>
                        <a:rPr sz="1400" b="1">
                          <a:solidFill>
                            <a:srgbClr val="FFFFFF"/>
                          </a:solidFill>
                          <a:latin typeface="Calibri"/>
                        </a:rPr>
                        <a:t>prod</a:t>
                      </a:r>
                    </a:p>
                  </a:txBody>
                  <a:tcPr marL="109728" marR="109728" anchor="ctr">
                    <a:solidFill>
                      <a:srgbClr val="1B2A41"/>
                    </a:solidFill>
                  </a:tcPr>
                </a:tc>
              </a:tr>
              <a:tr h="411480">
                <a:tc>
                  <a:txBody>
                    <a:bodyPr/>
                    <a:lstStyle/>
                    <a:p>
                      <a:r>
                        <a:rPr sz="1400" b="1">
                          <a:solidFill>
                            <a:srgbClr val="1F2533"/>
                          </a:solidFill>
                          <a:latin typeface="Calibri"/>
                        </a:rPr>
                        <a:t>serverPort</a:t>
                      </a:r>
                    </a:p>
                  </a:txBody>
                  <a:tcPr marL="109728" marR="109728" anchor="ctr">
                    <a:solidFill>
                      <a:srgbClr val="FFFFFF"/>
                    </a:solidFill>
                  </a:tcPr>
                </a:tc>
                <a:tc>
                  <a:txBody>
                    <a:bodyPr/>
                    <a:lstStyle/>
                    <a:p>
                      <a:r>
                        <a:rPr sz="1400" b="0">
                          <a:solidFill>
                            <a:srgbClr val="1F2533"/>
                          </a:solidFill>
                          <a:latin typeface="Calibri"/>
                        </a:rPr>
                        <a:t>8080</a:t>
                      </a:r>
                    </a:p>
                  </a:txBody>
                  <a:tcPr marL="109728" marR="109728" anchor="ctr">
                    <a:solidFill>
                      <a:srgbClr val="FFFFFF"/>
                    </a:solidFill>
                  </a:tcPr>
                </a:tc>
                <a:tc>
                  <a:txBody>
                    <a:bodyPr/>
                    <a:lstStyle/>
                    <a:p>
                      <a:r>
                        <a:rPr sz="1400" b="0">
                          <a:solidFill>
                            <a:srgbClr val="1F2533"/>
                          </a:solidFill>
                          <a:latin typeface="Calibri"/>
                        </a:rPr>
                        <a:t>8081</a:t>
                      </a:r>
                    </a:p>
                  </a:txBody>
                  <a:tcPr marL="109728" marR="109728" anchor="ctr">
                    <a:solidFill>
                      <a:srgbClr val="FFFFFF"/>
                    </a:solidFill>
                  </a:tcPr>
                </a:tc>
                <a:tc>
                  <a:txBody>
                    <a:bodyPr/>
                    <a:lstStyle/>
                    <a:p>
                      <a:r>
                        <a:rPr sz="1400" b="0">
                          <a:solidFill>
                            <a:srgbClr val="1F2533"/>
                          </a:solidFill>
                          <a:latin typeface="Calibri"/>
                        </a:rPr>
                        <a:t>8080</a:t>
                      </a:r>
                    </a:p>
                  </a:txBody>
                  <a:tcPr marL="109728" marR="109728" anchor="ctr">
                    <a:solidFill>
                      <a:srgbClr val="FFFFFF"/>
                    </a:solidFill>
                  </a:tcPr>
                </a:tc>
              </a:tr>
              <a:tr h="411480">
                <a:tc>
                  <a:txBody>
                    <a:bodyPr/>
                    <a:lstStyle/>
                    <a:p>
                      <a:r>
                        <a:rPr sz="1400" b="1">
                          <a:solidFill>
                            <a:srgbClr val="1F2533"/>
                          </a:solidFill>
                          <a:latin typeface="Calibri"/>
                        </a:rPr>
                        <a:t>mailRetryCount</a:t>
                      </a:r>
                    </a:p>
                  </a:txBody>
                  <a:tcPr marL="109728" marR="109728" anchor="ctr">
                    <a:solidFill>
                      <a:srgbClr val="F1F3F7"/>
                    </a:solidFill>
                  </a:tcPr>
                </a:tc>
                <a:tc>
                  <a:txBody>
                    <a:bodyPr/>
                    <a:lstStyle/>
                    <a:p>
                      <a:r>
                        <a:rPr sz="1400" b="0">
                          <a:solidFill>
                            <a:srgbClr val="1F2533"/>
                          </a:solidFill>
                          <a:latin typeface="Calibri"/>
                        </a:rPr>
                        <a:t>3</a:t>
                      </a:r>
                    </a:p>
                  </a:txBody>
                  <a:tcPr marL="109728" marR="109728" anchor="ctr">
                    <a:solidFill>
                      <a:srgbClr val="F1F3F7"/>
                    </a:solidFill>
                  </a:tcPr>
                </a:tc>
                <a:tc>
                  <a:txBody>
                    <a:bodyPr/>
                    <a:lstStyle/>
                    <a:p>
                      <a:r>
                        <a:rPr sz="1400" b="0">
                          <a:solidFill>
                            <a:srgbClr val="1F2533"/>
                          </a:solidFill>
                          <a:latin typeface="Calibri"/>
                        </a:rPr>
                        <a:t>1</a:t>
                      </a:r>
                    </a:p>
                  </a:txBody>
                  <a:tcPr marL="109728" marR="109728" anchor="ctr">
                    <a:solidFill>
                      <a:srgbClr val="F1F3F7"/>
                    </a:solidFill>
                  </a:tcPr>
                </a:tc>
                <a:tc>
                  <a:txBody>
                    <a:bodyPr/>
                    <a:lstStyle/>
                    <a:p>
                      <a:r>
                        <a:rPr sz="1400" b="0">
                          <a:solidFill>
                            <a:srgbClr val="1F2533"/>
                          </a:solidFill>
                          <a:latin typeface="Calibri"/>
                        </a:rPr>
                        <a:t>5</a:t>
                      </a:r>
                    </a:p>
                  </a:txBody>
                  <a:tcPr marL="109728" marR="109728" anchor="ctr">
                    <a:solidFill>
                      <a:srgbClr val="F1F3F7"/>
                    </a:solidFill>
                  </a:tcPr>
                </a:tc>
              </a:tr>
              <a:tr h="411480">
                <a:tc>
                  <a:txBody>
                    <a:bodyPr/>
                    <a:lstStyle/>
                    <a:p>
                      <a:r>
                        <a:rPr sz="1400" b="1">
                          <a:solidFill>
                            <a:srgbClr val="1F2533"/>
                          </a:solidFill>
                          <a:latin typeface="Calibri"/>
                        </a:rPr>
                        <a:t>mailEnabled</a:t>
                      </a:r>
                    </a:p>
                  </a:txBody>
                  <a:tcPr marL="109728" marR="109728" anchor="ctr">
                    <a:solidFill>
                      <a:srgbClr val="FFFFFF"/>
                    </a:solidFill>
                  </a:tcPr>
                </a:tc>
                <a:tc>
                  <a:txBody>
                    <a:bodyPr/>
                    <a:lstStyle/>
                    <a:p>
                      <a:r>
                        <a:rPr sz="1400" b="0">
                          <a:solidFill>
                            <a:srgbClr val="1F2533"/>
                          </a:solidFill>
                          <a:latin typeface="Calibri"/>
                        </a:rPr>
                        <a:t>true</a:t>
                      </a:r>
                    </a:p>
                  </a:txBody>
                  <a:tcPr marL="109728" marR="109728" anchor="ctr">
                    <a:solidFill>
                      <a:srgbClr val="FFFFFF"/>
                    </a:solidFill>
                  </a:tcPr>
                </a:tc>
                <a:tc>
                  <a:txBody>
                    <a:bodyPr/>
                    <a:lstStyle/>
                    <a:p>
                      <a:r>
                        <a:rPr sz="1400" b="0">
                          <a:solidFill>
                            <a:srgbClr val="1F2533"/>
                          </a:solidFill>
                          <a:latin typeface="Calibri"/>
                        </a:rPr>
                        <a:t>false</a:t>
                      </a:r>
                    </a:p>
                  </a:txBody>
                  <a:tcPr marL="109728" marR="109728" anchor="ctr">
                    <a:solidFill>
                      <a:srgbClr val="FFFFFF"/>
                    </a:solidFill>
                  </a:tcPr>
                </a:tc>
                <a:tc>
                  <a:txBody>
                    <a:bodyPr/>
                    <a:lstStyle/>
                    <a:p>
                      <a:r>
                        <a:rPr sz="1400" b="0">
                          <a:solidFill>
                            <a:srgbClr val="1F2533"/>
                          </a:solidFill>
                          <a:latin typeface="Calibri"/>
                        </a:rPr>
                        <a:t>true</a:t>
                      </a:r>
                    </a:p>
                  </a:txBody>
                  <a:tcPr marL="109728" marR="109728" anchor="ctr">
                    <a:solidFill>
                      <a:srgbClr val="FFFFFF"/>
                    </a:solidFill>
                  </a:tcPr>
                </a:tc>
              </a:tr>
              <a:tr h="411480">
                <a:tc>
                  <a:txBody>
                    <a:bodyPr/>
                    <a:lstStyle/>
                    <a:p>
                      <a:r>
                        <a:rPr sz="1400" b="1">
                          <a:solidFill>
                            <a:srgbClr val="1F2533"/>
                          </a:solidFill>
                          <a:latin typeface="Calibri"/>
                        </a:rPr>
                        <a:t>cacheTtl (V7)</a:t>
                      </a:r>
                    </a:p>
                  </a:txBody>
                  <a:tcPr marL="109728" marR="109728" anchor="ctr">
                    <a:solidFill>
                      <a:srgbClr val="F1F3F7"/>
                    </a:solidFill>
                  </a:tcPr>
                </a:tc>
                <a:tc>
                  <a:txBody>
                    <a:bodyPr/>
                    <a:lstStyle/>
                    <a:p>
                      <a:r>
                        <a:rPr sz="1400" b="0">
                          <a:solidFill>
                            <a:srgbClr val="1F2533"/>
                          </a:solidFill>
                          <a:latin typeface="Calibri"/>
                        </a:rPr>
                        <a:t>PT1M</a:t>
                      </a:r>
                    </a:p>
                  </a:txBody>
                  <a:tcPr marL="109728" marR="109728" anchor="ctr">
                    <a:solidFill>
                      <a:srgbClr val="F1F3F7"/>
                    </a:solidFill>
                  </a:tcPr>
                </a:tc>
                <a:tc>
                  <a:txBody>
                    <a:bodyPr/>
                    <a:lstStyle/>
                    <a:p>
                      <a:r>
                        <a:rPr sz="1400" b="0">
                          <a:solidFill>
                            <a:srgbClr val="1F2533"/>
                          </a:solidFill>
                          <a:latin typeface="Calibri"/>
                        </a:rPr>
                        <a:t>PT30S</a:t>
                      </a:r>
                    </a:p>
                  </a:txBody>
                  <a:tcPr marL="109728" marR="109728" anchor="ctr">
                    <a:solidFill>
                      <a:srgbClr val="F1F3F7"/>
                    </a:solidFill>
                  </a:tcPr>
                </a:tc>
                <a:tc>
                  <a:txBody>
                    <a:bodyPr/>
                    <a:lstStyle/>
                    <a:p>
                      <a:r>
                        <a:rPr sz="1400" b="0">
                          <a:solidFill>
                            <a:srgbClr val="1F2533"/>
                          </a:solidFill>
                          <a:latin typeface="Calibri"/>
                        </a:rPr>
                        <a:t>PT1M</a:t>
                      </a:r>
                    </a:p>
                  </a:txBody>
                  <a:tcPr marL="109728" marR="109728" anchor="ctr">
                    <a:solidFill>
                      <a:srgbClr val="F1F3F7"/>
                    </a:solidFill>
                  </a:tcPr>
                </a:tc>
              </a:tr>
              <a:tr h="411480">
                <a:tc>
                  <a:txBody>
                    <a:bodyPr/>
                    <a:lstStyle/>
                    <a:p>
                      <a:r>
                        <a:rPr sz="1400" b="1">
                          <a:solidFill>
                            <a:srgbClr val="1F2533"/>
                          </a:solidFill>
                          <a:latin typeface="Calibri"/>
                        </a:rPr>
                        <a:t>cacheMaxEntries (V7)</a:t>
                      </a:r>
                    </a:p>
                  </a:txBody>
                  <a:tcPr marL="109728" marR="109728" anchor="ctr">
                    <a:solidFill>
                      <a:srgbClr val="FFFFFF"/>
                    </a:solidFill>
                  </a:tcPr>
                </a:tc>
                <a:tc>
                  <a:txBody>
                    <a:bodyPr/>
                    <a:lstStyle/>
                    <a:p>
                      <a:r>
                        <a:rPr sz="1400" b="0">
                          <a:solidFill>
                            <a:srgbClr val="1F2533"/>
                          </a:solidFill>
                          <a:latin typeface="Calibri"/>
                        </a:rPr>
                        <a:t>100</a:t>
                      </a:r>
                    </a:p>
                  </a:txBody>
                  <a:tcPr marL="109728" marR="109728" anchor="ctr">
                    <a:solidFill>
                      <a:srgbClr val="FFFFFF"/>
                    </a:solidFill>
                  </a:tcPr>
                </a:tc>
                <a:tc>
                  <a:txBody>
                    <a:bodyPr/>
                    <a:lstStyle/>
                    <a:p>
                      <a:r>
                        <a:rPr sz="1400" b="0">
                          <a:solidFill>
                            <a:srgbClr val="1F2533"/>
                          </a:solidFill>
                          <a:latin typeface="Calibri"/>
                        </a:rPr>
                        <a:t>50</a:t>
                      </a:r>
                    </a:p>
                  </a:txBody>
                  <a:tcPr marL="109728" marR="109728" anchor="ctr">
                    <a:solidFill>
                      <a:srgbClr val="FFFFFF"/>
                    </a:solidFill>
                  </a:tcPr>
                </a:tc>
                <a:tc>
                  <a:txBody>
                    <a:bodyPr/>
                    <a:lstStyle/>
                    <a:p>
                      <a:r>
                        <a:rPr sz="1400" b="0">
                          <a:solidFill>
                            <a:srgbClr val="1F2533"/>
                          </a:solidFill>
                          <a:latin typeface="Calibri"/>
                        </a:rPr>
                        <a:t>100</a:t>
                      </a:r>
                    </a:p>
                  </a:txBody>
                  <a:tcPr marL="109728" marR="109728" anchor="ctr">
                    <a:solidFill>
                      <a:srgbClr val="FFFFFF"/>
                    </a:solidFill>
                  </a:tcPr>
                </a:tc>
              </a:tr>
              <a:tr h="411480">
                <a:tc>
                  <a:txBody>
                    <a:bodyPr/>
                    <a:lstStyle/>
                    <a:p>
                      <a:r>
                        <a:rPr sz="1400" b="1">
                          <a:solidFill>
                            <a:srgbClr val="1F2533"/>
                          </a:solidFill>
                          <a:latin typeface="Calibri"/>
                        </a:rPr>
                        <a:t>banner</a:t>
                      </a:r>
                    </a:p>
                  </a:txBody>
                  <a:tcPr marL="109728" marR="109728" anchor="ctr">
                    <a:solidFill>
                      <a:srgbClr val="F1F3F7"/>
                    </a:solidFill>
                  </a:tcPr>
                </a:tc>
                <a:tc>
                  <a:txBody>
                    <a:bodyPr/>
                    <a:lstStyle/>
                    <a:p>
                      <a:r>
                        <a:rPr sz="1400" b="0">
                          <a:solidFill>
                            <a:srgbClr val="1F2533"/>
                          </a:solidFill>
                          <a:latin typeface="Calibri"/>
                        </a:rPr>
                        <a:t>no profile</a:t>
                      </a:r>
                    </a:p>
                  </a:txBody>
                  <a:tcPr marL="109728" marR="109728" anchor="ctr">
                    <a:solidFill>
                      <a:srgbClr val="F1F3F7"/>
                    </a:solidFill>
                  </a:tcPr>
                </a:tc>
                <a:tc>
                  <a:txBody>
                    <a:bodyPr/>
                    <a:lstStyle/>
                    <a:p>
                      <a:r>
                        <a:rPr sz="1400" b="0">
                          <a:solidFill>
                            <a:srgbClr val="1F2533"/>
                          </a:solidFill>
                          <a:latin typeface="Calibri"/>
                        </a:rPr>
                        <a:t>DEVELOPMENT</a:t>
                      </a:r>
                    </a:p>
                  </a:txBody>
                  <a:tcPr marL="109728" marR="109728" anchor="ctr">
                    <a:solidFill>
                      <a:srgbClr val="F1F3F7"/>
                    </a:solidFill>
                  </a:tcPr>
                </a:tc>
                <a:tc>
                  <a:txBody>
                    <a:bodyPr/>
                    <a:lstStyle/>
                    <a:p>
                      <a:r>
                        <a:rPr sz="1400" b="0">
                          <a:solidFill>
                            <a:srgbClr val="1F2533"/>
                          </a:solidFill>
                          <a:latin typeface="Calibri"/>
                        </a:rPr>
                        <a:t>PRODUCTION</a:t>
                      </a:r>
                    </a:p>
                  </a:txBody>
                  <a:tcPr marL="109728" marR="109728" anchor="ctr">
                    <a:solidFill>
                      <a:srgbClr val="F1F3F7"/>
                    </a:solidFill>
                  </a:tcPr>
                </a:tc>
              </a:tr>
            </a:tbl>
          </a:graphicData>
        </a:graphic>
      </p:graphicFrame>
      <p:sp>
        <p:nvSpPr>
          <p:cNvPr id="8" name="TextBox 7"/>
          <p:cNvSpPr txBox="1"/>
          <p:nvPr/>
        </p:nvSpPr>
        <p:spPr>
          <a:xfrm>
            <a:off x="548640" y="4572000"/>
            <a:ext cx="6675120" cy="365760"/>
          </a:xfrm>
          <a:prstGeom prst="rect">
            <a:avLst/>
          </a:prstGeom>
          <a:noFill/>
        </p:spPr>
        <p:txBody>
          <a:bodyPr wrap="square" anchor="t" lIns="0" rIns="0" tIns="0" bIns="0">
            <a:spAutoFit/>
          </a:bodyPr>
          <a:lstStyle/>
          <a:p>
            <a:pPr algn="l">
              <a:spcAft>
                <a:spcPts val="0"/>
              </a:spcAft>
            </a:pPr>
            <a:r>
              <a:rPr sz="1600" b="1" i="0">
                <a:solidFill>
                  <a:srgbClr val="1B2A41"/>
                </a:solidFill>
                <a:latin typeface="Calibri"/>
              </a:rPr>
              <a:t>Property source precedence (strongest → weakest)</a:t>
            </a:r>
          </a:p>
        </p:txBody>
      </p:sp>
      <p:sp>
        <p:nvSpPr>
          <p:cNvPr id="9" name="Rounded Rectangle 8"/>
          <p:cNvSpPr/>
          <p:nvPr/>
        </p:nvSpPr>
        <p:spPr>
          <a:xfrm>
            <a:off x="548640" y="5029200"/>
            <a:ext cx="1216152" cy="640080"/>
          </a:xfrm>
          <a:prstGeom prst="roundRect">
            <a:avLst>
              <a:gd name="adj" fmla="val 8000"/>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029200"/>
            <a:ext cx="1216152" cy="640080"/>
          </a:xfrm>
          <a:prstGeom prst="rect">
            <a:avLst/>
          </a:prstGeom>
          <a:noFill/>
        </p:spPr>
        <p:txBody>
          <a:bodyPr wrap="square" anchor="ctr" lIns="0" rIns="0" tIns="0" bIns="0">
            <a:spAutoFit/>
          </a:bodyPr>
          <a:lstStyle/>
          <a:p>
            <a:pPr algn="ctr">
              <a:spcAft>
                <a:spcPts val="0"/>
              </a:spcAft>
            </a:pPr>
            <a:r>
              <a:rPr sz="1300" b="1" i="0">
                <a:solidFill>
                  <a:srgbClr val="FFFFFF"/>
                </a:solidFill>
                <a:latin typeface="Calibri"/>
              </a:rPr>
              <a:t>--arg</a:t>
            </a:r>
          </a:p>
        </p:txBody>
      </p:sp>
      <p:sp>
        <p:nvSpPr>
          <p:cNvPr id="11" name="Rounded Rectangle 10"/>
          <p:cNvSpPr/>
          <p:nvPr/>
        </p:nvSpPr>
        <p:spPr>
          <a:xfrm>
            <a:off x="1901952" y="5029200"/>
            <a:ext cx="1216152" cy="64008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01952" y="5029200"/>
            <a:ext cx="1216152" cy="640080"/>
          </a:xfrm>
          <a:prstGeom prst="rect">
            <a:avLst/>
          </a:prstGeom>
          <a:noFill/>
        </p:spPr>
        <p:txBody>
          <a:bodyPr wrap="square" anchor="ctr" lIns="0" rIns="0" tIns="0" bIns="0">
            <a:spAutoFit/>
          </a:bodyPr>
          <a:lstStyle/>
          <a:p>
            <a:pPr algn="ctr">
              <a:spcAft>
                <a:spcPts val="0"/>
              </a:spcAft>
            </a:pPr>
            <a:r>
              <a:rPr sz="1300" b="1" i="0">
                <a:solidFill>
                  <a:srgbClr val="1B2A41"/>
                </a:solidFill>
                <a:latin typeface="Calibri"/>
              </a:rPr>
              <a:t>-D JVM</a:t>
            </a:r>
          </a:p>
        </p:txBody>
      </p:sp>
      <p:sp>
        <p:nvSpPr>
          <p:cNvPr id="13" name="Rounded Rectangle 12"/>
          <p:cNvSpPr/>
          <p:nvPr/>
        </p:nvSpPr>
        <p:spPr>
          <a:xfrm>
            <a:off x="3255264" y="5029200"/>
            <a:ext cx="1216152" cy="64008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55264" y="5029200"/>
            <a:ext cx="1216152" cy="640080"/>
          </a:xfrm>
          <a:prstGeom prst="rect">
            <a:avLst/>
          </a:prstGeom>
          <a:noFill/>
        </p:spPr>
        <p:txBody>
          <a:bodyPr wrap="square" anchor="ctr" lIns="0" rIns="0" tIns="0" bIns="0">
            <a:spAutoFit/>
          </a:bodyPr>
          <a:lstStyle/>
          <a:p>
            <a:pPr algn="ctr">
              <a:spcAft>
                <a:spcPts val="0"/>
              </a:spcAft>
            </a:pPr>
            <a:r>
              <a:rPr sz="1300" b="1" i="0">
                <a:solidFill>
                  <a:srgbClr val="1B2A41"/>
                </a:solidFill>
                <a:latin typeface="Calibri"/>
              </a:rPr>
              <a:t>ENV</a:t>
            </a:r>
          </a:p>
        </p:txBody>
      </p:sp>
      <p:sp>
        <p:nvSpPr>
          <p:cNvPr id="15" name="Rounded Rectangle 14"/>
          <p:cNvSpPr/>
          <p:nvPr/>
        </p:nvSpPr>
        <p:spPr>
          <a:xfrm>
            <a:off x="4608575" y="5029200"/>
            <a:ext cx="1216152" cy="64008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08575" y="5029200"/>
            <a:ext cx="1216152" cy="640080"/>
          </a:xfrm>
          <a:prstGeom prst="rect">
            <a:avLst/>
          </a:prstGeom>
          <a:noFill/>
        </p:spPr>
        <p:txBody>
          <a:bodyPr wrap="square" anchor="ctr" lIns="0" rIns="0" tIns="0" bIns="0">
            <a:spAutoFit/>
          </a:bodyPr>
          <a:lstStyle/>
          <a:p>
            <a:pPr algn="ctr">
              <a:spcAft>
                <a:spcPts val="0"/>
              </a:spcAft>
            </a:pPr>
            <a:r>
              <a:rPr sz="1300" b="1" i="0">
                <a:solidFill>
                  <a:srgbClr val="1B2A41"/>
                </a:solidFill>
                <a:latin typeface="Calibri"/>
              </a:rPr>
              <a:t>profile.yml</a:t>
            </a:r>
          </a:p>
        </p:txBody>
      </p:sp>
      <p:sp>
        <p:nvSpPr>
          <p:cNvPr id="17" name="Rounded Rectangle 16"/>
          <p:cNvSpPr/>
          <p:nvPr/>
        </p:nvSpPr>
        <p:spPr>
          <a:xfrm>
            <a:off x="5961888" y="5029200"/>
            <a:ext cx="1216152" cy="64008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1888" y="5029200"/>
            <a:ext cx="1216152" cy="640080"/>
          </a:xfrm>
          <a:prstGeom prst="rect">
            <a:avLst/>
          </a:prstGeom>
          <a:noFill/>
        </p:spPr>
        <p:txBody>
          <a:bodyPr wrap="square" anchor="ctr" lIns="0" rIns="0" tIns="0" bIns="0">
            <a:spAutoFit/>
          </a:bodyPr>
          <a:lstStyle/>
          <a:p>
            <a:pPr algn="ctr">
              <a:spcAft>
                <a:spcPts val="0"/>
              </a:spcAft>
            </a:pPr>
            <a:r>
              <a:rPr sz="1300" b="1" i="0">
                <a:solidFill>
                  <a:srgbClr val="1B2A41"/>
                </a:solidFill>
                <a:latin typeface="Calibri"/>
              </a:rPr>
              <a:t>app.yml</a:t>
            </a:r>
          </a:p>
        </p:txBody>
      </p:sp>
      <p:sp>
        <p:nvSpPr>
          <p:cNvPr id="19" name="Rounded Rectangle 18"/>
          <p:cNvSpPr/>
          <p:nvPr/>
        </p:nvSpPr>
        <p:spPr>
          <a:xfrm>
            <a:off x="7680960" y="1508760"/>
            <a:ext cx="3931920" cy="27432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0" y="1645919"/>
            <a:ext cx="3383279" cy="320040"/>
          </a:xfrm>
          <a:prstGeom prst="rect">
            <a:avLst/>
          </a:prstGeom>
          <a:noFill/>
        </p:spPr>
        <p:txBody>
          <a:bodyPr wrap="square" anchor="t" lIns="0" rIns="0" tIns="0" bIns="0">
            <a:spAutoFit/>
          </a:bodyPr>
          <a:lstStyle/>
          <a:p>
            <a:pPr algn="l">
              <a:spcAft>
                <a:spcPts val="0"/>
              </a:spcAft>
            </a:pPr>
            <a:r>
              <a:rPr sz="1100" b="1" i="0">
                <a:solidFill>
                  <a:srgbClr val="B08A3E"/>
                </a:solidFill>
                <a:latin typeface="Calibri"/>
              </a:rPr>
              <a:t>config/AppProperties.java</a:t>
            </a:r>
          </a:p>
        </p:txBody>
      </p:sp>
      <p:sp>
        <p:nvSpPr>
          <p:cNvPr id="21" name="TextBox 20"/>
          <p:cNvSpPr txBox="1"/>
          <p:nvPr/>
        </p:nvSpPr>
        <p:spPr>
          <a:xfrm>
            <a:off x="7955280" y="2011680"/>
            <a:ext cx="3383279" cy="2103120"/>
          </a:xfrm>
          <a:prstGeom prst="rect">
            <a:avLst/>
          </a:prstGeom>
          <a:noFill/>
        </p:spPr>
        <p:txBody>
          <a:bodyPr wrap="square" anchor="t" lIns="0" rIns="0" tIns="0" bIns="0">
            <a:spAutoFit/>
          </a:bodyPr>
          <a:lstStyle/>
          <a:p>
            <a:pPr algn="l">
              <a:lnSpc>
                <a:spcPct val="105000"/>
              </a:lnSpc>
              <a:spcAft>
                <a:spcPts val="0"/>
              </a:spcAft>
            </a:pPr>
            <a:r>
              <a:rPr sz="1100" b="0" i="0">
                <a:solidFill>
                  <a:srgbClr val="E4E8EF"/>
                </a:solidFill>
                <a:latin typeface="Courier New"/>
              </a:rPr>
              <a:t>@ConfigurationProperties("app")</a:t>
            </a:r>
          </a:p>
          <a:p>
            <a:pPr algn="l">
              <a:lnSpc>
                <a:spcPct val="105000"/>
              </a:lnSpc>
              <a:spcAft>
                <a:spcPts val="0"/>
              </a:spcAft>
            </a:pPr>
            <a:r>
              <a:rPr sz="1100" b="0" i="0">
                <a:solidFill>
                  <a:srgbClr val="E4E8EF"/>
                </a:solidFill>
                <a:latin typeface="Courier New"/>
              </a:rPr>
              <a:t>@Validated</a:t>
            </a:r>
          </a:p>
          <a:p>
            <a:pPr algn="l">
              <a:lnSpc>
                <a:spcPct val="105000"/>
              </a:lnSpc>
              <a:spcAft>
                <a:spcPts val="0"/>
              </a:spcAft>
            </a:pPr>
            <a:r>
              <a:rPr sz="1100" b="0" i="0">
                <a:solidFill>
                  <a:srgbClr val="E4E8EF"/>
                </a:solidFill>
                <a:latin typeface="Courier New"/>
              </a:rPr>
              <a:t>public record AppProperties(</a:t>
            </a:r>
          </a:p>
          <a:p>
            <a:pPr algn="l">
              <a:lnSpc>
                <a:spcPct val="105000"/>
              </a:lnSpc>
              <a:spcAft>
                <a:spcPts val="0"/>
              </a:spcAft>
            </a:pPr>
            <a:r>
              <a:rPr sz="1100" b="0" i="0">
                <a:solidFill>
                  <a:srgbClr val="E4E8EF"/>
                </a:solidFill>
                <a:latin typeface="Courier New"/>
              </a:rPr>
              <a:t>  @NotBlank String owner,</a:t>
            </a:r>
          </a:p>
          <a:p>
            <a:pPr algn="l">
              <a:lnSpc>
                <a:spcPct val="105000"/>
              </a:lnSpc>
              <a:spcAft>
                <a:spcPts val="0"/>
              </a:spcAft>
            </a:pPr>
            <a:r>
              <a:rPr sz="1100" b="0" i="0">
                <a:solidFill>
                  <a:srgbClr val="E4E8EF"/>
                </a:solidFill>
                <a:latin typeface="Courier New"/>
              </a:rPr>
              <a:t>  @Valid Mail mail,</a:t>
            </a:r>
          </a:p>
          <a:p>
            <a:pPr algn="l">
              <a:lnSpc>
                <a:spcPct val="105000"/>
              </a:lnSpc>
              <a:spcAft>
                <a:spcPts val="0"/>
              </a:spcAft>
            </a:pPr>
            <a:r>
              <a:rPr sz="1100" b="0" i="0">
                <a:solidFill>
                  <a:srgbClr val="E4E8EF"/>
                </a:solidFill>
                <a:latin typeface="Courier New"/>
              </a:rPr>
              <a:t>  @Valid Cache cache) {</a:t>
            </a:r>
          </a:p>
          <a:p>
            <a:pPr algn="l">
              <a:lnSpc>
                <a:spcPct val="105000"/>
              </a:lnSpc>
              <a:spcAft>
                <a:spcPts val="0"/>
              </a:spcAft>
            </a:pPr>
            <a:r>
              <a:rPr sz="1100" b="0" i="0">
                <a:solidFill>
                  <a:srgbClr val="E4E8EF"/>
                </a:solidFill>
                <a:latin typeface="Courier New"/>
              </a:rPr>
              <a:t>  record Cache(</a:t>
            </a:r>
          </a:p>
          <a:p>
            <a:pPr algn="l">
              <a:lnSpc>
                <a:spcPct val="105000"/>
              </a:lnSpc>
              <a:spcAft>
                <a:spcPts val="0"/>
              </a:spcAft>
            </a:pPr>
            <a:r>
              <a:rPr sz="1100" b="0" i="0">
                <a:solidFill>
                  <a:srgbClr val="E4E8EF"/>
                </a:solidFill>
                <a:latin typeface="Courier New"/>
              </a:rPr>
              <a:t>   @DefaultValue("1m") Duration ttl,</a:t>
            </a:r>
          </a:p>
          <a:p>
            <a:pPr algn="l">
              <a:lnSpc>
                <a:spcPct val="105000"/>
              </a:lnSpc>
              <a:spcAft>
                <a:spcPts val="0"/>
              </a:spcAft>
            </a:pPr>
            <a:r>
              <a:rPr sz="1100" b="0" i="0">
                <a:solidFill>
                  <a:srgbClr val="E4E8EF"/>
                </a:solidFill>
                <a:latin typeface="Courier New"/>
              </a:rPr>
              <a:t>   @Min(10) @Max(10000)</a:t>
            </a:r>
          </a:p>
          <a:p>
            <a:pPr algn="l">
              <a:lnSpc>
                <a:spcPct val="105000"/>
              </a:lnSpc>
              <a:spcAft>
                <a:spcPts val="0"/>
              </a:spcAft>
            </a:pPr>
            <a:r>
              <a:rPr sz="1100" b="0" i="0">
                <a:solidFill>
                  <a:srgbClr val="E4E8EF"/>
                </a:solidFill>
                <a:latin typeface="Courier New"/>
              </a:rPr>
              <a:t>   int maxEntries) {}</a:t>
            </a:r>
          </a:p>
          <a:p>
            <a:pPr algn="l">
              <a:lnSpc>
                <a:spcPct val="105000"/>
              </a:lnSpc>
              <a:spcAft>
                <a:spcPts val="0"/>
              </a:spcAft>
            </a:pPr>
            <a:r>
              <a:rPr sz="1100" b="0" i="0">
                <a:solidFill>
                  <a:srgbClr val="E4E8EF"/>
                </a:solidFill>
                <a:latin typeface="Courier New"/>
              </a:rPr>
              <a:t>}</a:t>
            </a:r>
          </a:p>
        </p:txBody>
      </p:sp>
      <p:sp>
        <p:nvSpPr>
          <p:cNvPr id="22" name="Rounded Rectangle 21"/>
          <p:cNvSpPr/>
          <p:nvPr/>
        </p:nvSpPr>
        <p:spPr>
          <a:xfrm>
            <a:off x="7680960" y="4480560"/>
            <a:ext cx="3931920" cy="16002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9560" y="4572000"/>
            <a:ext cx="3566160" cy="1463040"/>
          </a:xfrm>
          <a:prstGeom prst="rect">
            <a:avLst/>
          </a:prstGeom>
          <a:noFill/>
        </p:spPr>
        <p:txBody>
          <a:bodyPr wrap="square" anchor="t" lIns="0" rIns="0" tIns="0" bIns="0">
            <a:spAutoFit/>
          </a:bodyPr>
          <a:lstStyle/>
          <a:p>
            <a:pPr algn="l">
              <a:spcAft>
                <a:spcPts val="600"/>
              </a:spcAft>
            </a:pPr>
            <a:r>
              <a:rPr sz="1300" b="1" i="0">
                <a:solidFill>
                  <a:srgbClr val="1F2533"/>
                </a:solidFill>
                <a:latin typeface="Calibri"/>
              </a:rPr>
              <a:t>Actuator: </a:t>
            </a:r>
            <a:r>
              <a:rPr sz="1300" b="0" i="0">
                <a:solidFill>
                  <a:srgbClr val="1F2533"/>
                </a:solidFill>
                <a:latin typeface="Calibri"/>
              </a:rPr>
              <a:t>/actuator/env/app.mail.retry-count shows the value and its source</a:t>
            </a:r>
          </a:p>
          <a:p>
            <a:pPr algn="l">
              <a:spcAft>
                <a:spcPts val="600"/>
              </a:spcAft>
            </a:pPr>
            <a:r>
              <a:rPr sz="1300" b="1" i="0">
                <a:solidFill>
                  <a:srgbClr val="1F2533"/>
                </a:solidFill>
                <a:latin typeface="Calibri"/>
              </a:rPr>
              <a:t>Check: </a:t>
            </a:r>
            <a:r>
              <a:rPr sz="1300" b="0" i="0">
                <a:solidFill>
                  <a:srgbClr val="1F2533"/>
                </a:solidFill>
                <a:latin typeface="Calibri"/>
              </a:rPr>
              <a:t>retry-count=99 → APPLICATION FAILED TO START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Spring AOP: cross-cutting concerns</a:t>
            </a:r>
          </a:p>
        </p:txBody>
      </p:sp>
      <p:sp>
        <p:nvSpPr>
          <p:cNvPr id="3" name="Rounded Rectangle 2"/>
          <p:cNvSpPr/>
          <p:nvPr/>
        </p:nvSpPr>
        <p:spPr>
          <a:xfrm>
            <a:off x="9646920" y="502920"/>
            <a:ext cx="2011680" cy="50292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Lab 4  ·  V8</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7</a:t>
            </a:r>
          </a:p>
        </p:txBody>
      </p:sp>
      <p:sp>
        <p:nvSpPr>
          <p:cNvPr id="7" name="Rounded Rectangle 6"/>
          <p:cNvSpPr/>
          <p:nvPr/>
        </p:nvSpPr>
        <p:spPr>
          <a:xfrm>
            <a:off x="548640" y="1508760"/>
            <a:ext cx="5486400" cy="356616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0200"/>
            <a:ext cx="5120640" cy="457200"/>
          </a:xfrm>
          <a:prstGeom prst="rect">
            <a:avLst/>
          </a:prstGeom>
          <a:noFill/>
        </p:spPr>
        <p:txBody>
          <a:bodyPr wrap="square" anchor="t" lIns="0" rIns="0" tIns="0" bIns="0">
            <a:spAutoFit/>
          </a:bodyPr>
          <a:lstStyle/>
          <a:p>
            <a:pPr algn="l">
              <a:spcAft>
                <a:spcPts val="0"/>
              </a:spcAft>
            </a:pPr>
            <a:r>
              <a:rPr sz="1300" b="1" i="0">
                <a:solidFill>
                  <a:srgbClr val="1B2A41"/>
                </a:solidFill>
                <a:latin typeface="Calibri"/>
              </a:rPr>
              <a:t>AuditAspect  @Order(1)  ·  @Around(@annotation)</a:t>
            </a:r>
          </a:p>
        </p:txBody>
      </p:sp>
      <p:sp>
        <p:nvSpPr>
          <p:cNvPr id="9" name="Rounded Rectangle 8"/>
          <p:cNvSpPr/>
          <p:nvPr/>
        </p:nvSpPr>
        <p:spPr>
          <a:xfrm>
            <a:off x="868680" y="2011680"/>
            <a:ext cx="4846320" cy="2834640"/>
          </a:xfrm>
          <a:prstGeom prst="roundRect">
            <a:avLst>
              <a:gd name="adj" fmla="val 8000"/>
            </a:avLst>
          </a:prstGeom>
          <a:solidFill>
            <a:srgbClr val="D5D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103120"/>
            <a:ext cx="4480559" cy="457200"/>
          </a:xfrm>
          <a:prstGeom prst="rect">
            <a:avLst/>
          </a:prstGeom>
          <a:noFill/>
        </p:spPr>
        <p:txBody>
          <a:bodyPr wrap="square" anchor="t" lIns="0" rIns="0" tIns="0" bIns="0">
            <a:spAutoFit/>
          </a:bodyPr>
          <a:lstStyle/>
          <a:p>
            <a:pPr algn="l">
              <a:spcAft>
                <a:spcPts val="0"/>
              </a:spcAft>
            </a:pPr>
            <a:r>
              <a:rPr sz="1300" b="1" i="0">
                <a:solidFill>
                  <a:srgbClr val="1B2A41"/>
                </a:solidFill>
                <a:latin typeface="Calibri"/>
              </a:rPr>
              <a:t>LoggingAspect  @Order(2)  ·  @Before / @AfterReturning / @AfterThrowing</a:t>
            </a:r>
          </a:p>
        </p:txBody>
      </p:sp>
      <p:sp>
        <p:nvSpPr>
          <p:cNvPr id="11" name="Rounded Rectangle 10"/>
          <p:cNvSpPr/>
          <p:nvPr/>
        </p:nvSpPr>
        <p:spPr>
          <a:xfrm>
            <a:off x="1188720" y="2606040"/>
            <a:ext cx="4206240" cy="2011680"/>
          </a:xfrm>
          <a:prstGeom prst="roundRect">
            <a:avLst>
              <a:gd name="adj" fmla="val 8000"/>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2697480"/>
            <a:ext cx="3840479" cy="457200"/>
          </a:xfrm>
          <a:prstGeom prst="rect">
            <a:avLst/>
          </a:prstGeom>
          <a:noFill/>
        </p:spPr>
        <p:txBody>
          <a:bodyPr wrap="square" anchor="t" lIns="0" rIns="0" tIns="0" bIns="0">
            <a:spAutoFit/>
          </a:bodyPr>
          <a:lstStyle/>
          <a:p>
            <a:pPr algn="l">
              <a:spcAft>
                <a:spcPts val="0"/>
              </a:spcAft>
            </a:pPr>
            <a:r>
              <a:rPr sz="1300" b="1" i="0">
                <a:solidFill>
                  <a:srgbClr val="FFFFFF"/>
                </a:solidFill>
                <a:latin typeface="Calibri"/>
              </a:rPr>
              <a:t>TimingAspect  @Order(3)  ·  @Around + proceed()</a:t>
            </a:r>
          </a:p>
        </p:txBody>
      </p:sp>
      <p:sp>
        <p:nvSpPr>
          <p:cNvPr id="13" name="Rounded Rectangle 12"/>
          <p:cNvSpPr/>
          <p:nvPr/>
        </p:nvSpPr>
        <p:spPr>
          <a:xfrm>
            <a:off x="1508760" y="3154680"/>
            <a:ext cx="3566160" cy="12344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91639" y="3246120"/>
            <a:ext cx="3200400" cy="457200"/>
          </a:xfrm>
          <a:prstGeom prst="rect">
            <a:avLst/>
          </a:prstGeom>
          <a:noFill/>
        </p:spPr>
        <p:txBody>
          <a:bodyPr wrap="square" anchor="t" lIns="0" rIns="0" tIns="0" bIns="0">
            <a:spAutoFit/>
          </a:bodyPr>
          <a:lstStyle/>
          <a:p>
            <a:pPr algn="l">
              <a:spcAft>
                <a:spcPts val="0"/>
              </a:spcAft>
            </a:pPr>
            <a:r>
              <a:rPr sz="1300" b="1" i="0">
                <a:solidFill>
                  <a:srgbClr val="FFFFFF"/>
                </a:solidFill>
                <a:latin typeface="Calibri"/>
              </a:rPr>
              <a:t>BookService.delete(id)</a:t>
            </a:r>
          </a:p>
        </p:txBody>
      </p:sp>
      <p:sp>
        <p:nvSpPr>
          <p:cNvPr id="15" name="TextBox 14"/>
          <p:cNvSpPr txBox="1"/>
          <p:nvPr/>
        </p:nvSpPr>
        <p:spPr>
          <a:xfrm>
            <a:off x="1691640" y="3611880"/>
            <a:ext cx="3200400" cy="640080"/>
          </a:xfrm>
          <a:prstGeom prst="rect">
            <a:avLst/>
          </a:prstGeom>
          <a:noFill/>
        </p:spPr>
        <p:txBody>
          <a:bodyPr wrap="square" anchor="t" lIns="0" rIns="0" tIns="0" bIns="0">
            <a:spAutoFit/>
          </a:bodyPr>
          <a:lstStyle/>
          <a:p>
            <a:pPr algn="l">
              <a:spcAft>
                <a:spcPts val="0"/>
              </a:spcAft>
            </a:pPr>
            <a:r>
              <a:rPr sz="1200" b="0" i="0">
                <a:solidFill>
                  <a:srgbClr val="E4E8EF"/>
                </a:solidFill>
                <a:latin typeface="Courier New"/>
              </a:rPr>
              <a:t>CGLIB proxy:
BookService$$SpringCGLIB$$1</a:t>
            </a:r>
          </a:p>
        </p:txBody>
      </p:sp>
      <p:graphicFrame>
        <p:nvGraphicFramePr>
          <p:cNvPr id="16" name="Table 15"/>
          <p:cNvGraphicFramePr>
            <a:graphicFrameLocks noGrp="1"/>
          </p:cNvGraphicFramePr>
          <p:nvPr/>
        </p:nvGraphicFramePr>
        <p:xfrm>
          <a:off x="548640" y="5257800"/>
          <a:ext cx="5486400" cy="987552"/>
        </p:xfrm>
        <a:graphic>
          <a:graphicData uri="http://schemas.openxmlformats.org/drawingml/2006/table">
            <a:tbl>
              <a:tblPr firstRow="1" bandRow="1">
                <a:tableStyleId>{5C22544A-7EE6-4342-B048-85BDC9FD1C3A}</a:tableStyleId>
              </a:tblPr>
              <a:tblGrid>
                <a:gridCol w="3108960"/>
                <a:gridCol w="2377440"/>
              </a:tblGrid>
              <a:tr h="329184">
                <a:tc>
                  <a:txBody>
                    <a:bodyPr/>
                    <a:lstStyle/>
                    <a:p>
                      <a:r>
                        <a:rPr sz="1200" b="1">
                          <a:solidFill>
                            <a:srgbClr val="FFFFFF"/>
                          </a:solidFill>
                          <a:latin typeface="Calibri"/>
                        </a:rPr>
                        <a:t>deleteBulk(ids, viaProxy)</a:t>
                      </a:r>
                    </a:p>
                  </a:txBody>
                  <a:tcPr marL="109728" marR="109728" anchor="ctr">
                    <a:solidFill>
                      <a:srgbClr val="1B2A41"/>
                    </a:solidFill>
                  </a:tcPr>
                </a:tc>
                <a:tc>
                  <a:txBody>
                    <a:bodyPr/>
                    <a:lstStyle/>
                    <a:p>
                      <a:r>
                        <a:rPr sz="1200" b="1">
                          <a:solidFill>
                            <a:srgbClr val="FFFFFF"/>
                          </a:solidFill>
                          <a:latin typeface="Calibri"/>
                        </a:rPr>
                        <a:t>BOOK_DELETE records</a:t>
                      </a:r>
                    </a:p>
                  </a:txBody>
                  <a:tcPr marL="109728" marR="109728" anchor="ctr">
                    <a:solidFill>
                      <a:srgbClr val="1B2A41"/>
                    </a:solidFill>
                  </a:tcPr>
                </a:tc>
              </a:tr>
              <a:tr h="329184">
                <a:tc>
                  <a:txBody>
                    <a:bodyPr/>
                    <a:lstStyle/>
                    <a:p>
                      <a:r>
                        <a:rPr sz="1200" b="1">
                          <a:solidFill>
                            <a:srgbClr val="1F2533"/>
                          </a:solidFill>
                          <a:latin typeface="Calibri"/>
                        </a:rPr>
                        <a:t>false → this.delete()</a:t>
                      </a:r>
                    </a:p>
                  </a:txBody>
                  <a:tcPr marL="109728" marR="109728" anchor="ctr">
                    <a:solidFill>
                      <a:srgbClr val="FFFFFF"/>
                    </a:solidFill>
                  </a:tcPr>
                </a:tc>
                <a:tc>
                  <a:txBody>
                    <a:bodyPr/>
                    <a:lstStyle/>
                    <a:p>
                      <a:r>
                        <a:rPr sz="1200" b="0">
                          <a:solidFill>
                            <a:srgbClr val="1F2533"/>
                          </a:solidFill>
                          <a:latin typeface="Calibri"/>
                        </a:rPr>
                        <a:t>0  (proxy bypassed)</a:t>
                      </a:r>
                    </a:p>
                  </a:txBody>
                  <a:tcPr marL="109728" marR="109728" anchor="ctr">
                    <a:solidFill>
                      <a:srgbClr val="FFFFFF"/>
                    </a:solidFill>
                  </a:tcPr>
                </a:tc>
              </a:tr>
              <a:tr h="329184">
                <a:tc>
                  <a:txBody>
                    <a:bodyPr/>
                    <a:lstStyle/>
                    <a:p>
                      <a:r>
                        <a:rPr sz="1200" b="1">
                          <a:solidFill>
                            <a:srgbClr val="1F2533"/>
                          </a:solidFill>
                          <a:latin typeface="Calibri"/>
                        </a:rPr>
                        <a:t>true → self.delete()</a:t>
                      </a:r>
                    </a:p>
                  </a:txBody>
                  <a:tcPr marL="109728" marR="109728" anchor="ctr">
                    <a:solidFill>
                      <a:srgbClr val="F1F3F7"/>
                    </a:solidFill>
                  </a:tcPr>
                </a:tc>
                <a:tc>
                  <a:txBody>
                    <a:bodyPr/>
                    <a:lstStyle/>
                    <a:p>
                      <a:r>
                        <a:rPr sz="1200" b="0">
                          <a:solidFill>
                            <a:srgbClr val="1F2533"/>
                          </a:solidFill>
                          <a:latin typeface="Calibri"/>
                        </a:rPr>
                        <a:t>2  (through the proxy)</a:t>
                      </a:r>
                    </a:p>
                  </a:txBody>
                  <a:tcPr marL="109728" marR="109728" anchor="ctr">
                    <a:solidFill>
                      <a:srgbClr val="F1F3F7"/>
                    </a:solidFill>
                  </a:tcPr>
                </a:tc>
              </a:tr>
            </a:tbl>
          </a:graphicData>
        </a:graphic>
      </p:graphicFrame>
      <p:sp>
        <p:nvSpPr>
          <p:cNvPr id="17" name="Rounded Rectangle 16"/>
          <p:cNvSpPr/>
          <p:nvPr/>
        </p:nvSpPr>
        <p:spPr>
          <a:xfrm>
            <a:off x="6492240" y="1508760"/>
            <a:ext cx="5120640" cy="36576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59" y="1645919"/>
            <a:ext cx="4572000" cy="320040"/>
          </a:xfrm>
          <a:prstGeom prst="rect">
            <a:avLst/>
          </a:prstGeom>
          <a:noFill/>
        </p:spPr>
        <p:txBody>
          <a:bodyPr wrap="square" anchor="t" lIns="0" rIns="0" tIns="0" bIns="0">
            <a:spAutoFit/>
          </a:bodyPr>
          <a:lstStyle/>
          <a:p>
            <a:pPr algn="l">
              <a:spcAft>
                <a:spcPts val="0"/>
              </a:spcAft>
            </a:pPr>
            <a:r>
              <a:rPr sz="1100" b="1" i="0">
                <a:solidFill>
                  <a:srgbClr val="B08A3E"/>
                </a:solidFill>
                <a:latin typeface="Calibri"/>
              </a:rPr>
              <a:t>Real log · deleteBulk(viaProxy=true)</a:t>
            </a:r>
          </a:p>
        </p:txBody>
      </p:sp>
      <p:sp>
        <p:nvSpPr>
          <p:cNvPr id="19" name="TextBox 18"/>
          <p:cNvSpPr txBox="1"/>
          <p:nvPr/>
        </p:nvSpPr>
        <p:spPr>
          <a:xfrm>
            <a:off x="6766559" y="2011680"/>
            <a:ext cx="4572000" cy="3017520"/>
          </a:xfrm>
          <a:prstGeom prst="rect">
            <a:avLst/>
          </a:prstGeom>
          <a:noFill/>
        </p:spPr>
        <p:txBody>
          <a:bodyPr wrap="square" anchor="t" lIns="0" rIns="0" tIns="0" bIns="0">
            <a:spAutoFit/>
          </a:bodyPr>
          <a:lstStyle/>
          <a:p>
            <a:pPr algn="l">
              <a:lnSpc>
                <a:spcPct val="105000"/>
              </a:lnSpc>
              <a:spcAft>
                <a:spcPts val="0"/>
              </a:spcAft>
            </a:pPr>
            <a:r>
              <a:rPr sz="1100" b="0" i="0">
                <a:solidFill>
                  <a:srgbClr val="E4E8EF"/>
                </a:solidFill>
                <a:latin typeface="Courier New"/>
              </a:rPr>
              <a:t>[AUDIT] start BOOK_DELETE [3]</a:t>
            </a:r>
          </a:p>
          <a:p>
            <a:pPr algn="l">
              <a:lnSpc>
                <a:spcPct val="105000"/>
              </a:lnSpc>
              <a:spcAft>
                <a:spcPts val="0"/>
              </a:spcAft>
            </a:pPr>
            <a:r>
              <a:rPr sz="1100" b="0" i="0">
                <a:solidFill>
                  <a:srgbClr val="E4E8EF"/>
                </a:solidFill>
                <a:latin typeface="Courier New"/>
              </a:rPr>
              <a:t>[LOG] -&gt; BookService.delete(..) args=[3]</a:t>
            </a:r>
          </a:p>
          <a:p>
            <a:pPr algn="l">
              <a:lnSpc>
                <a:spcPct val="105000"/>
              </a:lnSpc>
              <a:spcAft>
                <a:spcPts val="0"/>
              </a:spcAft>
            </a:pPr>
            <a:r>
              <a:rPr sz="1100" b="0" i="0">
                <a:solidFill>
                  <a:srgbClr val="E4E8EF"/>
                </a:solidFill>
                <a:latin typeface="Courier New"/>
              </a:rPr>
              <a:t>[TRACE]   -&gt; BookService.delete(..)</a:t>
            </a:r>
          </a:p>
          <a:p>
            <a:pPr algn="l">
              <a:lnSpc>
                <a:spcPct val="105000"/>
              </a:lnSpc>
              <a:spcAft>
                <a:spcPts val="0"/>
              </a:spcAft>
            </a:pPr>
            <a:r>
              <a:rPr sz="1100" b="0" i="0">
                <a:solidFill>
                  <a:srgbClr val="E4E8EF"/>
                </a:solidFill>
                <a:latin typeface="Courier New"/>
              </a:rPr>
              <a:t>[TRACE]     -&gt; CitationCache.evict(..)</a:t>
            </a:r>
          </a:p>
          <a:p>
            <a:pPr algn="l">
              <a:lnSpc>
                <a:spcPct val="105000"/>
              </a:lnSpc>
              <a:spcAft>
                <a:spcPts val="0"/>
              </a:spcAft>
            </a:pPr>
            <a:r>
              <a:rPr sz="1100" b="0" i="0">
                <a:solidFill>
                  <a:srgbClr val="E4E8EF"/>
                </a:solidFill>
                <a:latin typeface="Courier New"/>
              </a:rPr>
              <a:t>[TRACE]     &lt;- CitationCache.evict(..)</a:t>
            </a:r>
          </a:p>
          <a:p>
            <a:pPr algn="l">
              <a:lnSpc>
                <a:spcPct val="105000"/>
              </a:lnSpc>
              <a:spcAft>
                <a:spcPts val="0"/>
              </a:spcAft>
            </a:pPr>
            <a:r>
              <a:rPr sz="1100" b="0" i="0">
                <a:solidFill>
                  <a:srgbClr val="E4E8EF"/>
                </a:solidFill>
                <a:latin typeface="Courier New"/>
              </a:rPr>
              <a:t>[TRACE]   &lt;- BookService.delete(..)</a:t>
            </a:r>
          </a:p>
          <a:p>
            <a:pPr algn="l">
              <a:lnSpc>
                <a:spcPct val="105000"/>
              </a:lnSpc>
              <a:spcAft>
                <a:spcPts val="0"/>
              </a:spcAft>
            </a:pPr>
            <a:r>
              <a:rPr sz="1100" b="0" i="0">
                <a:solidFill>
                  <a:srgbClr val="E4E8EF"/>
                </a:solidFill>
                <a:latin typeface="Courier New"/>
              </a:rPr>
              <a:t>[TIME] BookService.delete(..) - 1 ms</a:t>
            </a:r>
          </a:p>
          <a:p>
            <a:pPr algn="l">
              <a:lnSpc>
                <a:spcPct val="105000"/>
              </a:lnSpc>
              <a:spcAft>
                <a:spcPts val="0"/>
              </a:spcAft>
            </a:pPr>
            <a:r>
              <a:rPr sz="1100" b="0" i="0">
                <a:solidFill>
                  <a:srgbClr val="E4E8EF"/>
                </a:solidFill>
                <a:latin typeface="Courier New"/>
              </a:rPr>
              <a:t>[AUDIT] BOOK_DELETE success</a:t>
            </a:r>
          </a:p>
          <a:p>
            <a:pPr algn="l">
              <a:lnSpc>
                <a:spcPct val="105000"/>
              </a:lnSpc>
              <a:spcAft>
                <a:spcPts val="0"/>
              </a:spcAft>
            </a:pPr>
            <a:r>
              <a:rPr sz="1100" b="0" i="0">
                <a:solidFill>
                  <a:srgbClr val="E4E8EF"/>
                </a:solidFill>
                <a:latin typeface="Courier New"/>
              </a:rPr>
              <a:t/>
            </a:r>
          </a:p>
          <a:p>
            <a:pPr algn="l">
              <a:lnSpc>
                <a:spcPct val="105000"/>
              </a:lnSpc>
              <a:spcAft>
                <a:spcPts val="0"/>
              </a:spcAft>
            </a:pPr>
            <a:r>
              <a:rPr sz="1100" b="0" i="0">
                <a:solidFill>
                  <a:srgbClr val="E4E8EF"/>
                </a:solidFill>
                <a:latin typeface="Courier New"/>
              </a:rPr>
              <a:t>[TIME] SLOW: BookService.statistics() - 301 ms</a:t>
            </a:r>
          </a:p>
        </p:txBody>
      </p:sp>
      <p:sp>
        <p:nvSpPr>
          <p:cNvPr id="20" name="Rounded Rectangle 19"/>
          <p:cNvSpPr/>
          <p:nvPr/>
        </p:nvSpPr>
        <p:spPr>
          <a:xfrm>
            <a:off x="6492240" y="5349240"/>
            <a:ext cx="5120640" cy="86868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5394960"/>
            <a:ext cx="4663440" cy="777240"/>
          </a:xfrm>
          <a:prstGeom prst="rect">
            <a:avLst/>
          </a:prstGeom>
          <a:noFill/>
        </p:spPr>
        <p:txBody>
          <a:bodyPr wrap="square" anchor="ctr" lIns="0" rIns="0" tIns="0" bIns="0">
            <a:spAutoFit/>
          </a:bodyPr>
          <a:lstStyle/>
          <a:p>
            <a:pPr algn="l">
              <a:spcAft>
                <a:spcPts val="0"/>
              </a:spcAft>
            </a:pPr>
            <a:r>
              <a:rPr sz="1300" b="1" i="0">
                <a:solidFill>
                  <a:srgbClr val="B08A3E"/>
                </a:solidFill>
                <a:latin typeface="Calibri"/>
              </a:rPr>
              <a:t>V8 Call Tracing: </a:t>
            </a:r>
            <a:r>
              <a:rPr sz="1300" b="0" i="0">
                <a:solidFill>
                  <a:srgbClr val="1F2533"/>
                </a:solidFill>
                <a:latin typeface="Calibri"/>
              </a:rPr>
              <a:t>@Before increases and @After decreases the ThreadLocal depth — the indent shows the nesting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Spring MVC: routing and status codes</a:t>
            </a:r>
          </a:p>
        </p:txBody>
      </p:sp>
      <p:sp>
        <p:nvSpPr>
          <p:cNvPr id="3" name="Rounded Rectangle 2"/>
          <p:cNvSpPr/>
          <p:nvPr/>
        </p:nvSpPr>
        <p:spPr>
          <a:xfrm>
            <a:off x="9646920" y="502920"/>
            <a:ext cx="2011680" cy="50292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Lab 5  ·  V6</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8</a:t>
            </a:r>
          </a:p>
        </p:txBody>
      </p:sp>
      <p:sp>
        <p:nvSpPr>
          <p:cNvPr id="7" name="Rounded Rectangle 6"/>
          <p:cNvSpPr/>
          <p:nvPr/>
        </p:nvSpPr>
        <p:spPr>
          <a:xfrm>
            <a:off x="548640" y="1508760"/>
            <a:ext cx="2587752" cy="132588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81912"/>
            <a:ext cx="1097280" cy="640080"/>
          </a:xfrm>
          <a:prstGeom prst="rect">
            <a:avLst/>
          </a:prstGeom>
          <a:noFill/>
        </p:spPr>
        <p:txBody>
          <a:bodyPr wrap="square" anchor="t" lIns="0" rIns="0" tIns="0" bIns="0">
            <a:spAutoFit/>
          </a:bodyPr>
          <a:lstStyle/>
          <a:p>
            <a:pPr algn="l">
              <a:spcAft>
                <a:spcPts val="0"/>
              </a:spcAft>
            </a:pPr>
            <a:r>
              <a:rPr sz="3200" b="1" i="0">
                <a:solidFill>
                  <a:srgbClr val="B08A3E"/>
                </a:solidFill>
                <a:latin typeface="Cambria"/>
              </a:rPr>
              <a:t>200</a:t>
            </a:r>
          </a:p>
        </p:txBody>
      </p:sp>
      <p:sp>
        <p:nvSpPr>
          <p:cNvPr id="9" name="TextBox 8"/>
          <p:cNvSpPr txBox="1"/>
          <p:nvPr/>
        </p:nvSpPr>
        <p:spPr>
          <a:xfrm>
            <a:off x="731520" y="2221991"/>
            <a:ext cx="2286000" cy="292608"/>
          </a:xfrm>
          <a:prstGeom prst="rect">
            <a:avLst/>
          </a:prstGeom>
          <a:noFill/>
        </p:spPr>
        <p:txBody>
          <a:bodyPr wrap="square" anchor="t" lIns="0" rIns="0" tIns="0" bIns="0">
            <a:spAutoFit/>
          </a:bodyPr>
          <a:lstStyle/>
          <a:p>
            <a:pPr algn="l">
              <a:spcAft>
                <a:spcPts val="0"/>
              </a:spcAft>
            </a:pPr>
            <a:r>
              <a:rPr sz="1200" b="1" i="0">
                <a:solidFill>
                  <a:srgbClr val="1B2A41"/>
                </a:solidFill>
                <a:latin typeface="Courier New"/>
              </a:rPr>
              <a:t>GET /api/books</a:t>
            </a:r>
          </a:p>
        </p:txBody>
      </p:sp>
      <p:sp>
        <p:nvSpPr>
          <p:cNvPr id="10" name="TextBox 9"/>
          <p:cNvSpPr txBox="1"/>
          <p:nvPr/>
        </p:nvSpPr>
        <p:spPr>
          <a:xfrm>
            <a:off x="731520" y="2496312"/>
            <a:ext cx="2286000" cy="2743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list, ?author, ?limit</a:t>
            </a:r>
          </a:p>
        </p:txBody>
      </p:sp>
      <p:sp>
        <p:nvSpPr>
          <p:cNvPr id="11" name="Rounded Rectangle 10"/>
          <p:cNvSpPr/>
          <p:nvPr/>
        </p:nvSpPr>
        <p:spPr>
          <a:xfrm>
            <a:off x="3364992" y="1508760"/>
            <a:ext cx="2587752" cy="132588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47872" y="1581912"/>
            <a:ext cx="1097280" cy="640080"/>
          </a:xfrm>
          <a:prstGeom prst="rect">
            <a:avLst/>
          </a:prstGeom>
          <a:noFill/>
        </p:spPr>
        <p:txBody>
          <a:bodyPr wrap="square" anchor="t" lIns="0" rIns="0" tIns="0" bIns="0">
            <a:spAutoFit/>
          </a:bodyPr>
          <a:lstStyle/>
          <a:p>
            <a:pPr algn="l">
              <a:spcAft>
                <a:spcPts val="0"/>
              </a:spcAft>
            </a:pPr>
            <a:r>
              <a:rPr sz="3200" b="1" i="0">
                <a:solidFill>
                  <a:srgbClr val="B08A3E"/>
                </a:solidFill>
                <a:latin typeface="Cambria"/>
              </a:rPr>
              <a:t>201</a:t>
            </a:r>
          </a:p>
        </p:txBody>
      </p:sp>
      <p:sp>
        <p:nvSpPr>
          <p:cNvPr id="13" name="TextBox 12"/>
          <p:cNvSpPr txBox="1"/>
          <p:nvPr/>
        </p:nvSpPr>
        <p:spPr>
          <a:xfrm>
            <a:off x="3547872" y="2221991"/>
            <a:ext cx="2286000" cy="292608"/>
          </a:xfrm>
          <a:prstGeom prst="rect">
            <a:avLst/>
          </a:prstGeom>
          <a:noFill/>
        </p:spPr>
        <p:txBody>
          <a:bodyPr wrap="square" anchor="t" lIns="0" rIns="0" tIns="0" bIns="0">
            <a:spAutoFit/>
          </a:bodyPr>
          <a:lstStyle/>
          <a:p>
            <a:pPr algn="l">
              <a:spcAft>
                <a:spcPts val="0"/>
              </a:spcAft>
            </a:pPr>
            <a:r>
              <a:rPr sz="1200" b="1" i="0">
                <a:solidFill>
                  <a:srgbClr val="1B2A41"/>
                </a:solidFill>
                <a:latin typeface="Courier New"/>
              </a:rPr>
              <a:t>POST /api/books</a:t>
            </a:r>
          </a:p>
        </p:txBody>
      </p:sp>
      <p:sp>
        <p:nvSpPr>
          <p:cNvPr id="14" name="TextBox 13"/>
          <p:cNvSpPr txBox="1"/>
          <p:nvPr/>
        </p:nvSpPr>
        <p:spPr>
          <a:xfrm>
            <a:off x="3547872" y="2496312"/>
            <a:ext cx="2286000" cy="2743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 Location</a:t>
            </a:r>
          </a:p>
        </p:txBody>
      </p:sp>
      <p:sp>
        <p:nvSpPr>
          <p:cNvPr id="15" name="Rounded Rectangle 14"/>
          <p:cNvSpPr/>
          <p:nvPr/>
        </p:nvSpPr>
        <p:spPr>
          <a:xfrm>
            <a:off x="6181344" y="1508760"/>
            <a:ext cx="2587752" cy="132588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1581912"/>
            <a:ext cx="1097280" cy="640080"/>
          </a:xfrm>
          <a:prstGeom prst="rect">
            <a:avLst/>
          </a:prstGeom>
          <a:noFill/>
        </p:spPr>
        <p:txBody>
          <a:bodyPr wrap="square" anchor="t" lIns="0" rIns="0" tIns="0" bIns="0">
            <a:spAutoFit/>
          </a:bodyPr>
          <a:lstStyle/>
          <a:p>
            <a:pPr algn="l">
              <a:spcAft>
                <a:spcPts val="0"/>
              </a:spcAft>
            </a:pPr>
            <a:r>
              <a:rPr sz="3200" b="1" i="0">
                <a:solidFill>
                  <a:srgbClr val="B08A3E"/>
                </a:solidFill>
                <a:latin typeface="Cambria"/>
              </a:rPr>
              <a:t>204</a:t>
            </a:r>
          </a:p>
        </p:txBody>
      </p:sp>
      <p:sp>
        <p:nvSpPr>
          <p:cNvPr id="17" name="TextBox 16"/>
          <p:cNvSpPr txBox="1"/>
          <p:nvPr/>
        </p:nvSpPr>
        <p:spPr>
          <a:xfrm>
            <a:off x="6364224" y="2221991"/>
            <a:ext cx="2286000" cy="292608"/>
          </a:xfrm>
          <a:prstGeom prst="rect">
            <a:avLst/>
          </a:prstGeom>
          <a:noFill/>
        </p:spPr>
        <p:txBody>
          <a:bodyPr wrap="square" anchor="t" lIns="0" rIns="0" tIns="0" bIns="0">
            <a:spAutoFit/>
          </a:bodyPr>
          <a:lstStyle/>
          <a:p>
            <a:pPr algn="l">
              <a:spcAft>
                <a:spcPts val="0"/>
              </a:spcAft>
            </a:pPr>
            <a:r>
              <a:rPr sz="1200" b="1" i="0">
                <a:solidFill>
                  <a:srgbClr val="1B2A41"/>
                </a:solidFill>
                <a:latin typeface="Courier New"/>
              </a:rPr>
              <a:t>DELETE /api/books/2</a:t>
            </a:r>
          </a:p>
        </p:txBody>
      </p:sp>
      <p:sp>
        <p:nvSpPr>
          <p:cNvPr id="18" name="TextBox 17"/>
          <p:cNvSpPr txBox="1"/>
          <p:nvPr/>
        </p:nvSpPr>
        <p:spPr>
          <a:xfrm>
            <a:off x="6364224" y="2496312"/>
            <a:ext cx="2286000" cy="2743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deleted</a:t>
            </a:r>
          </a:p>
        </p:txBody>
      </p:sp>
      <p:sp>
        <p:nvSpPr>
          <p:cNvPr id="19" name="Rounded Rectangle 18"/>
          <p:cNvSpPr/>
          <p:nvPr/>
        </p:nvSpPr>
        <p:spPr>
          <a:xfrm>
            <a:off x="8997696" y="1508760"/>
            <a:ext cx="2587752" cy="1325880"/>
          </a:xfrm>
          <a:prstGeom prst="roundRect">
            <a:avLst>
              <a:gd name="adj" fmla="val 8000"/>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0576" y="1581912"/>
            <a:ext cx="1097280" cy="640080"/>
          </a:xfrm>
          <a:prstGeom prst="rect">
            <a:avLst/>
          </a:prstGeom>
          <a:noFill/>
        </p:spPr>
        <p:txBody>
          <a:bodyPr wrap="square" anchor="t" lIns="0" rIns="0" tIns="0" bIns="0">
            <a:spAutoFit/>
          </a:bodyPr>
          <a:lstStyle/>
          <a:p>
            <a:pPr algn="l">
              <a:spcAft>
                <a:spcPts val="0"/>
              </a:spcAft>
            </a:pPr>
            <a:r>
              <a:rPr sz="3200" b="1" i="0">
                <a:solidFill>
                  <a:srgbClr val="A3352B"/>
                </a:solidFill>
                <a:latin typeface="Cambria"/>
              </a:rPr>
              <a:t>404</a:t>
            </a:r>
          </a:p>
        </p:txBody>
      </p:sp>
      <p:sp>
        <p:nvSpPr>
          <p:cNvPr id="21" name="TextBox 20"/>
          <p:cNvSpPr txBox="1"/>
          <p:nvPr/>
        </p:nvSpPr>
        <p:spPr>
          <a:xfrm>
            <a:off x="9180576" y="2221991"/>
            <a:ext cx="2286000" cy="292608"/>
          </a:xfrm>
          <a:prstGeom prst="rect">
            <a:avLst/>
          </a:prstGeom>
          <a:noFill/>
        </p:spPr>
        <p:txBody>
          <a:bodyPr wrap="square" anchor="t" lIns="0" rIns="0" tIns="0" bIns="0">
            <a:spAutoFit/>
          </a:bodyPr>
          <a:lstStyle/>
          <a:p>
            <a:pPr algn="l">
              <a:spcAft>
                <a:spcPts val="0"/>
              </a:spcAft>
            </a:pPr>
            <a:r>
              <a:rPr sz="1200" b="1" i="0">
                <a:solidFill>
                  <a:srgbClr val="1B2A41"/>
                </a:solidFill>
                <a:latin typeface="Courier New"/>
              </a:rPr>
              <a:t>DELETE again</a:t>
            </a:r>
          </a:p>
        </p:txBody>
      </p:sp>
      <p:sp>
        <p:nvSpPr>
          <p:cNvPr id="22" name="TextBox 21"/>
          <p:cNvSpPr txBox="1"/>
          <p:nvPr/>
        </p:nvSpPr>
        <p:spPr>
          <a:xfrm>
            <a:off x="9180576" y="2496312"/>
            <a:ext cx="2286000" cy="2743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already gone</a:t>
            </a:r>
          </a:p>
        </p:txBody>
      </p:sp>
      <p:sp>
        <p:nvSpPr>
          <p:cNvPr id="23" name="Rounded Rectangle 22"/>
          <p:cNvSpPr/>
          <p:nvPr/>
        </p:nvSpPr>
        <p:spPr>
          <a:xfrm>
            <a:off x="548640" y="3017520"/>
            <a:ext cx="2587752" cy="1325880"/>
          </a:xfrm>
          <a:prstGeom prst="roundRect">
            <a:avLst>
              <a:gd name="adj" fmla="val 8000"/>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090672"/>
            <a:ext cx="1097280" cy="640080"/>
          </a:xfrm>
          <a:prstGeom prst="rect">
            <a:avLst/>
          </a:prstGeom>
          <a:noFill/>
        </p:spPr>
        <p:txBody>
          <a:bodyPr wrap="square" anchor="t" lIns="0" rIns="0" tIns="0" bIns="0">
            <a:spAutoFit/>
          </a:bodyPr>
          <a:lstStyle/>
          <a:p>
            <a:pPr algn="l">
              <a:spcAft>
                <a:spcPts val="0"/>
              </a:spcAft>
            </a:pPr>
            <a:r>
              <a:rPr sz="3200" b="1" i="0">
                <a:solidFill>
                  <a:srgbClr val="A3352B"/>
                </a:solidFill>
                <a:latin typeface="Cambria"/>
              </a:rPr>
              <a:t>400</a:t>
            </a:r>
          </a:p>
        </p:txBody>
      </p:sp>
      <p:sp>
        <p:nvSpPr>
          <p:cNvPr id="25" name="TextBox 24"/>
          <p:cNvSpPr txBox="1"/>
          <p:nvPr/>
        </p:nvSpPr>
        <p:spPr>
          <a:xfrm>
            <a:off x="731520" y="3730752"/>
            <a:ext cx="2286000" cy="292608"/>
          </a:xfrm>
          <a:prstGeom prst="rect">
            <a:avLst/>
          </a:prstGeom>
          <a:noFill/>
        </p:spPr>
        <p:txBody>
          <a:bodyPr wrap="square" anchor="t" lIns="0" rIns="0" tIns="0" bIns="0">
            <a:spAutoFit/>
          </a:bodyPr>
          <a:lstStyle/>
          <a:p>
            <a:pPr algn="l">
              <a:spcAft>
                <a:spcPts val="0"/>
              </a:spcAft>
            </a:pPr>
            <a:r>
              <a:rPr sz="1200" b="1" i="0">
                <a:solidFill>
                  <a:srgbClr val="1B2A41"/>
                </a:solidFill>
                <a:latin typeface="Courier New"/>
              </a:rPr>
              <a:t>GET /api/books/abc</a:t>
            </a:r>
          </a:p>
        </p:txBody>
      </p:sp>
      <p:sp>
        <p:nvSpPr>
          <p:cNvPr id="26" name="TextBox 25"/>
          <p:cNvSpPr txBox="1"/>
          <p:nvPr/>
        </p:nvSpPr>
        <p:spPr>
          <a:xfrm>
            <a:off x="731520" y="4005072"/>
            <a:ext cx="2286000" cy="2743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abc → long fails</a:t>
            </a:r>
          </a:p>
        </p:txBody>
      </p:sp>
      <p:sp>
        <p:nvSpPr>
          <p:cNvPr id="27" name="Rounded Rectangle 26"/>
          <p:cNvSpPr/>
          <p:nvPr/>
        </p:nvSpPr>
        <p:spPr>
          <a:xfrm>
            <a:off x="3364992" y="3017520"/>
            <a:ext cx="2587752" cy="1325880"/>
          </a:xfrm>
          <a:prstGeom prst="roundRect">
            <a:avLst>
              <a:gd name="adj" fmla="val 8000"/>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47872" y="3090672"/>
            <a:ext cx="1097280" cy="640080"/>
          </a:xfrm>
          <a:prstGeom prst="rect">
            <a:avLst/>
          </a:prstGeom>
          <a:noFill/>
        </p:spPr>
        <p:txBody>
          <a:bodyPr wrap="square" anchor="t" lIns="0" rIns="0" tIns="0" bIns="0">
            <a:spAutoFit/>
          </a:bodyPr>
          <a:lstStyle/>
          <a:p>
            <a:pPr algn="l">
              <a:spcAft>
                <a:spcPts val="0"/>
              </a:spcAft>
            </a:pPr>
            <a:r>
              <a:rPr sz="3200" b="1" i="0">
                <a:solidFill>
                  <a:srgbClr val="A3352B"/>
                </a:solidFill>
                <a:latin typeface="Cambria"/>
              </a:rPr>
              <a:t>405</a:t>
            </a:r>
          </a:p>
        </p:txBody>
      </p:sp>
      <p:sp>
        <p:nvSpPr>
          <p:cNvPr id="29" name="TextBox 28"/>
          <p:cNvSpPr txBox="1"/>
          <p:nvPr/>
        </p:nvSpPr>
        <p:spPr>
          <a:xfrm>
            <a:off x="3547872" y="3730752"/>
            <a:ext cx="2286000" cy="292608"/>
          </a:xfrm>
          <a:prstGeom prst="rect">
            <a:avLst/>
          </a:prstGeom>
          <a:noFill/>
        </p:spPr>
        <p:txBody>
          <a:bodyPr wrap="square" anchor="t" lIns="0" rIns="0" tIns="0" bIns="0">
            <a:spAutoFit/>
          </a:bodyPr>
          <a:lstStyle/>
          <a:p>
            <a:pPr algn="l">
              <a:spcAft>
                <a:spcPts val="0"/>
              </a:spcAft>
            </a:pPr>
            <a:r>
              <a:rPr sz="1200" b="1" i="0">
                <a:solidFill>
                  <a:srgbClr val="1B2A41"/>
                </a:solidFill>
                <a:latin typeface="Courier New"/>
              </a:rPr>
              <a:t>DELETE /api/books</a:t>
            </a:r>
          </a:p>
        </p:txBody>
      </p:sp>
      <p:sp>
        <p:nvSpPr>
          <p:cNvPr id="30" name="TextBox 29"/>
          <p:cNvSpPr txBox="1"/>
          <p:nvPr/>
        </p:nvSpPr>
        <p:spPr>
          <a:xfrm>
            <a:off x="3547872" y="4005072"/>
            <a:ext cx="2286000" cy="2743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wrong method</a:t>
            </a:r>
          </a:p>
        </p:txBody>
      </p:sp>
      <p:sp>
        <p:nvSpPr>
          <p:cNvPr id="31" name="Rounded Rectangle 30"/>
          <p:cNvSpPr/>
          <p:nvPr/>
        </p:nvSpPr>
        <p:spPr>
          <a:xfrm>
            <a:off x="6181344" y="3017520"/>
            <a:ext cx="2587752" cy="1325880"/>
          </a:xfrm>
          <a:prstGeom prst="roundRect">
            <a:avLst>
              <a:gd name="adj" fmla="val 8000"/>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64224" y="3090672"/>
            <a:ext cx="1097280" cy="640080"/>
          </a:xfrm>
          <a:prstGeom prst="rect">
            <a:avLst/>
          </a:prstGeom>
          <a:noFill/>
        </p:spPr>
        <p:txBody>
          <a:bodyPr wrap="square" anchor="t" lIns="0" rIns="0" tIns="0" bIns="0">
            <a:spAutoFit/>
          </a:bodyPr>
          <a:lstStyle/>
          <a:p>
            <a:pPr algn="l">
              <a:spcAft>
                <a:spcPts val="0"/>
              </a:spcAft>
            </a:pPr>
            <a:r>
              <a:rPr sz="3200" b="1" i="0">
                <a:solidFill>
                  <a:srgbClr val="A3352B"/>
                </a:solidFill>
                <a:latin typeface="Cambria"/>
              </a:rPr>
              <a:t>415</a:t>
            </a:r>
          </a:p>
        </p:txBody>
      </p:sp>
      <p:sp>
        <p:nvSpPr>
          <p:cNvPr id="33" name="TextBox 32"/>
          <p:cNvSpPr txBox="1"/>
          <p:nvPr/>
        </p:nvSpPr>
        <p:spPr>
          <a:xfrm>
            <a:off x="6364224" y="3730752"/>
            <a:ext cx="2286000" cy="292608"/>
          </a:xfrm>
          <a:prstGeom prst="rect">
            <a:avLst/>
          </a:prstGeom>
          <a:noFill/>
        </p:spPr>
        <p:txBody>
          <a:bodyPr wrap="square" anchor="t" lIns="0" rIns="0" tIns="0" bIns="0">
            <a:spAutoFit/>
          </a:bodyPr>
          <a:lstStyle/>
          <a:p>
            <a:pPr algn="l">
              <a:spcAft>
                <a:spcPts val="0"/>
              </a:spcAft>
            </a:pPr>
            <a:r>
              <a:rPr sz="1200" b="1" i="0">
                <a:solidFill>
                  <a:srgbClr val="1B2A41"/>
                </a:solidFill>
                <a:latin typeface="Courier New"/>
              </a:rPr>
              <a:t>POST text/plain</a:t>
            </a:r>
          </a:p>
        </p:txBody>
      </p:sp>
      <p:sp>
        <p:nvSpPr>
          <p:cNvPr id="34" name="TextBox 33"/>
          <p:cNvSpPr txBox="1"/>
          <p:nvPr/>
        </p:nvSpPr>
        <p:spPr>
          <a:xfrm>
            <a:off x="6364224" y="4005072"/>
            <a:ext cx="2286000" cy="2743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body media type</a:t>
            </a:r>
          </a:p>
        </p:txBody>
      </p:sp>
      <p:sp>
        <p:nvSpPr>
          <p:cNvPr id="35" name="Rounded Rectangle 34"/>
          <p:cNvSpPr/>
          <p:nvPr/>
        </p:nvSpPr>
        <p:spPr>
          <a:xfrm>
            <a:off x="8997696" y="3017520"/>
            <a:ext cx="2587752" cy="1325880"/>
          </a:xfrm>
          <a:prstGeom prst="roundRect">
            <a:avLst>
              <a:gd name="adj" fmla="val 8000"/>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80576" y="3090672"/>
            <a:ext cx="1097280" cy="640080"/>
          </a:xfrm>
          <a:prstGeom prst="rect">
            <a:avLst/>
          </a:prstGeom>
          <a:noFill/>
        </p:spPr>
        <p:txBody>
          <a:bodyPr wrap="square" anchor="t" lIns="0" rIns="0" tIns="0" bIns="0">
            <a:spAutoFit/>
          </a:bodyPr>
          <a:lstStyle/>
          <a:p>
            <a:pPr algn="l">
              <a:spcAft>
                <a:spcPts val="0"/>
              </a:spcAft>
            </a:pPr>
            <a:r>
              <a:rPr sz="3200" b="1" i="0">
                <a:solidFill>
                  <a:srgbClr val="A3352B"/>
                </a:solidFill>
                <a:latin typeface="Cambria"/>
              </a:rPr>
              <a:t>406</a:t>
            </a:r>
          </a:p>
        </p:txBody>
      </p:sp>
      <p:sp>
        <p:nvSpPr>
          <p:cNvPr id="37" name="TextBox 36"/>
          <p:cNvSpPr txBox="1"/>
          <p:nvPr/>
        </p:nvSpPr>
        <p:spPr>
          <a:xfrm>
            <a:off x="9180576" y="3730752"/>
            <a:ext cx="2286000" cy="292608"/>
          </a:xfrm>
          <a:prstGeom prst="rect">
            <a:avLst/>
          </a:prstGeom>
          <a:noFill/>
        </p:spPr>
        <p:txBody>
          <a:bodyPr wrap="square" anchor="t" lIns="0" rIns="0" tIns="0" bIns="0">
            <a:spAutoFit/>
          </a:bodyPr>
          <a:lstStyle/>
          <a:p>
            <a:pPr algn="l">
              <a:spcAft>
                <a:spcPts val="0"/>
              </a:spcAft>
            </a:pPr>
            <a:r>
              <a:rPr sz="1200" b="1" i="0">
                <a:solidFill>
                  <a:srgbClr val="1B2A41"/>
                </a:solidFill>
                <a:latin typeface="Courier New"/>
              </a:rPr>
              <a:t>Accept: xml</a:t>
            </a:r>
          </a:p>
        </p:txBody>
      </p:sp>
      <p:sp>
        <p:nvSpPr>
          <p:cNvPr id="38" name="TextBox 37"/>
          <p:cNvSpPr txBox="1"/>
          <p:nvPr/>
        </p:nvSpPr>
        <p:spPr>
          <a:xfrm>
            <a:off x="9180576" y="4005072"/>
            <a:ext cx="2286000" cy="27432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response media type</a:t>
            </a:r>
          </a:p>
        </p:txBody>
      </p:sp>
      <p:sp>
        <p:nvSpPr>
          <p:cNvPr id="39" name="TextBox 38"/>
          <p:cNvSpPr txBox="1"/>
          <p:nvPr/>
        </p:nvSpPr>
        <p:spPr>
          <a:xfrm>
            <a:off x="548640" y="4663440"/>
            <a:ext cx="5852160" cy="1645920"/>
          </a:xfrm>
          <a:prstGeom prst="rect">
            <a:avLst/>
          </a:prstGeom>
          <a:noFill/>
        </p:spPr>
        <p:txBody>
          <a:bodyPr wrap="square" lIns="0" rIns="0" tIns="0" bIns="0">
            <a:spAutoFit/>
          </a:bodyPr>
          <a:lstStyle/>
          <a:p>
            <a:pPr marL="274320" indent="-274320">
              <a:spcAft>
                <a:spcPts val="600"/>
              </a:spcAft>
              <a:buClr>
                <a:srgbClr val="B08A3E"/>
              </a:buClr>
              <a:buFont typeface="Arial"/>
              <a:buChar char="•"/>
            </a:pPr>
            <a:r>
              <a:rPr sz="1400" b="0">
                <a:solidFill>
                  <a:srgbClr val="1F2533"/>
                </a:solidFill>
                <a:latin typeface="Calibri"/>
              </a:rPr>
              <a:t>@RestController writes to the response body, @Controller returns a view name</a:t>
            </a:r>
          </a:p>
          <a:p>
            <a:pPr marL="274320" indent="-274320">
              <a:spcAft>
                <a:spcPts val="600"/>
              </a:spcAft>
              <a:buClr>
                <a:srgbClr val="B08A3E"/>
              </a:buClr>
              <a:buFont typeface="Arial"/>
              <a:buChar char="•"/>
            </a:pPr>
            <a:r>
              <a:rPr sz="1400" b="0">
                <a:solidFill>
                  <a:srgbClr val="1F2533"/>
                </a:solidFill>
                <a:latin typeface="Calibri"/>
              </a:rPr>
              <a:t>Post/Redirect/Get + flash: no duplicate after F5</a:t>
            </a:r>
          </a:p>
          <a:p>
            <a:pPr marL="274320" indent="-274320">
              <a:spcAft>
                <a:spcPts val="600"/>
              </a:spcAft>
              <a:buClr>
                <a:srgbClr val="B08A3E"/>
              </a:buClr>
              <a:buFont typeface="Arial"/>
              <a:buChar char="•"/>
            </a:pPr>
            <a:r>
              <a:rPr sz="1400" b="0">
                <a:solidFill>
                  <a:srgbClr val="1F2533"/>
                </a:solidFill>
                <a:latin typeface="Calibri"/>
              </a:rPr>
              <a:t>static/index.html and css/app.css — served without a controller</a:t>
            </a:r>
          </a:p>
        </p:txBody>
      </p:sp>
      <p:sp>
        <p:nvSpPr>
          <p:cNvPr id="40" name="Rounded Rectangle 39"/>
          <p:cNvSpPr/>
          <p:nvPr/>
        </p:nvSpPr>
        <p:spPr>
          <a:xfrm>
            <a:off x="6629400" y="4663440"/>
            <a:ext cx="4983480" cy="155448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03720" y="4800600"/>
            <a:ext cx="4434840" cy="320040"/>
          </a:xfrm>
          <a:prstGeom prst="rect">
            <a:avLst/>
          </a:prstGeom>
          <a:noFill/>
        </p:spPr>
        <p:txBody>
          <a:bodyPr wrap="square" anchor="t" lIns="0" rIns="0" tIns="0" bIns="0">
            <a:spAutoFit/>
          </a:bodyPr>
          <a:lstStyle/>
          <a:p>
            <a:pPr algn="l">
              <a:spcAft>
                <a:spcPts val="0"/>
              </a:spcAft>
            </a:pPr>
            <a:r>
              <a:rPr sz="1100" b="1" i="0">
                <a:solidFill>
                  <a:srgbClr val="B08A3E"/>
                </a:solidFill>
                <a:latin typeface="Calibri"/>
              </a:rPr>
              <a:t>Variant 6 · citation</a:t>
            </a:r>
          </a:p>
        </p:txBody>
      </p:sp>
      <p:sp>
        <p:nvSpPr>
          <p:cNvPr id="42" name="TextBox 41"/>
          <p:cNvSpPr txBox="1"/>
          <p:nvPr/>
        </p:nvSpPr>
        <p:spPr>
          <a:xfrm>
            <a:off x="6903720" y="5166359"/>
            <a:ext cx="4434840" cy="914400"/>
          </a:xfrm>
          <a:prstGeom prst="rect">
            <a:avLst/>
          </a:prstGeom>
          <a:noFill/>
        </p:spPr>
        <p:txBody>
          <a:bodyPr wrap="square" anchor="t" lIns="0" rIns="0" tIns="0" bIns="0">
            <a:spAutoFit/>
          </a:bodyPr>
          <a:lstStyle/>
          <a:p>
            <a:pPr algn="l">
              <a:lnSpc>
                <a:spcPct val="105000"/>
              </a:lnSpc>
              <a:spcAft>
                <a:spcPts val="0"/>
              </a:spcAft>
            </a:pPr>
            <a:r>
              <a:rPr sz="1200" b="0" i="0">
                <a:solidFill>
                  <a:srgbClr val="E4E8EF"/>
                </a:solidFill>
                <a:latin typeface="Courier New"/>
              </a:rPr>
              <a:t>@GetMapping(value = "/{id}/citation",</a:t>
            </a:r>
          </a:p>
          <a:p>
            <a:pPr algn="l">
              <a:lnSpc>
                <a:spcPct val="105000"/>
              </a:lnSpc>
              <a:spcAft>
                <a:spcPts val="0"/>
              </a:spcAft>
            </a:pPr>
            <a:r>
              <a:rPr sz="1200" b="0" i="0">
                <a:solidFill>
                  <a:srgbClr val="E4E8EF"/>
                </a:solidFill>
                <a:latin typeface="Courier New"/>
              </a:rPr>
              <a:t>            produces = "text/plain")</a:t>
            </a:r>
          </a:p>
          <a:p>
            <a:pPr algn="l">
              <a:lnSpc>
                <a:spcPct val="105000"/>
              </a:lnSpc>
              <a:spcAft>
                <a:spcPts val="0"/>
              </a:spcAft>
            </a:pPr>
            <a:r>
              <a:rPr sz="1200" b="0" i="0">
                <a:solidFill>
                  <a:srgbClr val="E4E8EF"/>
                </a:solidFill>
                <a:latin typeface="Courier New"/>
              </a:rPr>
              <a:t>→ Joshua Bloch (2018). Effective Java.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Forms, validation and error handling</a:t>
            </a:r>
          </a:p>
        </p:txBody>
      </p:sp>
      <p:sp>
        <p:nvSpPr>
          <p:cNvPr id="3" name="Rounded Rectangle 2"/>
          <p:cNvSpPr/>
          <p:nvPr/>
        </p:nvSpPr>
        <p:spPr>
          <a:xfrm>
            <a:off x="9646920" y="502920"/>
            <a:ext cx="2011680" cy="50292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Lab 6  ·  V7</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9</a:t>
            </a:r>
          </a:p>
        </p:txBody>
      </p:sp>
      <p:sp>
        <p:nvSpPr>
          <p:cNvPr id="7" name="Oval 6"/>
          <p:cNvSpPr/>
          <p:nvPr/>
        </p:nvSpPr>
        <p:spPr>
          <a:xfrm>
            <a:off x="1051560" y="1508760"/>
            <a:ext cx="594360" cy="594360"/>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1</a:t>
            </a:r>
          </a:p>
        </p:txBody>
      </p:sp>
      <p:sp>
        <p:nvSpPr>
          <p:cNvPr id="8" name="TextBox 7"/>
          <p:cNvSpPr txBox="1"/>
          <p:nvPr/>
        </p:nvSpPr>
        <p:spPr>
          <a:xfrm>
            <a:off x="548640" y="2194560"/>
            <a:ext cx="1691640" cy="320040"/>
          </a:xfrm>
          <a:prstGeom prst="rect">
            <a:avLst/>
          </a:prstGeom>
          <a:noFill/>
        </p:spPr>
        <p:txBody>
          <a:bodyPr wrap="square" anchor="t" lIns="0" rIns="0" tIns="0" bIns="0">
            <a:spAutoFit/>
          </a:bodyPr>
          <a:lstStyle/>
          <a:p>
            <a:pPr algn="ctr">
              <a:spcAft>
                <a:spcPts val="0"/>
              </a:spcAft>
            </a:pPr>
            <a:r>
              <a:rPr sz="1400" b="1" i="0">
                <a:solidFill>
                  <a:srgbClr val="1B2A41"/>
                </a:solidFill>
                <a:latin typeface="Calibri"/>
              </a:rPr>
              <a:t>Browser</a:t>
            </a:r>
          </a:p>
        </p:txBody>
      </p:sp>
      <p:sp>
        <p:nvSpPr>
          <p:cNvPr id="9" name="TextBox 8"/>
          <p:cNvSpPr txBox="1"/>
          <p:nvPr/>
        </p:nvSpPr>
        <p:spPr>
          <a:xfrm>
            <a:off x="548640" y="2514600"/>
            <a:ext cx="1691640" cy="640080"/>
          </a:xfrm>
          <a:prstGeom prst="rect">
            <a:avLst/>
          </a:prstGeom>
          <a:noFill/>
        </p:spPr>
        <p:txBody>
          <a:bodyPr wrap="square" anchor="t" lIns="0" rIns="0" tIns="0" bIns="0">
            <a:spAutoFit/>
          </a:bodyPr>
          <a:lstStyle/>
          <a:p>
            <a:pPr algn="ctr">
              <a:spcAft>
                <a:spcPts val="0"/>
              </a:spcAft>
            </a:pPr>
            <a:r>
              <a:rPr sz="1200" b="0" i="0">
                <a:solidFill>
                  <a:srgbClr val="5A6372"/>
                </a:solidFill>
                <a:latin typeface="Calibri"/>
              </a:rPr>
              <a:t>POST /books
title=</a:t>
            </a:r>
          </a:p>
        </p:txBody>
      </p:sp>
      <p:cxnSp>
        <p:nvCxnSpPr>
          <p:cNvPr id="10" name="Connector 9"/>
          <p:cNvCxnSpPr/>
          <p:nvPr/>
        </p:nvCxnSpPr>
        <p:spPr>
          <a:xfrm>
            <a:off x="1737360" y="1805940"/>
            <a:ext cx="1188720" cy="0"/>
          </a:xfrm>
          <a:prstGeom prst="line">
            <a:avLst/>
          </a:prstGeom>
          <a:ln w="25400">
            <a:solidFill>
              <a:srgbClr val="D5DB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926080" y="1508760"/>
            <a:ext cx="594360" cy="594360"/>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2</a:t>
            </a:r>
          </a:p>
        </p:txBody>
      </p:sp>
      <p:sp>
        <p:nvSpPr>
          <p:cNvPr id="12" name="TextBox 11"/>
          <p:cNvSpPr txBox="1"/>
          <p:nvPr/>
        </p:nvSpPr>
        <p:spPr>
          <a:xfrm>
            <a:off x="2423160" y="2194560"/>
            <a:ext cx="1691640" cy="320040"/>
          </a:xfrm>
          <a:prstGeom prst="rect">
            <a:avLst/>
          </a:prstGeom>
          <a:noFill/>
        </p:spPr>
        <p:txBody>
          <a:bodyPr wrap="square" anchor="t" lIns="0" rIns="0" tIns="0" bIns="0">
            <a:spAutoFit/>
          </a:bodyPr>
          <a:lstStyle/>
          <a:p>
            <a:pPr algn="ctr">
              <a:spcAft>
                <a:spcPts val="0"/>
              </a:spcAft>
            </a:pPr>
            <a:r>
              <a:rPr sz="1400" b="1" i="0">
                <a:solidFill>
                  <a:srgbClr val="1B2A41"/>
                </a:solidFill>
                <a:latin typeface="Calibri"/>
              </a:rPr>
              <a:t>WebDataBinder</a:t>
            </a:r>
          </a:p>
        </p:txBody>
      </p:sp>
      <p:sp>
        <p:nvSpPr>
          <p:cNvPr id="13" name="TextBox 12"/>
          <p:cNvSpPr txBox="1"/>
          <p:nvPr/>
        </p:nvSpPr>
        <p:spPr>
          <a:xfrm>
            <a:off x="2423160" y="2514600"/>
            <a:ext cx="1691640" cy="640080"/>
          </a:xfrm>
          <a:prstGeom prst="rect">
            <a:avLst/>
          </a:prstGeom>
          <a:noFill/>
        </p:spPr>
        <p:txBody>
          <a:bodyPr wrap="square" anchor="t" lIns="0" rIns="0" tIns="0" bIns="0">
            <a:spAutoFit/>
          </a:bodyPr>
          <a:lstStyle/>
          <a:p>
            <a:pPr algn="ctr">
              <a:spcAft>
                <a:spcPts val="0"/>
              </a:spcAft>
            </a:pPr>
            <a:r>
              <a:rPr sz="1200" b="0" i="0">
                <a:solidFill>
                  <a:srgbClr val="5A6372"/>
                </a:solidFill>
                <a:latin typeface="Calibri"/>
              </a:rPr>
              <a:t>→ BookForm
typeMismatch</a:t>
            </a:r>
          </a:p>
        </p:txBody>
      </p:sp>
      <p:cxnSp>
        <p:nvCxnSpPr>
          <p:cNvPr id="14" name="Connector 13"/>
          <p:cNvCxnSpPr/>
          <p:nvPr/>
        </p:nvCxnSpPr>
        <p:spPr>
          <a:xfrm>
            <a:off x="3611880" y="1805940"/>
            <a:ext cx="1188720" cy="0"/>
          </a:xfrm>
          <a:prstGeom prst="line">
            <a:avLst/>
          </a:prstGeom>
          <a:ln w="25400">
            <a:solidFill>
              <a:srgbClr val="D5DB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800599" y="1508760"/>
            <a:ext cx="594360" cy="594360"/>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3</a:t>
            </a:r>
          </a:p>
        </p:txBody>
      </p:sp>
      <p:sp>
        <p:nvSpPr>
          <p:cNvPr id="16" name="TextBox 15"/>
          <p:cNvSpPr txBox="1"/>
          <p:nvPr/>
        </p:nvSpPr>
        <p:spPr>
          <a:xfrm>
            <a:off x="4297679" y="2194560"/>
            <a:ext cx="1691640" cy="320040"/>
          </a:xfrm>
          <a:prstGeom prst="rect">
            <a:avLst/>
          </a:prstGeom>
          <a:noFill/>
        </p:spPr>
        <p:txBody>
          <a:bodyPr wrap="square" anchor="t" lIns="0" rIns="0" tIns="0" bIns="0">
            <a:spAutoFit/>
          </a:bodyPr>
          <a:lstStyle/>
          <a:p>
            <a:pPr algn="ctr">
              <a:spcAft>
                <a:spcPts val="0"/>
              </a:spcAft>
            </a:pPr>
            <a:r>
              <a:rPr sz="1400" b="1" i="0">
                <a:solidFill>
                  <a:srgbClr val="1B2A41"/>
                </a:solidFill>
                <a:latin typeface="Calibri"/>
              </a:rPr>
              <a:t>@Valid</a:t>
            </a:r>
          </a:p>
        </p:txBody>
      </p:sp>
      <p:sp>
        <p:nvSpPr>
          <p:cNvPr id="17" name="TextBox 16"/>
          <p:cNvSpPr txBox="1"/>
          <p:nvPr/>
        </p:nvSpPr>
        <p:spPr>
          <a:xfrm>
            <a:off x="4297679" y="2514600"/>
            <a:ext cx="1691640" cy="640080"/>
          </a:xfrm>
          <a:prstGeom prst="rect">
            <a:avLst/>
          </a:prstGeom>
          <a:noFill/>
        </p:spPr>
        <p:txBody>
          <a:bodyPr wrap="square" anchor="t" lIns="0" rIns="0" tIns="0" bIns="0">
            <a:spAutoFit/>
          </a:bodyPr>
          <a:lstStyle/>
          <a:p>
            <a:pPr algn="ctr">
              <a:spcAft>
                <a:spcPts val="0"/>
              </a:spcAft>
            </a:pPr>
            <a:r>
              <a:rPr sz="1200" b="0" i="0">
                <a:solidFill>
                  <a:srgbClr val="5A6372"/>
                </a:solidFill>
                <a:latin typeface="Calibri"/>
              </a:rPr>
              <a:t>Hibernate
Validator</a:t>
            </a:r>
          </a:p>
        </p:txBody>
      </p:sp>
      <p:cxnSp>
        <p:nvCxnSpPr>
          <p:cNvPr id="18" name="Connector 17"/>
          <p:cNvCxnSpPr/>
          <p:nvPr/>
        </p:nvCxnSpPr>
        <p:spPr>
          <a:xfrm>
            <a:off x="5486399" y="1805940"/>
            <a:ext cx="1188720" cy="0"/>
          </a:xfrm>
          <a:prstGeom prst="line">
            <a:avLst/>
          </a:prstGeom>
          <a:ln w="25400">
            <a:solidFill>
              <a:srgbClr val="D5DB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675119" y="1508760"/>
            <a:ext cx="594360" cy="594360"/>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4</a:t>
            </a:r>
          </a:p>
        </p:txBody>
      </p:sp>
      <p:sp>
        <p:nvSpPr>
          <p:cNvPr id="20" name="TextBox 19"/>
          <p:cNvSpPr txBox="1"/>
          <p:nvPr/>
        </p:nvSpPr>
        <p:spPr>
          <a:xfrm>
            <a:off x="6172199" y="2194560"/>
            <a:ext cx="1691640" cy="320040"/>
          </a:xfrm>
          <a:prstGeom prst="rect">
            <a:avLst/>
          </a:prstGeom>
          <a:noFill/>
        </p:spPr>
        <p:txBody>
          <a:bodyPr wrap="square" anchor="t" lIns="0" rIns="0" tIns="0" bIns="0">
            <a:spAutoFit/>
          </a:bodyPr>
          <a:lstStyle/>
          <a:p>
            <a:pPr algn="ctr">
              <a:spcAft>
                <a:spcPts val="0"/>
              </a:spcAft>
            </a:pPr>
            <a:r>
              <a:rPr sz="1400" b="1" i="0">
                <a:solidFill>
                  <a:srgbClr val="1B2A41"/>
                </a:solidFill>
                <a:latin typeface="Calibri"/>
              </a:rPr>
              <a:t>MessageSource</a:t>
            </a:r>
          </a:p>
        </p:txBody>
      </p:sp>
      <p:sp>
        <p:nvSpPr>
          <p:cNvPr id="21" name="TextBox 20"/>
          <p:cNvSpPr txBox="1"/>
          <p:nvPr/>
        </p:nvSpPr>
        <p:spPr>
          <a:xfrm>
            <a:off x="6172199" y="2514600"/>
            <a:ext cx="1691640" cy="640080"/>
          </a:xfrm>
          <a:prstGeom prst="rect">
            <a:avLst/>
          </a:prstGeom>
          <a:noFill/>
        </p:spPr>
        <p:txBody>
          <a:bodyPr wrap="square" anchor="t" lIns="0" rIns="0" tIns="0" bIns="0">
            <a:spAutoFit/>
          </a:bodyPr>
          <a:lstStyle/>
          <a:p>
            <a:pPr algn="ctr">
              <a:spcAft>
                <a:spcPts val="0"/>
              </a:spcAft>
            </a:pPr>
            <a:r>
              <a:rPr sz="1200" b="0" i="0">
                <a:solidFill>
                  <a:srgbClr val="5A6372"/>
                </a:solidFill>
                <a:latin typeface="Calibri"/>
              </a:rPr>
              <a:t>{book.title.
required} · ru/en</a:t>
            </a:r>
          </a:p>
        </p:txBody>
      </p:sp>
      <p:cxnSp>
        <p:nvCxnSpPr>
          <p:cNvPr id="22" name="Connector 21"/>
          <p:cNvCxnSpPr/>
          <p:nvPr/>
        </p:nvCxnSpPr>
        <p:spPr>
          <a:xfrm>
            <a:off x="7360919" y="1805940"/>
            <a:ext cx="1188721" cy="0"/>
          </a:xfrm>
          <a:prstGeom prst="line">
            <a:avLst/>
          </a:prstGeom>
          <a:ln w="25400">
            <a:solidFill>
              <a:srgbClr val="D5DB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8549640" y="1508760"/>
            <a:ext cx="594360" cy="594360"/>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5</a:t>
            </a:r>
          </a:p>
        </p:txBody>
      </p:sp>
      <p:sp>
        <p:nvSpPr>
          <p:cNvPr id="24" name="TextBox 23"/>
          <p:cNvSpPr txBox="1"/>
          <p:nvPr/>
        </p:nvSpPr>
        <p:spPr>
          <a:xfrm>
            <a:off x="8046719" y="2194560"/>
            <a:ext cx="1691640" cy="320040"/>
          </a:xfrm>
          <a:prstGeom prst="rect">
            <a:avLst/>
          </a:prstGeom>
          <a:noFill/>
        </p:spPr>
        <p:txBody>
          <a:bodyPr wrap="square" anchor="t" lIns="0" rIns="0" tIns="0" bIns="0">
            <a:spAutoFit/>
          </a:bodyPr>
          <a:lstStyle/>
          <a:p>
            <a:pPr algn="ctr">
              <a:spcAft>
                <a:spcPts val="0"/>
              </a:spcAft>
            </a:pPr>
            <a:r>
              <a:rPr sz="1400" b="1" i="0">
                <a:solidFill>
                  <a:srgbClr val="1B2A41"/>
                </a:solidFill>
                <a:latin typeface="Calibri"/>
              </a:rPr>
              <a:t>BindingResult</a:t>
            </a:r>
          </a:p>
        </p:txBody>
      </p:sp>
      <p:sp>
        <p:nvSpPr>
          <p:cNvPr id="25" name="TextBox 24"/>
          <p:cNvSpPr txBox="1"/>
          <p:nvPr/>
        </p:nvSpPr>
        <p:spPr>
          <a:xfrm>
            <a:off x="8046719" y="2514600"/>
            <a:ext cx="1691640" cy="640080"/>
          </a:xfrm>
          <a:prstGeom prst="rect">
            <a:avLst/>
          </a:prstGeom>
          <a:noFill/>
        </p:spPr>
        <p:txBody>
          <a:bodyPr wrap="square" anchor="t" lIns="0" rIns="0" tIns="0" bIns="0">
            <a:spAutoFit/>
          </a:bodyPr>
          <a:lstStyle/>
          <a:p>
            <a:pPr algn="ctr">
              <a:spcAft>
                <a:spcPts val="0"/>
              </a:spcAft>
            </a:pPr>
            <a:r>
              <a:rPr sz="1200" b="0" i="0">
                <a:solidFill>
                  <a:srgbClr val="5A6372"/>
                </a:solidFill>
                <a:latin typeface="Calibri"/>
              </a:rPr>
              <a:t>errors, no
exception</a:t>
            </a:r>
          </a:p>
        </p:txBody>
      </p:sp>
      <p:cxnSp>
        <p:nvCxnSpPr>
          <p:cNvPr id="26" name="Connector 25"/>
          <p:cNvCxnSpPr/>
          <p:nvPr/>
        </p:nvCxnSpPr>
        <p:spPr>
          <a:xfrm>
            <a:off x="9235440" y="1805940"/>
            <a:ext cx="1188719" cy="0"/>
          </a:xfrm>
          <a:prstGeom prst="line">
            <a:avLst/>
          </a:prstGeom>
          <a:ln w="25400">
            <a:solidFill>
              <a:srgbClr val="D5DB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10424160" y="1508760"/>
            <a:ext cx="594360" cy="594360"/>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6</a:t>
            </a:r>
          </a:p>
        </p:txBody>
      </p:sp>
      <p:sp>
        <p:nvSpPr>
          <p:cNvPr id="28" name="TextBox 27"/>
          <p:cNvSpPr txBox="1"/>
          <p:nvPr/>
        </p:nvSpPr>
        <p:spPr>
          <a:xfrm>
            <a:off x="9921240" y="2194560"/>
            <a:ext cx="1691640" cy="320040"/>
          </a:xfrm>
          <a:prstGeom prst="rect">
            <a:avLst/>
          </a:prstGeom>
          <a:noFill/>
        </p:spPr>
        <p:txBody>
          <a:bodyPr wrap="square" anchor="t" lIns="0" rIns="0" tIns="0" bIns="0">
            <a:spAutoFit/>
          </a:bodyPr>
          <a:lstStyle/>
          <a:p>
            <a:pPr algn="ctr">
              <a:spcAft>
                <a:spcPts val="0"/>
              </a:spcAft>
            </a:pPr>
            <a:r>
              <a:rPr sz="1400" b="1" i="0">
                <a:solidFill>
                  <a:srgbClr val="1B2A41"/>
                </a:solidFill>
                <a:latin typeface="Calibri"/>
              </a:rPr>
              <a:t>Thymeleaf</a:t>
            </a:r>
          </a:p>
        </p:txBody>
      </p:sp>
      <p:sp>
        <p:nvSpPr>
          <p:cNvPr id="29" name="TextBox 28"/>
          <p:cNvSpPr txBox="1"/>
          <p:nvPr/>
        </p:nvSpPr>
        <p:spPr>
          <a:xfrm>
            <a:off x="9921240" y="2514600"/>
            <a:ext cx="1691640" cy="640080"/>
          </a:xfrm>
          <a:prstGeom prst="rect">
            <a:avLst/>
          </a:prstGeom>
          <a:noFill/>
        </p:spPr>
        <p:txBody>
          <a:bodyPr wrap="square" anchor="t" lIns="0" rIns="0" tIns="0" bIns="0">
            <a:spAutoFit/>
          </a:bodyPr>
          <a:lstStyle/>
          <a:p>
            <a:pPr algn="ctr">
              <a:spcAft>
                <a:spcPts val="0"/>
              </a:spcAft>
            </a:pPr>
            <a:r>
              <a:rPr sz="1200" b="0" i="0">
                <a:solidFill>
                  <a:srgbClr val="5A6372"/>
                </a:solidFill>
                <a:latin typeface="Calibri"/>
              </a:rPr>
              <a:t>th:errors
th:errorclass</a:t>
            </a:r>
          </a:p>
        </p:txBody>
      </p:sp>
      <p:sp>
        <p:nvSpPr>
          <p:cNvPr id="30" name="Rounded Rectangle 29"/>
          <p:cNvSpPr/>
          <p:nvPr/>
        </p:nvSpPr>
        <p:spPr>
          <a:xfrm>
            <a:off x="548640" y="3429000"/>
            <a:ext cx="5394960" cy="27432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3520440"/>
            <a:ext cx="4937760" cy="365760"/>
          </a:xfrm>
          <a:prstGeom prst="rect">
            <a:avLst/>
          </a:prstGeom>
          <a:noFill/>
        </p:spPr>
        <p:txBody>
          <a:bodyPr wrap="square" anchor="t" lIns="0" rIns="0" tIns="0" bIns="0">
            <a:spAutoFit/>
          </a:bodyPr>
          <a:lstStyle/>
          <a:p>
            <a:pPr algn="l">
              <a:spcAft>
                <a:spcPts val="0"/>
              </a:spcAft>
            </a:pPr>
            <a:r>
              <a:rPr sz="1700" b="1" i="0">
                <a:solidFill>
                  <a:srgbClr val="1B2A41"/>
                </a:solidFill>
                <a:latin typeface="Calibri"/>
              </a:rPr>
              <a:t>Variant 7 · publication date</a:t>
            </a:r>
          </a:p>
        </p:txBody>
      </p:sp>
      <p:sp>
        <p:nvSpPr>
          <p:cNvPr id="32" name="TextBox 31"/>
          <p:cNvSpPr txBox="1"/>
          <p:nvPr/>
        </p:nvSpPr>
        <p:spPr>
          <a:xfrm>
            <a:off x="777240" y="3931920"/>
            <a:ext cx="4937760" cy="822960"/>
          </a:xfrm>
          <a:prstGeom prst="rect">
            <a:avLst/>
          </a:prstGeom>
          <a:noFill/>
        </p:spPr>
        <p:txBody>
          <a:bodyPr wrap="square" anchor="t" lIns="0" rIns="0" tIns="0" bIns="0">
            <a:spAutoFit/>
          </a:bodyPr>
          <a:lstStyle/>
          <a:p>
            <a:pPr algn="l">
              <a:spcAft>
                <a:spcPts val="0"/>
              </a:spcAft>
            </a:pPr>
            <a:r>
              <a:rPr sz="1200" b="0" i="0">
                <a:solidFill>
                  <a:srgbClr val="1F2533"/>
                </a:solidFill>
                <a:latin typeface="Courier New"/>
              </a:rPr>
              <a:t>@PastOrPresent</a:t>
            </a:r>
          </a:p>
          <a:p>
            <a:pPr algn="l">
              <a:spcAft>
                <a:spcPts val="0"/>
              </a:spcAft>
            </a:pPr>
            <a:r>
              <a:rPr sz="1200" b="0" i="0">
                <a:solidFill>
                  <a:srgbClr val="1F2533"/>
                </a:solidFill>
                <a:latin typeface="Courier New"/>
              </a:rPr>
              <a:t>@DateTimeFormat(style = "S-",</a:t>
            </a:r>
          </a:p>
          <a:p>
            <a:pPr algn="l">
              <a:spcAft>
                <a:spcPts val="0"/>
              </a:spcAft>
            </a:pPr>
            <a:r>
              <a:rPr sz="1200" b="0" i="0">
                <a:solidFill>
                  <a:srgbClr val="1F2533"/>
                </a:solidFill>
                <a:latin typeface="Courier New"/>
              </a:rPr>
              <a:t>  fallbackPatterns = "yyyy-MM-dd")</a:t>
            </a:r>
          </a:p>
        </p:txBody>
      </p:sp>
      <p:graphicFrame>
        <p:nvGraphicFramePr>
          <p:cNvPr id="33" name="Table 32"/>
          <p:cNvGraphicFramePr>
            <a:graphicFrameLocks noGrp="1"/>
          </p:cNvGraphicFramePr>
          <p:nvPr/>
        </p:nvGraphicFramePr>
        <p:xfrm>
          <a:off x="777240" y="4846320"/>
          <a:ext cx="4937760" cy="1097280"/>
        </p:xfrm>
        <a:graphic>
          <a:graphicData uri="http://schemas.openxmlformats.org/drawingml/2006/table">
            <a:tbl>
              <a:tblPr firstRow="1" bandRow="1">
                <a:tableStyleId>{5C22544A-7EE6-4342-B048-85BDC9FD1C3A}</a:tableStyleId>
              </a:tblPr>
              <a:tblGrid>
                <a:gridCol w="1097280"/>
                <a:gridCol w="1737360"/>
                <a:gridCol w="2103120"/>
              </a:tblGrid>
              <a:tr h="365760">
                <a:tc>
                  <a:txBody>
                    <a:bodyPr/>
                    <a:lstStyle/>
                    <a:p>
                      <a:r>
                        <a:rPr sz="1200" b="1">
                          <a:solidFill>
                            <a:srgbClr val="FFFFFF"/>
                          </a:solidFill>
                          <a:latin typeface="Calibri"/>
                        </a:rPr>
                        <a:t>Locale</a:t>
                      </a:r>
                    </a:p>
                  </a:txBody>
                  <a:tcPr marL="109728" marR="109728" anchor="ctr">
                    <a:solidFill>
                      <a:srgbClr val="1B2A41"/>
                    </a:solidFill>
                  </a:tcPr>
                </a:tc>
                <a:tc>
                  <a:txBody>
                    <a:bodyPr/>
                    <a:lstStyle/>
                    <a:p>
                      <a:r>
                        <a:rPr sz="1200" b="1">
                          <a:solidFill>
                            <a:srgbClr val="FFFFFF"/>
                          </a:solidFill>
                          <a:latin typeface="Calibri"/>
                        </a:rPr>
                        <a:t>Input</a:t>
                      </a:r>
                    </a:p>
                  </a:txBody>
                  <a:tcPr marL="109728" marR="109728" anchor="ctr">
                    <a:solidFill>
                      <a:srgbClr val="1B2A41"/>
                    </a:solidFill>
                  </a:tcPr>
                </a:tc>
                <a:tc>
                  <a:txBody>
                    <a:bodyPr/>
                    <a:lstStyle/>
                    <a:p>
                      <a:r>
                        <a:rPr sz="1200" b="1">
                          <a:solidFill>
                            <a:srgbClr val="FFFFFF"/>
                          </a:solidFill>
                          <a:latin typeface="Calibri"/>
                        </a:rPr>
                        <a:t>In the catalogue</a:t>
                      </a:r>
                    </a:p>
                  </a:txBody>
                  <a:tcPr marL="109728" marR="109728" anchor="ctr">
                    <a:solidFill>
                      <a:srgbClr val="1B2A41"/>
                    </a:solidFill>
                  </a:tcPr>
                </a:tc>
              </a:tr>
              <a:tr h="365760">
                <a:tc>
                  <a:txBody>
                    <a:bodyPr/>
                    <a:lstStyle/>
                    <a:p>
                      <a:r>
                        <a:rPr sz="1200" b="1">
                          <a:solidFill>
                            <a:srgbClr val="1F2533"/>
                          </a:solidFill>
                          <a:latin typeface="Calibri"/>
                        </a:rPr>
                        <a:t>en</a:t>
                      </a:r>
                    </a:p>
                  </a:txBody>
                  <a:tcPr marL="109728" marR="109728" anchor="ctr">
                    <a:solidFill>
                      <a:srgbClr val="FFFFFF"/>
                    </a:solidFill>
                  </a:tcPr>
                </a:tc>
                <a:tc>
                  <a:txBody>
                    <a:bodyPr/>
                    <a:lstStyle/>
                    <a:p>
                      <a:r>
                        <a:rPr sz="1200" b="0">
                          <a:solidFill>
                            <a:srgbClr val="1F2533"/>
                          </a:solidFill>
                          <a:latin typeface="Calibri"/>
                        </a:rPr>
                        <a:t>5/9/06</a:t>
                      </a:r>
                    </a:p>
                  </a:txBody>
                  <a:tcPr marL="109728" marR="109728" anchor="ctr">
                    <a:solidFill>
                      <a:srgbClr val="FFFFFF"/>
                    </a:solidFill>
                  </a:tcPr>
                </a:tc>
                <a:tc>
                  <a:txBody>
                    <a:bodyPr/>
                    <a:lstStyle/>
                    <a:p>
                      <a:r>
                        <a:rPr sz="1200" b="0">
                          <a:solidFill>
                            <a:srgbClr val="1F2533"/>
                          </a:solidFill>
                          <a:latin typeface="Calibri"/>
                        </a:rPr>
                        <a:t>9 May 2006</a:t>
                      </a:r>
                    </a:p>
                  </a:txBody>
                  <a:tcPr marL="109728" marR="109728" anchor="ctr">
                    <a:solidFill>
                      <a:srgbClr val="FFFFFF"/>
                    </a:solidFill>
                  </a:tcPr>
                </a:tc>
              </a:tr>
              <a:tr h="365760">
                <a:tc>
                  <a:txBody>
                    <a:bodyPr/>
                    <a:lstStyle/>
                    <a:p>
                      <a:r>
                        <a:rPr sz="1200" b="1">
                          <a:solidFill>
                            <a:srgbClr val="1F2533"/>
                          </a:solidFill>
                          <a:latin typeface="Calibri"/>
                        </a:rPr>
                        <a:t>ru</a:t>
                      </a:r>
                    </a:p>
                  </a:txBody>
                  <a:tcPr marL="109728" marR="109728" anchor="ctr">
                    <a:solidFill>
                      <a:srgbClr val="F1F3F7"/>
                    </a:solidFill>
                  </a:tcPr>
                </a:tc>
                <a:tc>
                  <a:txBody>
                    <a:bodyPr/>
                    <a:lstStyle/>
                    <a:p>
                      <a:r>
                        <a:rPr sz="1200" b="0">
                          <a:solidFill>
                            <a:srgbClr val="1F2533"/>
                          </a:solidFill>
                          <a:latin typeface="Calibri"/>
                        </a:rPr>
                        <a:t>09.05.2006</a:t>
                      </a:r>
                    </a:p>
                  </a:txBody>
                  <a:tcPr marL="109728" marR="109728" anchor="ctr">
                    <a:solidFill>
                      <a:srgbClr val="F1F3F7"/>
                    </a:solidFill>
                  </a:tcPr>
                </a:tc>
                <a:tc>
                  <a:txBody>
                    <a:bodyPr/>
                    <a:lstStyle/>
                    <a:p>
                      <a:r>
                        <a:rPr sz="1200" b="0">
                          <a:solidFill>
                            <a:srgbClr val="1F2533"/>
                          </a:solidFill>
                          <a:latin typeface="Calibri"/>
                        </a:rPr>
                        <a:t>9 мая 2006</a:t>
                      </a:r>
                    </a:p>
                  </a:txBody>
                  <a:tcPr marL="109728" marR="109728" anchor="ctr">
                    <a:solidFill>
                      <a:srgbClr val="F1F3F7"/>
                    </a:solidFill>
                  </a:tcPr>
                </a:tc>
              </a:tr>
            </a:tbl>
          </a:graphicData>
        </a:graphic>
      </p:graphicFrame>
      <p:sp>
        <p:nvSpPr>
          <p:cNvPr id="34" name="TextBox 33"/>
          <p:cNvSpPr txBox="1"/>
          <p:nvPr/>
        </p:nvSpPr>
        <p:spPr>
          <a:xfrm>
            <a:off x="6400800" y="3520440"/>
            <a:ext cx="5212080" cy="2743200"/>
          </a:xfrm>
          <a:prstGeom prst="rect">
            <a:avLst/>
          </a:prstGeom>
          <a:noFill/>
        </p:spPr>
        <p:txBody>
          <a:bodyPr wrap="square" lIns="0" rIns="0" tIns="0" bIns="0">
            <a:spAutoFit/>
          </a:bodyPr>
          <a:lstStyle/>
          <a:p>
            <a:pPr marL="274320" indent="-274320">
              <a:spcAft>
                <a:spcPts val="600"/>
              </a:spcAft>
              <a:buClr>
                <a:srgbClr val="B08A3E"/>
              </a:buClr>
              <a:buFont typeface="Arial"/>
              <a:buChar char="•"/>
            </a:pPr>
            <a:r>
              <a:rPr sz="1400" b="1">
                <a:solidFill>
                  <a:srgbClr val="1F2533"/>
                </a:solidFill>
                <a:latin typeface="Calibri"/>
              </a:rPr>
              <a:t>BookForm </a:t>
            </a:r>
            <a:r>
              <a:rPr sz="1400" b="0">
                <a:solidFill>
                  <a:srgbClr val="1F2533"/>
                </a:solidFill>
                <a:latin typeface="Calibri"/>
              </a:rPr>
              <a:t>is separate from the Book record — no id, no mass assignment</a:t>
            </a:r>
          </a:p>
          <a:p>
            <a:pPr marL="274320" indent="-274320">
              <a:spcAft>
                <a:spcPts val="600"/>
              </a:spcAft>
              <a:buClr>
                <a:srgbClr val="B08A3E"/>
              </a:buClr>
              <a:buFont typeface="Arial"/>
              <a:buChar char="•"/>
            </a:pPr>
            <a:r>
              <a:rPr sz="1400" b="1">
                <a:solidFill>
                  <a:srgbClr val="1F2533"/>
                </a:solidFill>
                <a:latin typeface="Calibri"/>
              </a:rPr>
              <a:t>@NoDigits </a:t>
            </a:r>
            <a:r>
              <a:rPr sz="1400" b="0">
                <a:solidFill>
                  <a:srgbClr val="1F2533"/>
                </a:solidFill>
                <a:latin typeface="Calibri"/>
              </a:rPr>
              <a:t>— a custom constraint; null is valid</a:t>
            </a:r>
          </a:p>
          <a:p>
            <a:pPr marL="274320" indent="-274320">
              <a:spcAft>
                <a:spcPts val="600"/>
              </a:spcAft>
              <a:buClr>
                <a:srgbClr val="B08A3E"/>
              </a:buClr>
              <a:buFont typeface="Arial"/>
              <a:buChar char="•"/>
            </a:pPr>
            <a:r>
              <a:rPr sz="1400" b="1">
                <a:solidFill>
                  <a:srgbClr val="1F2533"/>
                </a:solidFill>
                <a:latin typeface="Calibri"/>
              </a:rPr>
              <a:t>messages(_ru).properties </a:t>
            </a:r>
            <a:r>
              <a:rPr sz="1400" b="0">
                <a:solidFill>
                  <a:srgbClr val="1F2533"/>
                </a:solidFill>
                <a:latin typeface="Calibri"/>
              </a:rPr>
              <a:t>+ ?lang=ru via SessionLocaleResolver</a:t>
            </a:r>
          </a:p>
          <a:p>
            <a:pPr marL="274320" indent="-274320">
              <a:spcAft>
                <a:spcPts val="600"/>
              </a:spcAft>
              <a:buClr>
                <a:srgbClr val="B08A3E"/>
              </a:buClr>
              <a:buFont typeface="Arial"/>
              <a:buChar char="•"/>
            </a:pPr>
            <a:r>
              <a:rPr sz="1400" b="1">
                <a:solidFill>
                  <a:srgbClr val="1F2533"/>
                </a:solidFill>
                <a:latin typeface="Calibri"/>
              </a:rPr>
              <a:t>/books/999 </a:t>
            </a:r>
            <a:r>
              <a:rPr sz="1400" b="0">
                <a:solidFill>
                  <a:srgbClr val="1F2533"/>
                </a:solidFill>
                <a:latin typeface="Calibri"/>
              </a:rPr>
              <a:t>→ HTML 404 page (PageExceptionHandler)</a:t>
            </a:r>
          </a:p>
          <a:p>
            <a:pPr marL="274320" indent="-274320">
              <a:spcAft>
                <a:spcPts val="600"/>
              </a:spcAft>
              <a:buClr>
                <a:srgbClr val="B08A3E"/>
              </a:buClr>
              <a:buFont typeface="Arial"/>
              <a:buChar char="•"/>
            </a:pPr>
            <a:r>
              <a:rPr sz="1400" b="1">
                <a:solidFill>
                  <a:srgbClr val="1F2533"/>
                </a:solidFill>
                <a:latin typeface="Calibri"/>
              </a:rPr>
              <a:t>/api/books/999 </a:t>
            </a:r>
            <a:r>
              <a:rPr sz="1400" b="0">
                <a:solidFill>
                  <a:srgbClr val="1F2533"/>
                </a:solidFill>
                <a:latin typeface="Calibri"/>
              </a:rPr>
              <a:t>→ application/problem+json (ApiExceptionHandler)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REST API: DTOs, status codes and errors</a:t>
            </a:r>
          </a:p>
        </p:txBody>
      </p:sp>
      <p:sp>
        <p:nvSpPr>
          <p:cNvPr id="3" name="Rounded Rectangle 2"/>
          <p:cNvSpPr/>
          <p:nvPr/>
        </p:nvSpPr>
        <p:spPr>
          <a:xfrm>
            <a:off x="9646920" y="502920"/>
            <a:ext cx="2011680" cy="50292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Lab 7  ·  V7</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10</a:t>
            </a:r>
          </a:p>
        </p:txBody>
      </p:sp>
      <p:sp>
        <p:nvSpPr>
          <p:cNvPr id="7" name="Rounded Rectangle 6"/>
          <p:cNvSpPr/>
          <p:nvPr/>
        </p:nvSpPr>
        <p:spPr>
          <a:xfrm>
            <a:off x="548640" y="1508760"/>
            <a:ext cx="1920240" cy="9144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72768"/>
            <a:ext cx="1645920" cy="365760"/>
          </a:xfrm>
          <a:prstGeom prst="rect">
            <a:avLst/>
          </a:prstGeom>
          <a:noFill/>
        </p:spPr>
        <p:txBody>
          <a:bodyPr wrap="square" anchor="t" lIns="0" rIns="0" tIns="0" bIns="0">
            <a:spAutoFit/>
          </a:bodyPr>
          <a:lstStyle/>
          <a:p>
            <a:pPr algn="ctr">
              <a:spcAft>
                <a:spcPts val="0"/>
              </a:spcAft>
            </a:pPr>
            <a:r>
              <a:rPr sz="1400" b="1" i="0">
                <a:solidFill>
                  <a:srgbClr val="1B2A41"/>
                </a:solidFill>
                <a:latin typeface="Calibri"/>
              </a:rPr>
              <a:t>BookRequest</a:t>
            </a:r>
          </a:p>
        </p:txBody>
      </p:sp>
      <p:sp>
        <p:nvSpPr>
          <p:cNvPr id="9" name="TextBox 8"/>
          <p:cNvSpPr txBox="1"/>
          <p:nvPr/>
        </p:nvSpPr>
        <p:spPr>
          <a:xfrm>
            <a:off x="640080" y="1920240"/>
            <a:ext cx="1737360" cy="457200"/>
          </a:xfrm>
          <a:prstGeom prst="rect">
            <a:avLst/>
          </a:prstGeom>
          <a:noFill/>
        </p:spPr>
        <p:txBody>
          <a:bodyPr wrap="square" anchor="t" lIns="0" rIns="0" tIns="0" bIns="0">
            <a:spAutoFit/>
          </a:bodyPr>
          <a:lstStyle/>
          <a:p>
            <a:pPr algn="ctr">
              <a:spcAft>
                <a:spcPts val="0"/>
              </a:spcAft>
            </a:pPr>
            <a:r>
              <a:rPr sz="1100" b="0" i="0">
                <a:solidFill>
                  <a:srgbClr val="5A6372"/>
                </a:solidFill>
                <a:latin typeface="Calibri"/>
              </a:rPr>
              <a:t>JSON in · no id, no createdAt</a:t>
            </a:r>
          </a:p>
        </p:txBody>
      </p:sp>
      <p:cxnSp>
        <p:nvCxnSpPr>
          <p:cNvPr id="10" name="Connector 9"/>
          <p:cNvCxnSpPr/>
          <p:nvPr/>
        </p:nvCxnSpPr>
        <p:spPr>
          <a:xfrm>
            <a:off x="2468880" y="1965960"/>
            <a:ext cx="365760" cy="0"/>
          </a:xfrm>
          <a:prstGeom prst="line">
            <a:avLst/>
          </a:prstGeom>
          <a:ln w="25400">
            <a:solidFill>
              <a:srgbClr val="B08A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34640" y="1508760"/>
            <a:ext cx="1920240" cy="9144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1572768"/>
            <a:ext cx="1645920" cy="365760"/>
          </a:xfrm>
          <a:prstGeom prst="rect">
            <a:avLst/>
          </a:prstGeom>
          <a:noFill/>
        </p:spPr>
        <p:txBody>
          <a:bodyPr wrap="square" anchor="t" lIns="0" rIns="0" tIns="0" bIns="0">
            <a:spAutoFit/>
          </a:bodyPr>
          <a:lstStyle/>
          <a:p>
            <a:pPr algn="ctr">
              <a:spcAft>
                <a:spcPts val="0"/>
              </a:spcAft>
            </a:pPr>
            <a:r>
              <a:rPr sz="1400" b="1" i="0">
                <a:solidFill>
                  <a:srgbClr val="FFFFFF"/>
                </a:solidFill>
                <a:latin typeface="Calibri"/>
              </a:rPr>
              <a:t>BookMapper</a:t>
            </a:r>
          </a:p>
        </p:txBody>
      </p:sp>
      <p:sp>
        <p:nvSpPr>
          <p:cNvPr id="13" name="TextBox 12"/>
          <p:cNvSpPr txBox="1"/>
          <p:nvPr/>
        </p:nvSpPr>
        <p:spPr>
          <a:xfrm>
            <a:off x="2926080" y="1920240"/>
            <a:ext cx="1737360" cy="457200"/>
          </a:xfrm>
          <a:prstGeom prst="rect">
            <a:avLst/>
          </a:prstGeom>
          <a:noFill/>
        </p:spPr>
        <p:txBody>
          <a:bodyPr wrap="square" anchor="t" lIns="0" rIns="0" tIns="0" bIns="0">
            <a:spAutoFit/>
          </a:bodyPr>
          <a:lstStyle/>
          <a:p>
            <a:pPr algn="ctr">
              <a:spcAft>
                <a:spcPts val="0"/>
              </a:spcAft>
            </a:pPr>
            <a:r>
              <a:rPr sz="1100" b="0" i="0">
                <a:solidFill>
                  <a:srgbClr val="FFFFFF"/>
                </a:solidFill>
                <a:latin typeface="Calibri"/>
              </a:rPr>
              <a:t>toDomain()</a:t>
            </a:r>
          </a:p>
        </p:txBody>
      </p:sp>
      <p:cxnSp>
        <p:nvCxnSpPr>
          <p:cNvPr id="14" name="Connector 13"/>
          <p:cNvCxnSpPr/>
          <p:nvPr/>
        </p:nvCxnSpPr>
        <p:spPr>
          <a:xfrm>
            <a:off x="4754880" y="1965960"/>
            <a:ext cx="365760" cy="0"/>
          </a:xfrm>
          <a:prstGeom prst="line">
            <a:avLst/>
          </a:prstGeom>
          <a:ln w="25400">
            <a:solidFill>
              <a:srgbClr val="B08A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20640" y="1508760"/>
            <a:ext cx="1920240" cy="914400"/>
          </a:xfrm>
          <a:prstGeom prst="roundRect">
            <a:avLst>
              <a:gd name="adj" fmla="val 8000"/>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7800" y="1572768"/>
            <a:ext cx="1645920" cy="365760"/>
          </a:xfrm>
          <a:prstGeom prst="rect">
            <a:avLst/>
          </a:prstGeom>
          <a:noFill/>
        </p:spPr>
        <p:txBody>
          <a:bodyPr wrap="square" anchor="t" lIns="0" rIns="0" tIns="0" bIns="0">
            <a:spAutoFit/>
          </a:bodyPr>
          <a:lstStyle/>
          <a:p>
            <a:pPr algn="ctr">
              <a:spcAft>
                <a:spcPts val="0"/>
              </a:spcAft>
            </a:pPr>
            <a:r>
              <a:rPr sz="1400" b="1" i="0">
                <a:solidFill>
                  <a:srgbClr val="FFFFFF"/>
                </a:solidFill>
                <a:latin typeface="Calibri"/>
              </a:rPr>
              <a:t>Book record</a:t>
            </a:r>
          </a:p>
        </p:txBody>
      </p:sp>
      <p:sp>
        <p:nvSpPr>
          <p:cNvPr id="17" name="TextBox 16"/>
          <p:cNvSpPr txBox="1"/>
          <p:nvPr/>
        </p:nvSpPr>
        <p:spPr>
          <a:xfrm>
            <a:off x="5212079" y="1920240"/>
            <a:ext cx="1737360" cy="457200"/>
          </a:xfrm>
          <a:prstGeom prst="rect">
            <a:avLst/>
          </a:prstGeom>
          <a:noFill/>
        </p:spPr>
        <p:txBody>
          <a:bodyPr wrap="square" anchor="t" lIns="0" rIns="0" tIns="0" bIns="0">
            <a:spAutoFit/>
          </a:bodyPr>
          <a:lstStyle/>
          <a:p>
            <a:pPr algn="ctr">
              <a:spcAft>
                <a:spcPts val="0"/>
              </a:spcAft>
            </a:pPr>
            <a:r>
              <a:rPr sz="1100" b="0" i="0">
                <a:solidFill>
                  <a:srgbClr val="FFFFFF"/>
                </a:solidFill>
                <a:latin typeface="Calibri"/>
              </a:rPr>
              <a:t>service · repository · createdAt</a:t>
            </a:r>
          </a:p>
        </p:txBody>
      </p:sp>
      <p:cxnSp>
        <p:nvCxnSpPr>
          <p:cNvPr id="18" name="Connector 17"/>
          <p:cNvCxnSpPr/>
          <p:nvPr/>
        </p:nvCxnSpPr>
        <p:spPr>
          <a:xfrm>
            <a:off x="7040879" y="1965960"/>
            <a:ext cx="365761" cy="0"/>
          </a:xfrm>
          <a:prstGeom prst="line">
            <a:avLst/>
          </a:prstGeom>
          <a:ln w="25400">
            <a:solidFill>
              <a:srgbClr val="B08A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406640" y="1508760"/>
            <a:ext cx="1920240" cy="9144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43800" y="1572768"/>
            <a:ext cx="1645920" cy="365760"/>
          </a:xfrm>
          <a:prstGeom prst="rect">
            <a:avLst/>
          </a:prstGeom>
          <a:noFill/>
        </p:spPr>
        <p:txBody>
          <a:bodyPr wrap="square" anchor="t" lIns="0" rIns="0" tIns="0" bIns="0">
            <a:spAutoFit/>
          </a:bodyPr>
          <a:lstStyle/>
          <a:p>
            <a:pPr algn="ctr">
              <a:spcAft>
                <a:spcPts val="0"/>
              </a:spcAft>
            </a:pPr>
            <a:r>
              <a:rPr sz="1400" b="1" i="0">
                <a:solidFill>
                  <a:srgbClr val="FFFFFF"/>
                </a:solidFill>
                <a:latin typeface="Calibri"/>
              </a:rPr>
              <a:t>BookMapper</a:t>
            </a:r>
          </a:p>
        </p:txBody>
      </p:sp>
      <p:sp>
        <p:nvSpPr>
          <p:cNvPr id="21" name="TextBox 20"/>
          <p:cNvSpPr txBox="1"/>
          <p:nvPr/>
        </p:nvSpPr>
        <p:spPr>
          <a:xfrm>
            <a:off x="7498079" y="1920240"/>
            <a:ext cx="1737360" cy="457200"/>
          </a:xfrm>
          <a:prstGeom prst="rect">
            <a:avLst/>
          </a:prstGeom>
          <a:noFill/>
        </p:spPr>
        <p:txBody>
          <a:bodyPr wrap="square" anchor="t" lIns="0" rIns="0" tIns="0" bIns="0">
            <a:spAutoFit/>
          </a:bodyPr>
          <a:lstStyle/>
          <a:p>
            <a:pPr algn="ctr">
              <a:spcAft>
                <a:spcPts val="0"/>
              </a:spcAft>
            </a:pPr>
            <a:r>
              <a:rPr sz="1100" b="0" i="0">
                <a:solidFill>
                  <a:srgbClr val="FFFFFF"/>
                </a:solidFill>
                <a:latin typeface="Calibri"/>
              </a:rPr>
              <a:t>toResponse()</a:t>
            </a:r>
          </a:p>
        </p:txBody>
      </p:sp>
      <p:cxnSp>
        <p:nvCxnSpPr>
          <p:cNvPr id="22" name="Connector 21"/>
          <p:cNvCxnSpPr/>
          <p:nvPr/>
        </p:nvCxnSpPr>
        <p:spPr>
          <a:xfrm>
            <a:off x="9326880" y="1965960"/>
            <a:ext cx="365760" cy="0"/>
          </a:xfrm>
          <a:prstGeom prst="line">
            <a:avLst/>
          </a:prstGeom>
          <a:ln w="25400">
            <a:solidFill>
              <a:srgbClr val="B08A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692640" y="1508760"/>
            <a:ext cx="1920240" cy="9144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29800" y="1572768"/>
            <a:ext cx="1645920" cy="365760"/>
          </a:xfrm>
          <a:prstGeom prst="rect">
            <a:avLst/>
          </a:prstGeom>
          <a:noFill/>
        </p:spPr>
        <p:txBody>
          <a:bodyPr wrap="square" anchor="t" lIns="0" rIns="0" tIns="0" bIns="0">
            <a:spAutoFit/>
          </a:bodyPr>
          <a:lstStyle/>
          <a:p>
            <a:pPr algn="ctr">
              <a:spcAft>
                <a:spcPts val="0"/>
              </a:spcAft>
            </a:pPr>
            <a:r>
              <a:rPr sz="1400" b="1" i="0">
                <a:solidFill>
                  <a:srgbClr val="1B2A41"/>
                </a:solidFill>
                <a:latin typeface="Calibri"/>
              </a:rPr>
              <a:t>BookResponse</a:t>
            </a:r>
          </a:p>
        </p:txBody>
      </p:sp>
      <p:sp>
        <p:nvSpPr>
          <p:cNvPr id="25" name="TextBox 24"/>
          <p:cNvSpPr txBox="1"/>
          <p:nvPr/>
        </p:nvSpPr>
        <p:spPr>
          <a:xfrm>
            <a:off x="9784080" y="1920240"/>
            <a:ext cx="1737360" cy="457200"/>
          </a:xfrm>
          <a:prstGeom prst="rect">
            <a:avLst/>
          </a:prstGeom>
          <a:noFill/>
        </p:spPr>
        <p:txBody>
          <a:bodyPr wrap="square" anchor="t" lIns="0" rIns="0" tIns="0" bIns="0">
            <a:spAutoFit/>
          </a:bodyPr>
          <a:lstStyle/>
          <a:p>
            <a:pPr algn="ctr">
              <a:spcAft>
                <a:spcPts val="0"/>
              </a:spcAft>
            </a:pPr>
            <a:r>
              <a:rPr sz="1100" b="0" i="0">
                <a:solidFill>
                  <a:srgbClr val="5A6372"/>
                </a:solidFill>
                <a:latin typeface="Calibri"/>
              </a:rPr>
              <a:t>JSON out · id + createdAt</a:t>
            </a:r>
          </a:p>
        </p:txBody>
      </p:sp>
      <p:graphicFrame>
        <p:nvGraphicFramePr>
          <p:cNvPr id="26" name="Table 25"/>
          <p:cNvGraphicFramePr>
            <a:graphicFrameLocks noGrp="1"/>
          </p:cNvGraphicFramePr>
          <p:nvPr/>
        </p:nvGraphicFramePr>
        <p:xfrm>
          <a:off x="548640" y="2743200"/>
          <a:ext cx="6400800" cy="2304288"/>
        </p:xfrm>
        <a:graphic>
          <a:graphicData uri="http://schemas.openxmlformats.org/drawingml/2006/table">
            <a:tbl>
              <a:tblPr firstRow="1" bandRow="1">
                <a:tableStyleId>{5C22544A-7EE6-4342-B048-85BDC9FD1C3A}</a:tableStyleId>
              </a:tblPr>
              <a:tblGrid>
                <a:gridCol w="2651760"/>
                <a:gridCol w="1737360"/>
                <a:gridCol w="2011680"/>
              </a:tblGrid>
              <a:tr h="384048">
                <a:tc>
                  <a:txBody>
                    <a:bodyPr/>
                    <a:lstStyle/>
                    <a:p>
                      <a:r>
                        <a:rPr sz="1300" b="1">
                          <a:solidFill>
                            <a:srgbClr val="FFFFFF"/>
                          </a:solidFill>
                          <a:latin typeface="Calibri"/>
                        </a:rPr>
                        <a:t>Request</a:t>
                      </a:r>
                    </a:p>
                  </a:txBody>
                  <a:tcPr marL="109728" marR="109728" anchor="ctr">
                    <a:solidFill>
                      <a:srgbClr val="1B2A41"/>
                    </a:solidFill>
                  </a:tcPr>
                </a:tc>
                <a:tc>
                  <a:txBody>
                    <a:bodyPr/>
                    <a:lstStyle/>
                    <a:p>
                      <a:r>
                        <a:rPr sz="1300" b="1">
                          <a:solidFill>
                            <a:srgbClr val="FFFFFF"/>
                          </a:solidFill>
                          <a:latin typeface="Calibri"/>
                        </a:rPr>
                        <a:t>Success</a:t>
                      </a:r>
                    </a:p>
                  </a:txBody>
                  <a:tcPr marL="109728" marR="109728" anchor="ctr">
                    <a:solidFill>
                      <a:srgbClr val="1B2A41"/>
                    </a:solidFill>
                  </a:tcPr>
                </a:tc>
                <a:tc>
                  <a:txBody>
                    <a:bodyPr/>
                    <a:lstStyle/>
                    <a:p>
                      <a:r>
                        <a:rPr sz="1300" b="1">
                          <a:solidFill>
                            <a:srgbClr val="FFFFFF"/>
                          </a:solidFill>
                          <a:latin typeface="Calibri"/>
                        </a:rPr>
                        <a:t>Errors</a:t>
                      </a:r>
                    </a:p>
                  </a:txBody>
                  <a:tcPr marL="109728" marR="109728" anchor="ctr">
                    <a:solidFill>
                      <a:srgbClr val="1B2A41"/>
                    </a:solidFill>
                  </a:tcPr>
                </a:tc>
              </a:tr>
              <a:tr h="384048">
                <a:tc>
                  <a:txBody>
                    <a:bodyPr/>
                    <a:lstStyle/>
                    <a:p>
                      <a:r>
                        <a:rPr sz="1300" b="1">
                          <a:solidFill>
                            <a:srgbClr val="1F2533"/>
                          </a:solidFill>
                          <a:latin typeface="Calibri"/>
                        </a:rPr>
                        <a:t>GET /api/books</a:t>
                      </a:r>
                    </a:p>
                  </a:txBody>
                  <a:tcPr marL="109728" marR="109728" anchor="ctr">
                    <a:solidFill>
                      <a:srgbClr val="FFFFFF"/>
                    </a:solidFill>
                  </a:tcPr>
                </a:tc>
                <a:tc>
                  <a:txBody>
                    <a:bodyPr/>
                    <a:lstStyle/>
                    <a:p>
                      <a:r>
                        <a:rPr sz="1300" b="0">
                          <a:solidFill>
                            <a:srgbClr val="1F2533"/>
                          </a:solidFill>
                          <a:latin typeface="Calibri"/>
                        </a:rPr>
                        <a:t>200 · array</a:t>
                      </a:r>
                    </a:p>
                  </a:txBody>
                  <a:tcPr marL="109728" marR="109728" anchor="ctr">
                    <a:solidFill>
                      <a:srgbClr val="FFFFFF"/>
                    </a:solidFill>
                  </a:tcPr>
                </a:tc>
                <a:tc>
                  <a:txBody>
                    <a:bodyPr/>
                    <a:lstStyle/>
                    <a:p>
                      <a:r>
                        <a:rPr sz="1300" b="0">
                          <a:solidFill>
                            <a:srgbClr val="1F2533"/>
                          </a:solidFill>
                          <a:latin typeface="Calibri"/>
                        </a:rPr>
                        <a:t>—</a:t>
                      </a:r>
                    </a:p>
                  </a:txBody>
                  <a:tcPr marL="109728" marR="109728" anchor="ctr">
                    <a:solidFill>
                      <a:srgbClr val="FFFFFF"/>
                    </a:solidFill>
                  </a:tcPr>
                </a:tc>
              </a:tr>
              <a:tr h="384048">
                <a:tc>
                  <a:txBody>
                    <a:bodyPr/>
                    <a:lstStyle/>
                    <a:p>
                      <a:r>
                        <a:rPr sz="1300" b="1">
                          <a:solidFill>
                            <a:srgbClr val="1F2533"/>
                          </a:solidFill>
                          <a:latin typeface="Calibri"/>
                        </a:rPr>
                        <a:t>GET /api/books/{id}</a:t>
                      </a:r>
                    </a:p>
                  </a:txBody>
                  <a:tcPr marL="109728" marR="109728" anchor="ctr">
                    <a:solidFill>
                      <a:srgbClr val="F1F3F7"/>
                    </a:solidFill>
                  </a:tcPr>
                </a:tc>
                <a:tc>
                  <a:txBody>
                    <a:bodyPr/>
                    <a:lstStyle/>
                    <a:p>
                      <a:r>
                        <a:rPr sz="1300" b="0">
                          <a:solidFill>
                            <a:srgbClr val="1F2533"/>
                          </a:solidFill>
                          <a:latin typeface="Calibri"/>
                        </a:rPr>
                        <a:t>200 · HAL</a:t>
                      </a:r>
                    </a:p>
                  </a:txBody>
                  <a:tcPr marL="109728" marR="109728" anchor="ctr">
                    <a:solidFill>
                      <a:srgbClr val="F1F3F7"/>
                    </a:solidFill>
                  </a:tcPr>
                </a:tc>
                <a:tc>
                  <a:txBody>
                    <a:bodyPr/>
                    <a:lstStyle/>
                    <a:p>
                      <a:r>
                        <a:rPr sz="1300" b="0">
                          <a:solidFill>
                            <a:srgbClr val="1F2533"/>
                          </a:solidFill>
                          <a:latin typeface="Calibri"/>
                        </a:rPr>
                        <a:t>404</a:t>
                      </a:r>
                    </a:p>
                  </a:txBody>
                  <a:tcPr marL="109728" marR="109728" anchor="ctr">
                    <a:solidFill>
                      <a:srgbClr val="F1F3F7"/>
                    </a:solidFill>
                  </a:tcPr>
                </a:tc>
              </a:tr>
              <a:tr h="384048">
                <a:tc>
                  <a:txBody>
                    <a:bodyPr/>
                    <a:lstStyle/>
                    <a:p>
                      <a:r>
                        <a:rPr sz="1300" b="1">
                          <a:solidFill>
                            <a:srgbClr val="1F2533"/>
                          </a:solidFill>
                          <a:latin typeface="Calibri"/>
                        </a:rPr>
                        <a:t>POST /api/books</a:t>
                      </a:r>
                    </a:p>
                  </a:txBody>
                  <a:tcPr marL="109728" marR="109728" anchor="ctr">
                    <a:solidFill>
                      <a:srgbClr val="FFFFFF"/>
                    </a:solidFill>
                  </a:tcPr>
                </a:tc>
                <a:tc>
                  <a:txBody>
                    <a:bodyPr/>
                    <a:lstStyle/>
                    <a:p>
                      <a:r>
                        <a:rPr sz="1300" b="0">
                          <a:solidFill>
                            <a:srgbClr val="1F2533"/>
                          </a:solidFill>
                          <a:latin typeface="Calibri"/>
                        </a:rPr>
                        <a:t>201 + Location</a:t>
                      </a:r>
                    </a:p>
                  </a:txBody>
                  <a:tcPr marL="109728" marR="109728" anchor="ctr">
                    <a:solidFill>
                      <a:srgbClr val="FFFFFF"/>
                    </a:solidFill>
                  </a:tcPr>
                </a:tc>
                <a:tc>
                  <a:txBody>
                    <a:bodyPr/>
                    <a:lstStyle/>
                    <a:p>
                      <a:r>
                        <a:rPr sz="1300" b="0">
                          <a:solidFill>
                            <a:srgbClr val="1F2533"/>
                          </a:solidFill>
                          <a:latin typeface="Calibri"/>
                        </a:rPr>
                        <a:t>400 · 409</a:t>
                      </a:r>
                    </a:p>
                  </a:txBody>
                  <a:tcPr marL="109728" marR="109728" anchor="ctr">
                    <a:solidFill>
                      <a:srgbClr val="FFFFFF"/>
                    </a:solidFill>
                  </a:tcPr>
                </a:tc>
              </a:tr>
              <a:tr h="384048">
                <a:tc>
                  <a:txBody>
                    <a:bodyPr/>
                    <a:lstStyle/>
                    <a:p>
                      <a:r>
                        <a:rPr sz="1300" b="1">
                          <a:solidFill>
                            <a:srgbClr val="1F2533"/>
                          </a:solidFill>
                          <a:latin typeface="Calibri"/>
                        </a:rPr>
                        <a:t>PUT /api/books/{id}</a:t>
                      </a:r>
                    </a:p>
                  </a:txBody>
                  <a:tcPr marL="109728" marR="109728" anchor="ctr">
                    <a:solidFill>
                      <a:srgbClr val="F1F3F7"/>
                    </a:solidFill>
                  </a:tcPr>
                </a:tc>
                <a:tc>
                  <a:txBody>
                    <a:bodyPr/>
                    <a:lstStyle/>
                    <a:p>
                      <a:r>
                        <a:rPr sz="1300" b="0">
                          <a:solidFill>
                            <a:srgbClr val="1F2533"/>
                          </a:solidFill>
                          <a:latin typeface="Calibri"/>
                        </a:rPr>
                        <a:t>200</a:t>
                      </a:r>
                    </a:p>
                  </a:txBody>
                  <a:tcPr marL="109728" marR="109728" anchor="ctr">
                    <a:solidFill>
                      <a:srgbClr val="F1F3F7"/>
                    </a:solidFill>
                  </a:tcPr>
                </a:tc>
                <a:tc>
                  <a:txBody>
                    <a:bodyPr/>
                    <a:lstStyle/>
                    <a:p>
                      <a:r>
                        <a:rPr sz="1300" b="0">
                          <a:solidFill>
                            <a:srgbClr val="1F2533"/>
                          </a:solidFill>
                          <a:latin typeface="Calibri"/>
                        </a:rPr>
                        <a:t>400 · 404 · 409</a:t>
                      </a:r>
                    </a:p>
                  </a:txBody>
                  <a:tcPr marL="109728" marR="109728" anchor="ctr">
                    <a:solidFill>
                      <a:srgbClr val="F1F3F7"/>
                    </a:solidFill>
                  </a:tcPr>
                </a:tc>
              </a:tr>
              <a:tr h="384048">
                <a:tc>
                  <a:txBody>
                    <a:bodyPr/>
                    <a:lstStyle/>
                    <a:p>
                      <a:r>
                        <a:rPr sz="1300" b="1">
                          <a:solidFill>
                            <a:srgbClr val="1F2533"/>
                          </a:solidFill>
                          <a:latin typeface="Calibri"/>
                        </a:rPr>
                        <a:t>DELETE /api/books/{id}</a:t>
                      </a:r>
                    </a:p>
                  </a:txBody>
                  <a:tcPr marL="109728" marR="109728" anchor="ctr">
                    <a:solidFill>
                      <a:srgbClr val="FFFFFF"/>
                    </a:solidFill>
                  </a:tcPr>
                </a:tc>
                <a:tc>
                  <a:txBody>
                    <a:bodyPr/>
                    <a:lstStyle/>
                    <a:p>
                      <a:r>
                        <a:rPr sz="1300" b="0">
                          <a:solidFill>
                            <a:srgbClr val="1F2533"/>
                          </a:solidFill>
                          <a:latin typeface="Calibri"/>
                        </a:rPr>
                        <a:t>204</a:t>
                      </a:r>
                    </a:p>
                  </a:txBody>
                  <a:tcPr marL="109728" marR="109728" anchor="ctr">
                    <a:solidFill>
                      <a:srgbClr val="FFFFFF"/>
                    </a:solidFill>
                  </a:tcPr>
                </a:tc>
                <a:tc>
                  <a:txBody>
                    <a:bodyPr/>
                    <a:lstStyle/>
                    <a:p>
                      <a:r>
                        <a:rPr sz="1300" b="0">
                          <a:solidFill>
                            <a:srgbClr val="1F2533"/>
                          </a:solidFill>
                          <a:latin typeface="Calibri"/>
                        </a:rPr>
                        <a:t>404, also the 2nd time</a:t>
                      </a:r>
                    </a:p>
                  </a:txBody>
                  <a:tcPr marL="109728" marR="109728" anchor="ctr">
                    <a:solidFill>
                      <a:srgbClr val="FFFFFF"/>
                    </a:solidFill>
                  </a:tcPr>
                </a:tc>
              </a:tr>
            </a:tbl>
          </a:graphicData>
        </a:graphic>
      </p:graphicFrame>
      <p:sp>
        <p:nvSpPr>
          <p:cNvPr id="27" name="Rounded Rectangle 26"/>
          <p:cNvSpPr/>
          <p:nvPr/>
        </p:nvSpPr>
        <p:spPr>
          <a:xfrm>
            <a:off x="7223760" y="2743200"/>
            <a:ext cx="4389120" cy="233172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0" y="2880360"/>
            <a:ext cx="3840480" cy="320040"/>
          </a:xfrm>
          <a:prstGeom prst="rect">
            <a:avLst/>
          </a:prstGeom>
          <a:noFill/>
        </p:spPr>
        <p:txBody>
          <a:bodyPr wrap="square" anchor="t" lIns="0" rIns="0" tIns="0" bIns="0">
            <a:spAutoFit/>
          </a:bodyPr>
          <a:lstStyle/>
          <a:p>
            <a:pPr algn="l">
              <a:spcAft>
                <a:spcPts val="0"/>
              </a:spcAft>
            </a:pPr>
            <a:r>
              <a:rPr sz="1100" b="1" i="0">
                <a:solidFill>
                  <a:srgbClr val="B08A3E"/>
                </a:solidFill>
                <a:latin typeface="Calibri"/>
              </a:rPr>
              <a:t>409 · application/problem+json</a:t>
            </a:r>
          </a:p>
        </p:txBody>
      </p:sp>
      <p:sp>
        <p:nvSpPr>
          <p:cNvPr id="29" name="TextBox 28"/>
          <p:cNvSpPr txBox="1"/>
          <p:nvPr/>
        </p:nvSpPr>
        <p:spPr>
          <a:xfrm>
            <a:off x="7498080" y="3246120"/>
            <a:ext cx="3840480" cy="1691640"/>
          </a:xfrm>
          <a:prstGeom prst="rect">
            <a:avLst/>
          </a:prstGeom>
          <a:noFill/>
        </p:spPr>
        <p:txBody>
          <a:bodyPr wrap="square" anchor="t" lIns="0" rIns="0" tIns="0" bIns="0">
            <a:spAutoFit/>
          </a:bodyPr>
          <a:lstStyle/>
          <a:p>
            <a:pPr algn="l">
              <a:lnSpc>
                <a:spcPct val="105000"/>
              </a:lnSpc>
              <a:spcAft>
                <a:spcPts val="0"/>
              </a:spcAft>
            </a:pPr>
            <a:r>
              <a:rPr sz="1100" b="0" i="0">
                <a:solidFill>
                  <a:srgbClr val="E4E8EF"/>
                </a:solidFill>
                <a:latin typeface="Courier New"/>
              </a:rPr>
              <a:t>{</a:t>
            </a:r>
          </a:p>
          <a:p>
            <a:pPr algn="l">
              <a:lnSpc>
                <a:spcPct val="105000"/>
              </a:lnSpc>
              <a:spcAft>
                <a:spcPts val="0"/>
              </a:spcAft>
            </a:pPr>
            <a:r>
              <a:rPr sz="1100" b="0" i="0">
                <a:solidFill>
                  <a:srgbClr val="E4E8EF"/>
                </a:solidFill>
                <a:latin typeface="Courier New"/>
              </a:rPr>
              <a:t>  "type": ".../errors/duplicate-title",</a:t>
            </a:r>
          </a:p>
          <a:p>
            <a:pPr algn="l">
              <a:lnSpc>
                <a:spcPct val="105000"/>
              </a:lnSpc>
              <a:spcAft>
                <a:spcPts val="0"/>
              </a:spcAft>
            </a:pPr>
            <a:r>
              <a:rPr sz="1100" b="0" i="0">
                <a:solidFill>
                  <a:srgbClr val="E4E8EF"/>
                </a:solidFill>
                <a:latin typeface="Courier New"/>
              </a:rPr>
              <a:t>  "title": "Duplicate title",</a:t>
            </a:r>
          </a:p>
          <a:p>
            <a:pPr algn="l">
              <a:lnSpc>
                <a:spcPct val="105000"/>
              </a:lnSpc>
              <a:spcAft>
                <a:spcPts val="0"/>
              </a:spcAft>
            </a:pPr>
            <a:r>
              <a:rPr sz="1100" b="0" i="0">
                <a:solidFill>
                  <a:srgbClr val="E4E8EF"/>
                </a:solidFill>
                <a:latin typeface="Courier New"/>
              </a:rPr>
              <a:t>  "status": 409,</a:t>
            </a:r>
          </a:p>
          <a:p>
            <a:pPr algn="l">
              <a:lnSpc>
                <a:spcPct val="105000"/>
              </a:lnSpc>
              <a:spcAft>
                <a:spcPts val="0"/>
              </a:spcAft>
            </a:pPr>
            <a:r>
              <a:rPr sz="1100" b="0" i="0">
                <a:solidFill>
                  <a:srgbClr val="E4E8EF"/>
                </a:solidFill>
                <a:latin typeface="Courier New"/>
              </a:rPr>
              <a:t>  "detail": "A book «Effective Java» by</a:t>
            </a:r>
          </a:p>
          <a:p>
            <a:pPr algn="l">
              <a:lnSpc>
                <a:spcPct val="105000"/>
              </a:lnSpc>
              <a:spcAft>
                <a:spcPts val="0"/>
              </a:spcAft>
            </a:pPr>
            <a:r>
              <a:rPr sz="1100" b="0" i="0">
                <a:solidFill>
                  <a:srgbClr val="E4E8EF"/>
                </a:solidFill>
                <a:latin typeface="Courier New"/>
              </a:rPr>
              <a:t>             Joshua Bloch is already ...",</a:t>
            </a:r>
          </a:p>
          <a:p>
            <a:pPr algn="l">
              <a:lnSpc>
                <a:spcPct val="105000"/>
              </a:lnSpc>
              <a:spcAft>
                <a:spcPts val="0"/>
              </a:spcAft>
            </a:pPr>
            <a:r>
              <a:rPr sz="1100" b="0" i="0">
                <a:solidFill>
                  <a:srgbClr val="E4E8EF"/>
                </a:solidFill>
                <a:latin typeface="Courier New"/>
              </a:rPr>
              <a:t>  "instance": "/api/books",</a:t>
            </a:r>
          </a:p>
          <a:p>
            <a:pPr algn="l">
              <a:lnSpc>
                <a:spcPct val="105000"/>
              </a:lnSpc>
              <a:spcAft>
                <a:spcPts val="0"/>
              </a:spcAft>
            </a:pPr>
            <a:r>
              <a:rPr sz="1100" b="0" i="0">
                <a:solidFill>
                  <a:srgbClr val="E4E8EF"/>
                </a:solidFill>
                <a:latin typeface="Courier New"/>
              </a:rPr>
              <a:t>  "bookTitle": "Effective Java"</a:t>
            </a:r>
          </a:p>
          <a:p>
            <a:pPr algn="l">
              <a:lnSpc>
                <a:spcPct val="105000"/>
              </a:lnSpc>
              <a:spcAft>
                <a:spcPts val="0"/>
              </a:spcAft>
            </a:pPr>
            <a:r>
              <a:rPr sz="1100" b="0" i="0">
                <a:solidFill>
                  <a:srgbClr val="E4E8EF"/>
                </a:solidFill>
                <a:latin typeface="Courier New"/>
              </a:rPr>
              <a:t>}</a:t>
            </a:r>
          </a:p>
        </p:txBody>
      </p:sp>
      <p:sp>
        <p:nvSpPr>
          <p:cNvPr id="30" name="Rounded Rectangle 29"/>
          <p:cNvSpPr/>
          <p:nvPr/>
        </p:nvSpPr>
        <p:spPr>
          <a:xfrm>
            <a:off x="548640" y="5257800"/>
            <a:ext cx="6400800" cy="96012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303520"/>
            <a:ext cx="5943600" cy="868680"/>
          </a:xfrm>
          <a:prstGeom prst="rect">
            <a:avLst/>
          </a:prstGeom>
          <a:noFill/>
        </p:spPr>
        <p:txBody>
          <a:bodyPr wrap="square" anchor="ctr" lIns="0" rIns="0" tIns="0" bIns="0">
            <a:spAutoFit/>
          </a:bodyPr>
          <a:lstStyle/>
          <a:p>
            <a:pPr algn="l">
              <a:spcAft>
                <a:spcPts val="0"/>
              </a:spcAft>
            </a:pPr>
            <a:r>
              <a:rPr sz="1300" b="1" i="0">
                <a:solidFill>
                  <a:srgbClr val="1F2533"/>
                </a:solidFill>
                <a:latin typeface="Calibri"/>
              </a:rPr>
              <a:t>One advice: </a:t>
            </a:r>
            <a:r>
              <a:rPr sz="1300" b="0" i="0">
                <a:solidFill>
                  <a:srgbClr val="1F2533"/>
                </a:solidFill>
                <a:latin typeface="Calibri"/>
              </a:rPr>
              <a:t>ApiExceptionHandler extends ResponseEntityExceptionHandler — the base class builds the 400 for an invalid body, we add 404 and 409; controllers have no try/catch</a:t>
            </a:r>
          </a:p>
        </p:txBody>
      </p:sp>
      <p:sp>
        <p:nvSpPr>
          <p:cNvPr id="32" name="Rounded Rectangle 31"/>
          <p:cNvSpPr/>
          <p:nvPr/>
        </p:nvSpPr>
        <p:spPr>
          <a:xfrm>
            <a:off x="7223760" y="5257800"/>
            <a:ext cx="4389120" cy="96012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52360" y="5303520"/>
            <a:ext cx="3931920" cy="868680"/>
          </a:xfrm>
          <a:prstGeom prst="rect">
            <a:avLst/>
          </a:prstGeom>
          <a:noFill/>
        </p:spPr>
        <p:txBody>
          <a:bodyPr wrap="square" anchor="ctr" lIns="0" rIns="0" tIns="0" bIns="0">
            <a:spAutoFit/>
          </a:bodyPr>
          <a:lstStyle/>
          <a:p>
            <a:pPr algn="l">
              <a:spcAft>
                <a:spcPts val="0"/>
              </a:spcAft>
            </a:pPr>
            <a:r>
              <a:rPr sz="1300" b="1" i="0">
                <a:solidFill>
                  <a:srgbClr val="B08A3E"/>
                </a:solidFill>
                <a:latin typeface="Calibri"/>
              </a:rPr>
              <a:t>409, not 400: </a:t>
            </a:r>
            <a:r>
              <a:rPr sz="1300" b="0" i="0">
                <a:solidFill>
                  <a:srgbClr val="1F2533"/>
                </a:solidFill>
                <a:latin typeface="Calibri"/>
              </a:rPr>
              <a:t>the request is valid but conflicts with the current state of the catalogue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OpenAPI, Swagger UI and HATEOAS</a:t>
            </a:r>
          </a:p>
        </p:txBody>
      </p:sp>
      <p:sp>
        <p:nvSpPr>
          <p:cNvPr id="3" name="Rounded Rectangle 2"/>
          <p:cNvSpPr/>
          <p:nvPr/>
        </p:nvSpPr>
        <p:spPr>
          <a:xfrm>
            <a:off x="9646920" y="502920"/>
            <a:ext cx="2011680" cy="50292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Lab 7  ·  V7</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11</a:t>
            </a:r>
          </a:p>
        </p:txBody>
      </p:sp>
      <p:sp>
        <p:nvSpPr>
          <p:cNvPr id="7" name="Rounded Rectangle 6"/>
          <p:cNvSpPr/>
          <p:nvPr/>
        </p:nvSpPr>
        <p:spPr>
          <a:xfrm>
            <a:off x="502920" y="1463040"/>
            <a:ext cx="6126480" cy="3867912"/>
          </a:xfrm>
          <a:prstGeom prst="roundRect">
            <a:avLst>
              <a:gd name="adj" fmla="val 8000"/>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wagger-404.jpg"/>
          <p:cNvPicPr>
            <a:picLocks noChangeAspect="1"/>
          </p:cNvPicPr>
          <p:nvPr/>
        </p:nvPicPr>
        <p:blipFill>
          <a:blip r:embed="rId3"/>
          <a:stretch>
            <a:fillRect/>
          </a:stretch>
        </p:blipFill>
        <p:spPr>
          <a:xfrm>
            <a:off x="548640" y="1508760"/>
            <a:ext cx="6035040" cy="3771900"/>
          </a:xfrm>
          <a:prstGeom prst="rect">
            <a:avLst/>
          </a:prstGeom>
        </p:spPr>
      </p:pic>
      <p:sp>
        <p:nvSpPr>
          <p:cNvPr id="9" name="TextBox 8"/>
          <p:cNvSpPr txBox="1"/>
          <p:nvPr/>
        </p:nvSpPr>
        <p:spPr>
          <a:xfrm>
            <a:off x="548640" y="5440680"/>
            <a:ext cx="6035040" cy="36576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Swagger UI · Try it out · GET /api/books/999 → 404, application/problem+json</a:t>
            </a:r>
          </a:p>
        </p:txBody>
      </p:sp>
      <p:sp>
        <p:nvSpPr>
          <p:cNvPr id="10" name="TextBox 9"/>
          <p:cNvSpPr txBox="1"/>
          <p:nvPr/>
        </p:nvSpPr>
        <p:spPr>
          <a:xfrm>
            <a:off x="6949440" y="1508760"/>
            <a:ext cx="4663440" cy="2194560"/>
          </a:xfrm>
          <a:prstGeom prst="rect">
            <a:avLst/>
          </a:prstGeom>
          <a:noFill/>
        </p:spPr>
        <p:txBody>
          <a:bodyPr wrap="square" lIns="0" rIns="0" tIns="0" bIns="0">
            <a:spAutoFit/>
          </a:bodyPr>
          <a:lstStyle/>
          <a:p>
            <a:pPr marL="274320" indent="-274320">
              <a:spcAft>
                <a:spcPts val="600"/>
              </a:spcAft>
              <a:buClr>
                <a:srgbClr val="B08A3E"/>
              </a:buClr>
              <a:buFont typeface="Arial"/>
              <a:buChar char="•"/>
            </a:pPr>
            <a:r>
              <a:rPr sz="1400" b="1">
                <a:solidFill>
                  <a:srgbClr val="1F2533"/>
                </a:solidFill>
                <a:latin typeface="Calibri"/>
              </a:rPr>
              <a:t>Generated: </a:t>
            </a:r>
            <a:r>
              <a:rPr sz="1400" b="0">
                <a:solidFill>
                  <a:srgbClr val="1F2533"/>
                </a:solidFill>
                <a:latin typeface="Calibri"/>
              </a:rPr>
              <a:t>paths, methods, parameters, DTO schemas</a:t>
            </a:r>
          </a:p>
          <a:p>
            <a:pPr marL="274320" indent="-274320">
              <a:spcAft>
                <a:spcPts val="600"/>
              </a:spcAft>
              <a:buClr>
                <a:srgbClr val="B08A3E"/>
              </a:buClr>
              <a:buFont typeface="Arial"/>
              <a:buChar char="•"/>
            </a:pPr>
            <a:r>
              <a:rPr sz="1400" b="1">
                <a:solidFill>
                  <a:srgbClr val="1F2533"/>
                </a:solidFill>
                <a:latin typeface="Calibri"/>
              </a:rPr>
              <a:t>maxLength: 120 </a:t>
            </a:r>
            <a:r>
              <a:rPr sz="1400" b="0">
                <a:solidFill>
                  <a:srgbClr val="1F2533"/>
                </a:solidFill>
                <a:latin typeface="Calibri"/>
              </a:rPr>
              <a:t>of title ← @Size(max = 120)</a:t>
            </a:r>
          </a:p>
          <a:p>
            <a:pPr marL="274320" indent="-274320">
              <a:spcAft>
                <a:spcPts val="600"/>
              </a:spcAft>
              <a:buClr>
                <a:srgbClr val="B08A3E"/>
              </a:buClr>
              <a:buFont typeface="Arial"/>
              <a:buChar char="•"/>
            </a:pPr>
            <a:r>
              <a:rPr sz="1400" b="1">
                <a:solidFill>
                  <a:srgbClr val="1F2533"/>
                </a:solidFill>
                <a:latin typeface="Calibri"/>
              </a:rPr>
              <a:t>Annotated: </a:t>
            </a:r>
            <a:r>
              <a:rPr sz="1400" b="0">
                <a:solidFill>
                  <a:srgbClr val="1F2533"/>
                </a:solidFill>
                <a:latin typeface="Calibri"/>
              </a:rPr>
              <a:t>@Tag, @Operation, @ApiResponses, @Parameter</a:t>
            </a:r>
          </a:p>
          <a:p>
            <a:pPr marL="274320" indent="-274320">
              <a:spcAft>
                <a:spcPts val="600"/>
              </a:spcAft>
              <a:buClr>
                <a:srgbClr val="B08A3E"/>
              </a:buClr>
              <a:buFont typeface="Arial"/>
              <a:buChar char="•"/>
            </a:pPr>
            <a:r>
              <a:rPr sz="1400" b="1">
                <a:solidFill>
                  <a:srgbClr val="1F2533"/>
                </a:solidFill>
                <a:latin typeface="Calibri"/>
              </a:rPr>
              <a:t>Closed in prod: </a:t>
            </a:r>
            <a:r>
              <a:rPr sz="1400" b="0">
                <a:solidFill>
                  <a:srgbClr val="1F2533"/>
                </a:solidFill>
                <a:latin typeface="Calibri"/>
              </a:rPr>
              <a:t>springdoc.*.enabled = false</a:t>
            </a:r>
          </a:p>
        </p:txBody>
      </p:sp>
      <p:sp>
        <p:nvSpPr>
          <p:cNvPr id="11" name="Rounded Rectangle 10"/>
          <p:cNvSpPr/>
          <p:nvPr/>
        </p:nvSpPr>
        <p:spPr>
          <a:xfrm>
            <a:off x="6949440" y="3794760"/>
            <a:ext cx="4663440" cy="242316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59" y="3931920"/>
            <a:ext cx="4114800" cy="320040"/>
          </a:xfrm>
          <a:prstGeom prst="rect">
            <a:avLst/>
          </a:prstGeom>
          <a:noFill/>
        </p:spPr>
        <p:txBody>
          <a:bodyPr wrap="square" anchor="t" lIns="0" rIns="0" tIns="0" bIns="0">
            <a:spAutoFit/>
          </a:bodyPr>
          <a:lstStyle/>
          <a:p>
            <a:pPr algn="l">
              <a:spcAft>
                <a:spcPts val="0"/>
              </a:spcAft>
            </a:pPr>
            <a:r>
              <a:rPr sz="1100" b="1" i="0">
                <a:solidFill>
                  <a:srgbClr val="B08A3E"/>
                </a:solidFill>
                <a:latin typeface="Calibri"/>
              </a:rPr>
              <a:t>Variant 7 · HATEOAS · application/hal+json</a:t>
            </a:r>
          </a:p>
        </p:txBody>
      </p:sp>
      <p:sp>
        <p:nvSpPr>
          <p:cNvPr id="13" name="TextBox 12"/>
          <p:cNvSpPr txBox="1"/>
          <p:nvPr/>
        </p:nvSpPr>
        <p:spPr>
          <a:xfrm>
            <a:off x="7223759" y="4297680"/>
            <a:ext cx="4114800" cy="1783080"/>
          </a:xfrm>
          <a:prstGeom prst="rect">
            <a:avLst/>
          </a:prstGeom>
          <a:noFill/>
        </p:spPr>
        <p:txBody>
          <a:bodyPr wrap="square" anchor="t" lIns="0" rIns="0" tIns="0" bIns="0">
            <a:spAutoFit/>
          </a:bodyPr>
          <a:lstStyle/>
          <a:p>
            <a:pPr algn="l">
              <a:lnSpc>
                <a:spcPct val="105000"/>
              </a:lnSpc>
              <a:spcAft>
                <a:spcPts val="0"/>
              </a:spcAft>
            </a:pPr>
            <a:r>
              <a:rPr sz="1050" b="0" i="0">
                <a:solidFill>
                  <a:srgbClr val="E4E8EF"/>
                </a:solidFill>
                <a:latin typeface="Courier New"/>
              </a:rPr>
              <a:t>{ "id": 1, "title": "Effective Java", ...</a:t>
            </a:r>
          </a:p>
          <a:p>
            <a:pPr algn="l">
              <a:lnSpc>
                <a:spcPct val="105000"/>
              </a:lnSpc>
              <a:spcAft>
                <a:spcPts val="0"/>
              </a:spcAft>
            </a:pPr>
            <a:r>
              <a:rPr sz="1050" b="0" i="0">
                <a:solidFill>
                  <a:srgbClr val="E4E8EF"/>
                </a:solidFill>
                <a:latin typeface="Courier New"/>
              </a:rPr>
              <a:t>  "_links": {</a:t>
            </a:r>
          </a:p>
          <a:p>
            <a:pPr algn="l">
              <a:lnSpc>
                <a:spcPct val="105000"/>
              </a:lnSpc>
              <a:spcAft>
                <a:spcPts val="0"/>
              </a:spcAft>
            </a:pPr>
            <a:r>
              <a:rPr sz="1050" b="0" i="0">
                <a:solidFill>
                  <a:srgbClr val="E4E8EF"/>
                </a:solidFill>
                <a:latin typeface="Courier New"/>
              </a:rPr>
              <a:t>    "self":     {"href": ".../books/1"},</a:t>
            </a:r>
          </a:p>
          <a:p>
            <a:pPr algn="l">
              <a:lnSpc>
                <a:spcPct val="105000"/>
              </a:lnSpc>
              <a:spcAft>
                <a:spcPts val="0"/>
              </a:spcAft>
            </a:pPr>
            <a:r>
              <a:rPr sz="1050" b="0" i="0">
                <a:solidFill>
                  <a:srgbClr val="E4E8EF"/>
                </a:solidFill>
                <a:latin typeface="Courier New"/>
              </a:rPr>
              <a:t>    "books":    {"href": ".../books"},</a:t>
            </a:r>
          </a:p>
          <a:p>
            <a:pPr algn="l">
              <a:lnSpc>
                <a:spcPct val="105000"/>
              </a:lnSpc>
              <a:spcAft>
                <a:spcPts val="0"/>
              </a:spcAft>
            </a:pPr>
            <a:r>
              <a:rPr sz="1050" b="0" i="0">
                <a:solidFill>
                  <a:srgbClr val="E4E8EF"/>
                </a:solidFill>
                <a:latin typeface="Courier New"/>
              </a:rPr>
              <a:t>    "citation": {"href": ".../books/1/citation"}</a:t>
            </a:r>
          </a:p>
          <a:p>
            <a:pPr algn="l">
              <a:lnSpc>
                <a:spcPct val="105000"/>
              </a:lnSpc>
              <a:spcAft>
                <a:spcPts val="0"/>
              </a:spcAft>
            </a:pPr>
            <a:r>
              <a:rPr sz="1050" b="0" i="0">
                <a:solidFill>
                  <a:srgbClr val="E4E8EF"/>
                </a:solidFill>
                <a:latin typeface="Courier New"/>
              </a:rPr>
              <a:t>  } }</a:t>
            </a:r>
          </a:p>
          <a:p>
            <a:pPr algn="l">
              <a:lnSpc>
                <a:spcPct val="105000"/>
              </a:lnSpc>
              <a:spcAft>
                <a:spcPts val="0"/>
              </a:spcAft>
            </a:pPr>
            <a:r>
              <a:rPr sz="1050" b="0" i="0">
                <a:solidFill>
                  <a:srgbClr val="E4E8EF"/>
                </a:solidFill>
                <a:latin typeface="Courier New"/>
              </a:rPr>
              <a:t/>
            </a:r>
          </a:p>
          <a:p>
            <a:pPr algn="l">
              <a:lnSpc>
                <a:spcPct val="105000"/>
              </a:lnSpc>
              <a:spcAft>
                <a:spcPts val="0"/>
              </a:spcAft>
            </a:pPr>
            <a:r>
              <a:rPr sz="1050" b="0" i="0">
                <a:solidFill>
                  <a:srgbClr val="E4E8EF"/>
                </a:solidFill>
                <a:latin typeface="Courier New"/>
              </a:rPr>
              <a:t>EntityModel.of(book, linkTo(...).withSelfRel(),</a:t>
            </a:r>
          </a:p>
          <a:p>
            <a:pPr algn="l">
              <a:lnSpc>
                <a:spcPct val="105000"/>
              </a:lnSpc>
              <a:spcAft>
                <a:spcPts val="0"/>
              </a:spcAft>
            </a:pPr>
            <a:r>
              <a:rPr sz="1050" b="0" i="0">
                <a:solidFill>
                  <a:srgbClr val="E4E8EF"/>
                </a:solidFill>
                <a:latin typeface="Courier New"/>
              </a:rPr>
              <a:t>  ... withRel("books"), ... withRel("citation"))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The application: web interface</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12</a:t>
            </a:r>
          </a:p>
        </p:txBody>
      </p:sp>
      <p:sp>
        <p:nvSpPr>
          <p:cNvPr id="5" name="Rectangle 4"/>
          <p:cNvSpPr/>
          <p:nvPr/>
        </p:nvSpPr>
        <p:spPr>
          <a:xfrm>
            <a:off x="502919" y="1508760"/>
            <a:ext cx="5440679" cy="3434715"/>
          </a:xfrm>
          <a:prstGeom prst="rect">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ite-home.png"/>
          <p:cNvPicPr>
            <a:picLocks noChangeAspect="1"/>
          </p:cNvPicPr>
          <p:nvPr/>
        </p:nvPicPr>
        <p:blipFill>
          <a:blip r:embed="rId3"/>
          <a:stretch>
            <a:fillRect/>
          </a:stretch>
        </p:blipFill>
        <p:spPr>
          <a:xfrm>
            <a:off x="548640" y="1554480"/>
            <a:ext cx="5349240" cy="3343275"/>
          </a:xfrm>
          <a:prstGeom prst="rect">
            <a:avLst/>
          </a:prstGeom>
        </p:spPr>
      </p:pic>
      <p:sp>
        <p:nvSpPr>
          <p:cNvPr id="7" name="TextBox 6"/>
          <p:cNvSpPr txBox="1"/>
          <p:nvPr/>
        </p:nvSpPr>
        <p:spPr>
          <a:xfrm>
            <a:off x="548640" y="5034915"/>
            <a:ext cx="5349240" cy="36576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Start page — one card per laboratory work (static/index.html, Lab 5)</a:t>
            </a:r>
          </a:p>
        </p:txBody>
      </p:sp>
      <p:sp>
        <p:nvSpPr>
          <p:cNvPr id="8" name="Rectangle 7"/>
          <p:cNvSpPr/>
          <p:nvPr/>
        </p:nvSpPr>
        <p:spPr>
          <a:xfrm>
            <a:off x="6217920" y="1508760"/>
            <a:ext cx="5440679" cy="3434715"/>
          </a:xfrm>
          <a:prstGeom prst="rect">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catalogue.png"/>
          <p:cNvPicPr>
            <a:picLocks noChangeAspect="1"/>
          </p:cNvPicPr>
          <p:nvPr/>
        </p:nvPicPr>
        <p:blipFill>
          <a:blip r:embed="rId4"/>
          <a:stretch>
            <a:fillRect/>
          </a:stretch>
        </p:blipFill>
        <p:spPr>
          <a:xfrm>
            <a:off x="6263640" y="1554480"/>
            <a:ext cx="5349240" cy="3343275"/>
          </a:xfrm>
          <a:prstGeom prst="rect">
            <a:avLst/>
          </a:prstGeom>
        </p:spPr>
      </p:pic>
      <p:sp>
        <p:nvSpPr>
          <p:cNvPr id="10" name="TextBox 9"/>
          <p:cNvSpPr txBox="1"/>
          <p:nvPr/>
        </p:nvSpPr>
        <p:spPr>
          <a:xfrm>
            <a:off x="6263640" y="5034915"/>
            <a:ext cx="5349240" cy="36576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Catalogue — Thymeleaf page with a filter by author (Labs 5–6)</a:t>
            </a:r>
          </a:p>
        </p:txBody>
      </p:sp>
      <p:sp>
        <p:nvSpPr>
          <p:cNvPr id="11" name="TextBox 10"/>
          <p:cNvSpPr txBox="1"/>
          <p:nvPr/>
        </p:nvSpPr>
        <p:spPr>
          <a:xfrm>
            <a:off x="548640" y="5623560"/>
            <a:ext cx="11064240" cy="548640"/>
          </a:xfrm>
          <a:prstGeom prst="rect">
            <a:avLst/>
          </a:prstGeom>
          <a:noFill/>
        </p:spPr>
        <p:txBody>
          <a:bodyPr wrap="square" anchor="t" lIns="0" rIns="0" tIns="0" bIns="0">
            <a:spAutoFit/>
          </a:bodyPr>
          <a:lstStyle/>
          <a:p>
            <a:pPr algn="l">
              <a:spcAft>
                <a:spcPts val="0"/>
              </a:spcAft>
            </a:pPr>
            <a:r>
              <a:rPr sz="1400" b="1" i="0">
                <a:solidFill>
                  <a:srgbClr val="1F2533"/>
                </a:solidFill>
                <a:latin typeface="Calibri"/>
              </a:rPr>
              <a:t>Shown live in the demonstration: </a:t>
            </a:r>
            <a:r>
              <a:rPr sz="1400" b="0" i="0">
                <a:solidFill>
                  <a:srgbClr val="1F2533"/>
                </a:solidFill>
                <a:latin typeface="Calibri"/>
              </a:rPr>
              <a:t>start page → catalogue → book details → form → Swagger UI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The application: validation and API docs</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13</a:t>
            </a:r>
          </a:p>
        </p:txBody>
      </p:sp>
      <p:sp>
        <p:nvSpPr>
          <p:cNvPr id="5" name="Rectangle 4"/>
          <p:cNvSpPr/>
          <p:nvPr/>
        </p:nvSpPr>
        <p:spPr>
          <a:xfrm>
            <a:off x="502919" y="1508760"/>
            <a:ext cx="5440679" cy="3434715"/>
          </a:xfrm>
          <a:prstGeom prst="rect">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ite-form-errors-crop.png"/>
          <p:cNvPicPr>
            <a:picLocks noChangeAspect="1"/>
          </p:cNvPicPr>
          <p:nvPr/>
        </p:nvPicPr>
        <p:blipFill>
          <a:blip r:embed="rId3"/>
          <a:stretch>
            <a:fillRect/>
          </a:stretch>
        </p:blipFill>
        <p:spPr>
          <a:xfrm>
            <a:off x="548640" y="1554480"/>
            <a:ext cx="5349240" cy="3343275"/>
          </a:xfrm>
          <a:prstGeom prst="rect">
            <a:avLst/>
          </a:prstGeom>
        </p:spPr>
      </p:pic>
      <p:sp>
        <p:nvSpPr>
          <p:cNvPr id="7" name="TextBox 6"/>
          <p:cNvSpPr txBox="1"/>
          <p:nvPr/>
        </p:nvSpPr>
        <p:spPr>
          <a:xfrm>
            <a:off x="548640" y="5034915"/>
            <a:ext cx="5349240" cy="36576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Form in Russian: all validation errors at once (Lab 6, variant 7 date)</a:t>
            </a:r>
          </a:p>
        </p:txBody>
      </p:sp>
      <p:sp>
        <p:nvSpPr>
          <p:cNvPr id="8" name="Rectangle 7"/>
          <p:cNvSpPr/>
          <p:nvPr/>
        </p:nvSpPr>
        <p:spPr>
          <a:xfrm>
            <a:off x="6217920" y="1508760"/>
            <a:ext cx="5440679" cy="3434715"/>
          </a:xfrm>
          <a:prstGeom prst="rect">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wagger-overview.png"/>
          <p:cNvPicPr>
            <a:picLocks noChangeAspect="1"/>
          </p:cNvPicPr>
          <p:nvPr/>
        </p:nvPicPr>
        <p:blipFill>
          <a:blip r:embed="rId4"/>
          <a:stretch>
            <a:fillRect/>
          </a:stretch>
        </p:blipFill>
        <p:spPr>
          <a:xfrm>
            <a:off x="6263640" y="1554480"/>
            <a:ext cx="5349240" cy="3343275"/>
          </a:xfrm>
          <a:prstGeom prst="rect">
            <a:avLst/>
          </a:prstGeom>
        </p:spPr>
      </p:pic>
      <p:sp>
        <p:nvSpPr>
          <p:cNvPr id="10" name="TextBox 9"/>
          <p:cNvSpPr txBox="1"/>
          <p:nvPr/>
        </p:nvSpPr>
        <p:spPr>
          <a:xfrm>
            <a:off x="6263640" y="5034915"/>
            <a:ext cx="5349240" cy="365760"/>
          </a:xfrm>
          <a:prstGeom prst="rect">
            <a:avLst/>
          </a:prstGeom>
          <a:noFill/>
        </p:spPr>
        <p:txBody>
          <a:bodyPr wrap="square" anchor="t" lIns="0" rIns="0" tIns="0" bIns="0">
            <a:spAutoFit/>
          </a:bodyPr>
          <a:lstStyle/>
          <a:p>
            <a:pPr algn="l">
              <a:spcAft>
                <a:spcPts val="0"/>
              </a:spcAft>
            </a:pPr>
            <a:r>
              <a:rPr sz="1200" b="0" i="0">
                <a:solidFill>
                  <a:srgbClr val="5A6372"/>
                </a:solidFill>
                <a:latin typeface="Calibri"/>
              </a:rPr>
              <a:t>Swagger UI: every operation of /api/books documented (Lab 7)</a:t>
            </a:r>
          </a:p>
        </p:txBody>
      </p:sp>
      <p:sp>
        <p:nvSpPr>
          <p:cNvPr id="11" name="TextBox 10"/>
          <p:cNvSpPr txBox="1"/>
          <p:nvPr/>
        </p:nvSpPr>
        <p:spPr>
          <a:xfrm>
            <a:off x="548640" y="5623560"/>
            <a:ext cx="11064240" cy="548640"/>
          </a:xfrm>
          <a:prstGeom prst="rect">
            <a:avLst/>
          </a:prstGeom>
          <a:noFill/>
        </p:spPr>
        <p:txBody>
          <a:bodyPr wrap="square" anchor="t" lIns="0" rIns="0" tIns="0" bIns="0">
            <a:spAutoFit/>
          </a:bodyPr>
          <a:lstStyle/>
          <a:p>
            <a:pPr algn="l">
              <a:spcAft>
                <a:spcPts val="0"/>
              </a:spcAft>
            </a:pPr>
            <a:r>
              <a:rPr sz="1400" b="1" i="0">
                <a:solidFill>
                  <a:srgbClr val="1F2533"/>
                </a:solidFill>
                <a:latin typeface="Calibri"/>
              </a:rPr>
              <a:t>Generated, not hand-written: </a:t>
            </a:r>
            <a:r>
              <a:rPr sz="1400" b="0" i="0">
                <a:solidFill>
                  <a:srgbClr val="1F2533"/>
                </a:solidFill>
                <a:latin typeface="Calibri"/>
              </a:rPr>
              <a:t>paths, methods and DTO schemas come from the code; annotations add summaries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Not side by side, but together: how labs connect</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14</a:t>
            </a:r>
          </a:p>
        </p:txBody>
      </p:sp>
      <p:sp>
        <p:nvSpPr>
          <p:cNvPr id="5" name="Rounded Rectangle 4"/>
          <p:cNvSpPr/>
          <p:nvPr/>
        </p:nvSpPr>
        <p:spPr>
          <a:xfrm>
            <a:off x="548640" y="1508760"/>
            <a:ext cx="3502152" cy="2148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737360"/>
            <a:ext cx="1234440" cy="41148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234440" cy="411480"/>
          </a:xfrm>
          <a:prstGeom prst="rect">
            <a:avLst/>
          </a:prstGeom>
          <a:noFill/>
        </p:spPr>
        <p:txBody>
          <a:bodyPr wrap="square" anchor="ctr" lIns="0" rIns="0" tIns="0" bIns="0">
            <a:spAutoFit/>
          </a:bodyPr>
          <a:lstStyle/>
          <a:p>
            <a:pPr algn="ctr">
              <a:spcAft>
                <a:spcPts val="0"/>
              </a:spcAft>
            </a:pPr>
            <a:r>
              <a:rPr sz="1300" b="1" i="0">
                <a:solidFill>
                  <a:srgbClr val="B08A3E"/>
                </a:solidFill>
                <a:latin typeface="Calibri"/>
              </a:rPr>
              <a:t>2 → 5</a:t>
            </a:r>
          </a:p>
        </p:txBody>
      </p:sp>
      <p:sp>
        <p:nvSpPr>
          <p:cNvPr id="8" name="TextBox 7"/>
          <p:cNvSpPr txBox="1"/>
          <p:nvPr/>
        </p:nvSpPr>
        <p:spPr>
          <a:xfrm>
            <a:off x="777240" y="2331720"/>
            <a:ext cx="3063240" cy="365760"/>
          </a:xfrm>
          <a:prstGeom prst="rect">
            <a:avLst/>
          </a:prstGeom>
          <a:noFill/>
        </p:spPr>
        <p:txBody>
          <a:bodyPr wrap="square" anchor="t" lIns="0" rIns="0" tIns="0" bIns="0">
            <a:spAutoFit/>
          </a:bodyPr>
          <a:lstStyle/>
          <a:p>
            <a:pPr algn="l">
              <a:spcAft>
                <a:spcPts val="0"/>
              </a:spcAft>
            </a:pPr>
            <a:r>
              <a:rPr sz="1600" b="1" i="0">
                <a:solidFill>
                  <a:srgbClr val="1B2A41"/>
                </a:solidFill>
                <a:latin typeface="Calibri"/>
              </a:rPr>
              <a:t>New book notifications</a:t>
            </a:r>
          </a:p>
        </p:txBody>
      </p:sp>
      <p:sp>
        <p:nvSpPr>
          <p:cNvPr id="9" name="TextBox 8"/>
          <p:cNvSpPr txBox="1"/>
          <p:nvPr/>
        </p:nvSpPr>
        <p:spPr>
          <a:xfrm>
            <a:off x="777240" y="2743200"/>
            <a:ext cx="3063240" cy="82296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BookService.create() calls the @Primary EmailNotifier</a:t>
            </a:r>
          </a:p>
        </p:txBody>
      </p:sp>
      <p:sp>
        <p:nvSpPr>
          <p:cNvPr id="10" name="Rounded Rectangle 9"/>
          <p:cNvSpPr/>
          <p:nvPr/>
        </p:nvSpPr>
        <p:spPr>
          <a:xfrm>
            <a:off x="4279392" y="1508760"/>
            <a:ext cx="3502152" cy="2148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07992" y="1737360"/>
            <a:ext cx="1234440" cy="41148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737360"/>
            <a:ext cx="1234440" cy="411480"/>
          </a:xfrm>
          <a:prstGeom prst="rect">
            <a:avLst/>
          </a:prstGeom>
          <a:noFill/>
        </p:spPr>
        <p:txBody>
          <a:bodyPr wrap="square" anchor="ctr" lIns="0" rIns="0" tIns="0" bIns="0">
            <a:spAutoFit/>
          </a:bodyPr>
          <a:lstStyle/>
          <a:p>
            <a:pPr algn="ctr">
              <a:spcAft>
                <a:spcPts val="0"/>
              </a:spcAft>
            </a:pPr>
            <a:r>
              <a:rPr sz="1300" b="1" i="0">
                <a:solidFill>
                  <a:srgbClr val="B08A3E"/>
                </a:solidFill>
                <a:latin typeface="Calibri"/>
              </a:rPr>
              <a:t>3 → 2</a:t>
            </a:r>
          </a:p>
        </p:txBody>
      </p:sp>
      <p:sp>
        <p:nvSpPr>
          <p:cNvPr id="13" name="TextBox 12"/>
          <p:cNvSpPr txBox="1"/>
          <p:nvPr/>
        </p:nvSpPr>
        <p:spPr>
          <a:xfrm>
            <a:off x="4507992" y="2331720"/>
            <a:ext cx="3063240" cy="365760"/>
          </a:xfrm>
          <a:prstGeom prst="rect">
            <a:avLst/>
          </a:prstGeom>
          <a:noFill/>
        </p:spPr>
        <p:txBody>
          <a:bodyPr wrap="square" anchor="t" lIns="0" rIns="0" tIns="0" bIns="0">
            <a:spAutoFit/>
          </a:bodyPr>
          <a:lstStyle/>
          <a:p>
            <a:pPr algn="l">
              <a:spcAft>
                <a:spcPts val="0"/>
              </a:spcAft>
            </a:pPr>
            <a:r>
              <a:rPr sz="1600" b="1" i="0">
                <a:solidFill>
                  <a:srgbClr val="1B2A41"/>
                </a:solidFill>
                <a:latin typeface="Calibri"/>
              </a:rPr>
              <a:t>Mail depends on the profile</a:t>
            </a:r>
          </a:p>
        </p:txBody>
      </p:sp>
      <p:sp>
        <p:nvSpPr>
          <p:cNvPr id="14" name="TextBox 13"/>
          <p:cNvSpPr txBox="1"/>
          <p:nvPr/>
        </p:nvSpPr>
        <p:spPr>
          <a:xfrm>
            <a:off x="4507992" y="2743200"/>
            <a:ext cx="3063240" cy="82296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dev: mail disabled · prod: retry-count = 5</a:t>
            </a:r>
          </a:p>
        </p:txBody>
      </p:sp>
      <p:sp>
        <p:nvSpPr>
          <p:cNvPr id="15" name="Rounded Rectangle 14"/>
          <p:cNvSpPr/>
          <p:nvPr/>
        </p:nvSpPr>
        <p:spPr>
          <a:xfrm>
            <a:off x="8010144" y="1508760"/>
            <a:ext cx="3502152" cy="2148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38744" y="1737360"/>
            <a:ext cx="1234440" cy="41148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38744" y="1737360"/>
            <a:ext cx="1234440" cy="411480"/>
          </a:xfrm>
          <a:prstGeom prst="rect">
            <a:avLst/>
          </a:prstGeom>
          <a:noFill/>
        </p:spPr>
        <p:txBody>
          <a:bodyPr wrap="square" anchor="ctr" lIns="0" rIns="0" tIns="0" bIns="0">
            <a:spAutoFit/>
          </a:bodyPr>
          <a:lstStyle/>
          <a:p>
            <a:pPr algn="ctr">
              <a:spcAft>
                <a:spcPts val="0"/>
              </a:spcAft>
            </a:pPr>
            <a:r>
              <a:rPr sz="1300" b="1" i="0">
                <a:solidFill>
                  <a:srgbClr val="B08A3E"/>
                </a:solidFill>
                <a:latin typeface="Calibri"/>
              </a:rPr>
              <a:t>3 → 5</a:t>
            </a:r>
          </a:p>
        </p:txBody>
      </p:sp>
      <p:sp>
        <p:nvSpPr>
          <p:cNvPr id="18" name="TextBox 17"/>
          <p:cNvSpPr txBox="1"/>
          <p:nvPr/>
        </p:nvSpPr>
        <p:spPr>
          <a:xfrm>
            <a:off x="8238744" y="2331720"/>
            <a:ext cx="3063240" cy="365760"/>
          </a:xfrm>
          <a:prstGeom prst="rect">
            <a:avLst/>
          </a:prstGeom>
          <a:noFill/>
        </p:spPr>
        <p:txBody>
          <a:bodyPr wrap="square" anchor="t" lIns="0" rIns="0" tIns="0" bIns="0">
            <a:spAutoFit/>
          </a:bodyPr>
          <a:lstStyle/>
          <a:p>
            <a:pPr algn="l">
              <a:spcAft>
                <a:spcPts val="0"/>
              </a:spcAft>
            </a:pPr>
            <a:r>
              <a:rPr sz="1600" b="1" i="0">
                <a:solidFill>
                  <a:srgbClr val="1B2A41"/>
                </a:solidFill>
                <a:latin typeface="Calibri"/>
              </a:rPr>
              <a:t>Citation cache from app.cache</a:t>
            </a:r>
          </a:p>
        </p:txBody>
      </p:sp>
      <p:sp>
        <p:nvSpPr>
          <p:cNvPr id="19" name="TextBox 18"/>
          <p:cNvSpPr txBox="1"/>
          <p:nvPr/>
        </p:nvSpPr>
        <p:spPr>
          <a:xfrm>
            <a:off x="8238744" y="2743200"/>
            <a:ext cx="3063240" cy="82296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1 min / 100 entries, under dev — 30 s / 50</a:t>
            </a:r>
          </a:p>
        </p:txBody>
      </p:sp>
      <p:sp>
        <p:nvSpPr>
          <p:cNvPr id="20" name="Rounded Rectangle 19"/>
          <p:cNvSpPr/>
          <p:nvPr/>
        </p:nvSpPr>
        <p:spPr>
          <a:xfrm>
            <a:off x="548640" y="3886200"/>
            <a:ext cx="3502152" cy="2148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4114800"/>
            <a:ext cx="1234440" cy="41148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114800"/>
            <a:ext cx="1234440" cy="411480"/>
          </a:xfrm>
          <a:prstGeom prst="rect">
            <a:avLst/>
          </a:prstGeom>
          <a:noFill/>
        </p:spPr>
        <p:txBody>
          <a:bodyPr wrap="square" anchor="ctr" lIns="0" rIns="0" tIns="0" bIns="0">
            <a:spAutoFit/>
          </a:bodyPr>
          <a:lstStyle/>
          <a:p>
            <a:pPr algn="ctr">
              <a:spcAft>
                <a:spcPts val="0"/>
              </a:spcAft>
            </a:pPr>
            <a:r>
              <a:rPr sz="1300" b="1" i="0">
                <a:solidFill>
                  <a:srgbClr val="B08A3E"/>
                </a:solidFill>
                <a:latin typeface="Calibri"/>
              </a:rPr>
              <a:t>4 → all</a:t>
            </a:r>
          </a:p>
        </p:txBody>
      </p:sp>
      <p:sp>
        <p:nvSpPr>
          <p:cNvPr id="23" name="TextBox 22"/>
          <p:cNvSpPr txBox="1"/>
          <p:nvPr/>
        </p:nvSpPr>
        <p:spPr>
          <a:xfrm>
            <a:off x="777240" y="4709160"/>
            <a:ext cx="3063240" cy="365760"/>
          </a:xfrm>
          <a:prstGeom prst="rect">
            <a:avLst/>
          </a:prstGeom>
          <a:noFill/>
        </p:spPr>
        <p:txBody>
          <a:bodyPr wrap="square" anchor="t" lIns="0" rIns="0" tIns="0" bIns="0">
            <a:spAutoFit/>
          </a:bodyPr>
          <a:lstStyle/>
          <a:p>
            <a:pPr algn="l">
              <a:spcAft>
                <a:spcPts val="0"/>
              </a:spcAft>
            </a:pPr>
            <a:r>
              <a:rPr sz="1600" b="1" i="0">
                <a:solidFill>
                  <a:srgbClr val="1B2A41"/>
                </a:solidFill>
                <a:latin typeface="Calibri"/>
              </a:rPr>
              <a:t>Every operation is wrapped</a:t>
            </a:r>
          </a:p>
        </p:txBody>
      </p:sp>
      <p:sp>
        <p:nvSpPr>
          <p:cNvPr id="24" name="TextBox 23"/>
          <p:cNvSpPr txBox="1"/>
          <p:nvPr/>
        </p:nvSpPr>
        <p:spPr>
          <a:xfrm>
            <a:off x="777240" y="5120640"/>
            <a:ext cx="3063240" cy="82296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Audit · Log · Time · Trace on the whole service layer</a:t>
            </a:r>
          </a:p>
        </p:txBody>
      </p:sp>
      <p:sp>
        <p:nvSpPr>
          <p:cNvPr id="25" name="Rounded Rectangle 24"/>
          <p:cNvSpPr/>
          <p:nvPr/>
        </p:nvSpPr>
        <p:spPr>
          <a:xfrm>
            <a:off x="4279392" y="3886200"/>
            <a:ext cx="3502152" cy="2148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507992" y="4114800"/>
            <a:ext cx="1234440" cy="41148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7992" y="4114800"/>
            <a:ext cx="1234440" cy="411480"/>
          </a:xfrm>
          <a:prstGeom prst="rect">
            <a:avLst/>
          </a:prstGeom>
          <a:noFill/>
        </p:spPr>
        <p:txBody>
          <a:bodyPr wrap="square" anchor="ctr" lIns="0" rIns="0" tIns="0" bIns="0">
            <a:spAutoFit/>
          </a:bodyPr>
          <a:lstStyle/>
          <a:p>
            <a:pPr algn="ctr">
              <a:spcAft>
                <a:spcPts val="0"/>
              </a:spcAft>
            </a:pPr>
            <a:r>
              <a:rPr sz="1300" b="1" i="0">
                <a:solidFill>
                  <a:srgbClr val="B08A3E"/>
                </a:solidFill>
                <a:latin typeface="Calibri"/>
              </a:rPr>
              <a:t>6 ↔ 7</a:t>
            </a:r>
          </a:p>
        </p:txBody>
      </p:sp>
      <p:sp>
        <p:nvSpPr>
          <p:cNvPr id="28" name="TextBox 27"/>
          <p:cNvSpPr txBox="1"/>
          <p:nvPr/>
        </p:nvSpPr>
        <p:spPr>
          <a:xfrm>
            <a:off x="4507992" y="4709160"/>
            <a:ext cx="3063240" cy="365760"/>
          </a:xfrm>
          <a:prstGeom prst="rect">
            <a:avLst/>
          </a:prstGeom>
          <a:noFill/>
        </p:spPr>
        <p:txBody>
          <a:bodyPr wrap="square" anchor="t" lIns="0" rIns="0" tIns="0" bIns="0">
            <a:spAutoFit/>
          </a:bodyPr>
          <a:lstStyle/>
          <a:p>
            <a:pPr algn="l">
              <a:spcAft>
                <a:spcPts val="0"/>
              </a:spcAft>
            </a:pPr>
            <a:r>
              <a:rPr sz="1600" b="1" i="0">
                <a:solidFill>
                  <a:srgbClr val="1B2A41"/>
                </a:solidFill>
                <a:latin typeface="Calibri"/>
              </a:rPr>
              <a:t>Shared rules: API and form</a:t>
            </a:r>
          </a:p>
        </p:txBody>
      </p:sp>
      <p:sp>
        <p:nvSpPr>
          <p:cNvPr id="29" name="TextBox 28"/>
          <p:cNvSpPr txBox="1"/>
          <p:nvPr/>
        </p:nvSpPr>
        <p:spPr>
          <a:xfrm>
            <a:off x="4507992" y="5120640"/>
            <a:ext cx="3063240" cy="82296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Lab 6 constraints validate the JSON; the 409 rule shows as a form error</a:t>
            </a:r>
          </a:p>
        </p:txBody>
      </p:sp>
      <p:sp>
        <p:nvSpPr>
          <p:cNvPr id="30" name="Rounded Rectangle 29"/>
          <p:cNvSpPr/>
          <p:nvPr/>
        </p:nvSpPr>
        <p:spPr>
          <a:xfrm>
            <a:off x="8010144" y="3886200"/>
            <a:ext cx="3502152" cy="214884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238744" y="4114800"/>
            <a:ext cx="1234440" cy="411480"/>
          </a:xfrm>
          <a:prstGeom prst="roundRect">
            <a:avLst>
              <a:gd name="adj" fmla="val 5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8744" y="4114800"/>
            <a:ext cx="1234440" cy="411480"/>
          </a:xfrm>
          <a:prstGeom prst="rect">
            <a:avLst/>
          </a:prstGeom>
          <a:noFill/>
        </p:spPr>
        <p:txBody>
          <a:bodyPr wrap="square" anchor="ctr" lIns="0" rIns="0" tIns="0" bIns="0">
            <a:spAutoFit/>
          </a:bodyPr>
          <a:lstStyle/>
          <a:p>
            <a:pPr algn="ctr">
              <a:spcAft>
                <a:spcPts val="0"/>
              </a:spcAft>
            </a:pPr>
            <a:r>
              <a:rPr sz="1300" b="1" i="0">
                <a:solidFill>
                  <a:srgbClr val="B08A3E"/>
                </a:solidFill>
                <a:latin typeface="Calibri"/>
              </a:rPr>
              <a:t>4 + 6</a:t>
            </a:r>
          </a:p>
        </p:txBody>
      </p:sp>
      <p:sp>
        <p:nvSpPr>
          <p:cNvPr id="33" name="TextBox 32"/>
          <p:cNvSpPr txBox="1"/>
          <p:nvPr/>
        </p:nvSpPr>
        <p:spPr>
          <a:xfrm>
            <a:off x="8238744" y="4709160"/>
            <a:ext cx="3063240" cy="365760"/>
          </a:xfrm>
          <a:prstGeom prst="rect">
            <a:avLst/>
          </a:prstGeom>
          <a:noFill/>
        </p:spPr>
        <p:txBody>
          <a:bodyPr wrap="square" anchor="t" lIns="0" rIns="0" tIns="0" bIns="0">
            <a:spAutoFit/>
          </a:bodyPr>
          <a:lstStyle/>
          <a:p>
            <a:pPr algn="l">
              <a:spcAft>
                <a:spcPts val="0"/>
              </a:spcAft>
            </a:pPr>
            <a:r>
              <a:rPr sz="1600" b="1" i="0">
                <a:solidFill>
                  <a:srgbClr val="1B2A41"/>
                </a:solidFill>
                <a:latin typeface="Calibri"/>
              </a:rPr>
              <a:t>Client error is 400</a:t>
            </a:r>
          </a:p>
        </p:txBody>
      </p:sp>
      <p:sp>
        <p:nvSpPr>
          <p:cNvPr id="34" name="TextBox 33"/>
          <p:cNvSpPr txBox="1"/>
          <p:nvPr/>
        </p:nvSpPr>
        <p:spPr>
          <a:xfrm>
            <a:off x="8238744" y="5120640"/>
            <a:ext cx="3063240" cy="82296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delete(0): @AfterThrowing, audit failure, ProblemDetail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Every experiment is an automated test</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15</a:t>
            </a:r>
          </a:p>
        </p:txBody>
      </p:sp>
      <p:graphicFrame>
        <p:nvGraphicFramePr>
          <p:cNvPr id="5" name="Chart 4"/>
          <p:cNvGraphicFramePr>
            <a:graphicFrameLocks noGrp="1"/>
          </p:cNvGraphicFramePr>
          <p:nvPr/>
        </p:nvGraphicFramePr>
        <p:xfrm>
          <a:off x="548640" y="1463040"/>
          <a:ext cx="6583680" cy="4754880"/>
        </p:xfrm>
        <a:graphic>
          <a:graphicData uri="http://schemas.openxmlformats.org/drawingml/2006/chart">
            <c:chart xmlns:c="http://schemas.openxmlformats.org/drawingml/2006/chart" r:id="rId3"/>
          </a:graphicData>
        </a:graphic>
      </p:graphicFrame>
      <p:sp>
        <p:nvSpPr>
          <p:cNvPr id="6" name="Rounded Rectangle 5"/>
          <p:cNvSpPr/>
          <p:nvPr/>
        </p:nvSpPr>
        <p:spPr>
          <a:xfrm>
            <a:off x="7589520" y="1508760"/>
            <a:ext cx="4023360" cy="18288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600200"/>
            <a:ext cx="4023360" cy="914400"/>
          </a:xfrm>
          <a:prstGeom prst="rect">
            <a:avLst/>
          </a:prstGeom>
          <a:noFill/>
        </p:spPr>
        <p:txBody>
          <a:bodyPr wrap="square" anchor="t" lIns="0" rIns="0" tIns="0" bIns="0">
            <a:spAutoFit/>
          </a:bodyPr>
          <a:lstStyle/>
          <a:p>
            <a:pPr algn="ctr">
              <a:spcAft>
                <a:spcPts val="0"/>
              </a:spcAft>
            </a:pPr>
            <a:r>
              <a:rPr sz="4800" b="1" i="0">
                <a:solidFill>
                  <a:srgbClr val="B08A3E"/>
                </a:solidFill>
                <a:latin typeface="Cambria"/>
              </a:rPr>
              <a:t>32 / 32</a:t>
            </a:r>
          </a:p>
        </p:txBody>
      </p:sp>
      <p:sp>
        <p:nvSpPr>
          <p:cNvPr id="8" name="TextBox 7"/>
          <p:cNvSpPr txBox="1"/>
          <p:nvPr/>
        </p:nvSpPr>
        <p:spPr>
          <a:xfrm>
            <a:off x="7589520" y="2606040"/>
            <a:ext cx="4023360" cy="457200"/>
          </a:xfrm>
          <a:prstGeom prst="rect">
            <a:avLst/>
          </a:prstGeom>
          <a:noFill/>
        </p:spPr>
        <p:txBody>
          <a:bodyPr wrap="square" anchor="t" lIns="0" rIns="0" tIns="0" bIns="0">
            <a:spAutoFit/>
          </a:bodyPr>
          <a:lstStyle/>
          <a:p>
            <a:pPr algn="ctr">
              <a:spcAft>
                <a:spcPts val="0"/>
              </a:spcAft>
            </a:pPr>
            <a:r>
              <a:rPr sz="1400" b="0" i="0">
                <a:solidFill>
                  <a:srgbClr val="FFFFFF"/>
                </a:solidFill>
                <a:latin typeface="Courier New"/>
              </a:rPr>
              <a:t>./mvnw test  →  BUILD SUCCESS</a:t>
            </a:r>
          </a:p>
        </p:txBody>
      </p:sp>
      <p:sp>
        <p:nvSpPr>
          <p:cNvPr id="9" name="TextBox 8"/>
          <p:cNvSpPr txBox="1"/>
          <p:nvPr/>
        </p:nvSpPr>
        <p:spPr>
          <a:xfrm>
            <a:off x="7589520" y="3657600"/>
            <a:ext cx="4023360" cy="2651760"/>
          </a:xfrm>
          <a:prstGeom prst="rect">
            <a:avLst/>
          </a:prstGeom>
          <a:noFill/>
        </p:spPr>
        <p:txBody>
          <a:bodyPr wrap="square" lIns="0" rIns="0" tIns="0" bIns="0">
            <a:spAutoFit/>
          </a:bodyPr>
          <a:lstStyle/>
          <a:p>
            <a:pPr marL="274320" indent="-274320">
              <a:spcAft>
                <a:spcPts val="600"/>
              </a:spcAft>
              <a:buClr>
                <a:srgbClr val="B08A3E"/>
              </a:buClr>
              <a:buFont typeface="Arial"/>
              <a:buChar char="•"/>
            </a:pPr>
            <a:r>
              <a:rPr sz="1400" b="0">
                <a:solidFill>
                  <a:srgbClr val="1F2533"/>
                </a:solidFill>
                <a:latin typeface="Calibri"/>
              </a:rPr>
              <a:t>200 / 201 / 204 / 400 / 404 / 405 / 406 / 415</a:t>
            </a:r>
          </a:p>
          <a:p>
            <a:pPr marL="274320" indent="-274320">
              <a:spcAft>
                <a:spcPts val="600"/>
              </a:spcAft>
              <a:buClr>
                <a:srgbClr val="B08A3E"/>
              </a:buClr>
              <a:buFont typeface="Arial"/>
              <a:buChar char="•"/>
            </a:pPr>
            <a:r>
              <a:rPr sz="1400" b="0">
                <a:solidFill>
                  <a:srgbClr val="1F2533"/>
                </a:solidFill>
                <a:latin typeface="Calibri"/>
              </a:rPr>
              <a:t>form errors in EN and RU, flash + redirect</a:t>
            </a:r>
          </a:p>
          <a:p>
            <a:pPr marL="274320" indent="-274320">
              <a:spcAft>
                <a:spcPts val="600"/>
              </a:spcAft>
              <a:buClr>
                <a:srgbClr val="B08A3E"/>
              </a:buClr>
              <a:buFont typeface="Arial"/>
              <a:buChar char="•"/>
            </a:pPr>
            <a:r>
              <a:rPr sz="1400" b="0">
                <a:solidFill>
                  <a:srgbClr val="1F2533"/>
                </a:solidFill>
                <a:latin typeface="Calibri"/>
              </a:rPr>
              <a:t>CGLIB proxy and self-invocation: 0 vs 2 records</a:t>
            </a:r>
          </a:p>
          <a:p>
            <a:pPr marL="274320" indent="-274320">
              <a:spcAft>
                <a:spcPts val="600"/>
              </a:spcAft>
              <a:buClr>
                <a:srgbClr val="B08A3E"/>
              </a:buClr>
              <a:buFont typeface="Arial"/>
              <a:buChar char="•"/>
            </a:pPr>
            <a:r>
              <a:rPr sz="1400" b="0">
                <a:solidFill>
                  <a:srgbClr val="1F2533"/>
                </a:solidFill>
                <a:latin typeface="Calibri"/>
              </a:rPr>
              <a:t>dev profile: port 8081, ttl PT30S</a:t>
            </a:r>
          </a:p>
          <a:p>
            <a:pPr marL="274320" indent="-274320">
              <a:spcAft>
                <a:spcPts val="600"/>
              </a:spcAft>
              <a:buClr>
                <a:srgbClr val="B08A3E"/>
              </a:buClr>
              <a:buFont typeface="Arial"/>
              <a:buChar char="•"/>
            </a:pPr>
            <a:r>
              <a:rPr sz="1400" b="0">
                <a:solidFill>
                  <a:srgbClr val="1F2533"/>
                </a:solidFill>
                <a:latin typeface="Calibri"/>
              </a:rPr>
              <a:t>201 + Location, 404/409 problem details, HAL, OpenAPI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Demonstration script</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16</a:t>
            </a:r>
          </a:p>
        </p:txBody>
      </p:sp>
      <p:sp>
        <p:nvSpPr>
          <p:cNvPr id="5" name="Oval 4"/>
          <p:cNvSpPr/>
          <p:nvPr/>
        </p:nvSpPr>
        <p:spPr>
          <a:xfrm>
            <a:off x="548640" y="1453896"/>
            <a:ext cx="402336" cy="402336"/>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1</a:t>
            </a:r>
          </a:p>
        </p:txBody>
      </p:sp>
      <p:sp>
        <p:nvSpPr>
          <p:cNvPr id="6" name="TextBox 5"/>
          <p:cNvSpPr txBox="1"/>
          <p:nvPr/>
        </p:nvSpPr>
        <p:spPr>
          <a:xfrm>
            <a:off x="1188720" y="1417320"/>
            <a:ext cx="6035040" cy="475488"/>
          </a:xfrm>
          <a:prstGeom prst="rect">
            <a:avLst/>
          </a:prstGeom>
          <a:noFill/>
        </p:spPr>
        <p:txBody>
          <a:bodyPr wrap="square" anchor="ctr" lIns="0" rIns="0" tIns="0" bIns="0">
            <a:spAutoFit/>
          </a:bodyPr>
          <a:lstStyle/>
          <a:p>
            <a:pPr algn="l">
              <a:spcAft>
                <a:spcPts val="0"/>
              </a:spcAft>
            </a:pPr>
            <a:r>
              <a:rPr sz="1300" b="1" i="0">
                <a:solidFill>
                  <a:srgbClr val="1B2A41"/>
                </a:solidFill>
                <a:latin typeface="Courier New"/>
              </a:rPr>
              <a:t>./mvnw test</a:t>
            </a:r>
          </a:p>
        </p:txBody>
      </p:sp>
      <p:sp>
        <p:nvSpPr>
          <p:cNvPr id="7" name="TextBox 6"/>
          <p:cNvSpPr txBox="1"/>
          <p:nvPr/>
        </p:nvSpPr>
        <p:spPr>
          <a:xfrm>
            <a:off x="7315200" y="1417320"/>
            <a:ext cx="4297680" cy="475488"/>
          </a:xfrm>
          <a:prstGeom prst="rect">
            <a:avLst/>
          </a:prstGeom>
          <a:noFill/>
        </p:spPr>
        <p:txBody>
          <a:bodyPr wrap="square" anchor="ctr" lIns="0" rIns="0" tIns="0" bIns="0">
            <a:spAutoFit/>
          </a:bodyPr>
          <a:lstStyle/>
          <a:p>
            <a:pPr algn="l">
              <a:spcAft>
                <a:spcPts val="0"/>
              </a:spcAft>
            </a:pPr>
            <a:r>
              <a:rPr sz="1300" b="0" i="0">
                <a:solidFill>
                  <a:srgbClr val="5A6372"/>
                </a:solidFill>
                <a:latin typeface="Calibri"/>
              </a:rPr>
              <a:t>32 tests are green</a:t>
            </a:r>
          </a:p>
        </p:txBody>
      </p:sp>
      <p:sp>
        <p:nvSpPr>
          <p:cNvPr id="8" name="Oval 7"/>
          <p:cNvSpPr/>
          <p:nvPr/>
        </p:nvSpPr>
        <p:spPr>
          <a:xfrm>
            <a:off x="548640" y="1988819"/>
            <a:ext cx="402336" cy="402336"/>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2</a:t>
            </a:r>
          </a:p>
        </p:txBody>
      </p:sp>
      <p:sp>
        <p:nvSpPr>
          <p:cNvPr id="9" name="TextBox 8"/>
          <p:cNvSpPr txBox="1"/>
          <p:nvPr/>
        </p:nvSpPr>
        <p:spPr>
          <a:xfrm>
            <a:off x="1188720" y="1952243"/>
            <a:ext cx="6035040" cy="475488"/>
          </a:xfrm>
          <a:prstGeom prst="rect">
            <a:avLst/>
          </a:prstGeom>
          <a:noFill/>
        </p:spPr>
        <p:txBody>
          <a:bodyPr wrap="square" anchor="ctr" lIns="0" rIns="0" tIns="0" bIns="0">
            <a:spAutoFit/>
          </a:bodyPr>
          <a:lstStyle/>
          <a:p>
            <a:pPr algn="l">
              <a:spcAft>
                <a:spcPts val="0"/>
              </a:spcAft>
            </a:pPr>
            <a:r>
              <a:rPr sz="1300" b="1" i="0">
                <a:solidFill>
                  <a:srgbClr val="1B2A41"/>
                </a:solidFill>
                <a:latin typeface="Courier New"/>
              </a:rPr>
              <a:t>./mvnw spring-boot:run → /</a:t>
            </a:r>
          </a:p>
        </p:txBody>
      </p:sp>
      <p:sp>
        <p:nvSpPr>
          <p:cNvPr id="10" name="TextBox 9"/>
          <p:cNvSpPr txBox="1"/>
          <p:nvPr/>
        </p:nvSpPr>
        <p:spPr>
          <a:xfrm>
            <a:off x="7315200" y="1952243"/>
            <a:ext cx="4297680" cy="475488"/>
          </a:xfrm>
          <a:prstGeom prst="rect">
            <a:avLst/>
          </a:prstGeom>
          <a:noFill/>
        </p:spPr>
        <p:txBody>
          <a:bodyPr wrap="square" anchor="ctr" lIns="0" rIns="0" tIns="0" bIns="0">
            <a:spAutoFit/>
          </a:bodyPr>
          <a:lstStyle/>
          <a:p>
            <a:pPr algn="l">
              <a:spcAft>
                <a:spcPts val="0"/>
              </a:spcAft>
            </a:pPr>
            <a:r>
              <a:rPr sz="1300" b="0" i="0">
                <a:solidFill>
                  <a:srgbClr val="5A6372"/>
                </a:solidFill>
                <a:latin typeface="Calibri"/>
              </a:rPr>
              <a:t>start page: links for every lab</a:t>
            </a:r>
          </a:p>
        </p:txBody>
      </p:sp>
      <p:sp>
        <p:nvSpPr>
          <p:cNvPr id="11" name="Oval 10"/>
          <p:cNvSpPr/>
          <p:nvPr/>
        </p:nvSpPr>
        <p:spPr>
          <a:xfrm>
            <a:off x="548640" y="2523744"/>
            <a:ext cx="402336" cy="402336"/>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3</a:t>
            </a:r>
          </a:p>
        </p:txBody>
      </p:sp>
      <p:sp>
        <p:nvSpPr>
          <p:cNvPr id="12" name="TextBox 11"/>
          <p:cNvSpPr txBox="1"/>
          <p:nvPr/>
        </p:nvSpPr>
        <p:spPr>
          <a:xfrm>
            <a:off x="1188720" y="2487168"/>
            <a:ext cx="6035040" cy="475488"/>
          </a:xfrm>
          <a:prstGeom prst="rect">
            <a:avLst/>
          </a:prstGeom>
          <a:noFill/>
        </p:spPr>
        <p:txBody>
          <a:bodyPr wrap="square" anchor="ctr" lIns="0" rIns="0" tIns="0" bIns="0">
            <a:spAutoFit/>
          </a:bodyPr>
          <a:lstStyle/>
          <a:p>
            <a:pPr algn="l">
              <a:spcAft>
                <a:spcPts val="0"/>
              </a:spcAft>
            </a:pPr>
            <a:r>
              <a:rPr sz="1300" b="1" i="0">
                <a:solidFill>
                  <a:srgbClr val="1B2A41"/>
                </a:solidFill>
                <a:latin typeface="Courier New"/>
              </a:rPr>
              <a:t>/books/new?lang=ru → «Сохранить»</a:t>
            </a:r>
          </a:p>
        </p:txBody>
      </p:sp>
      <p:sp>
        <p:nvSpPr>
          <p:cNvPr id="13" name="TextBox 12"/>
          <p:cNvSpPr txBox="1"/>
          <p:nvPr/>
        </p:nvSpPr>
        <p:spPr>
          <a:xfrm>
            <a:off x="7315200" y="2487168"/>
            <a:ext cx="4297680" cy="475488"/>
          </a:xfrm>
          <a:prstGeom prst="rect">
            <a:avLst/>
          </a:prstGeom>
          <a:noFill/>
        </p:spPr>
        <p:txBody>
          <a:bodyPr wrap="square" anchor="ctr" lIns="0" rIns="0" tIns="0" bIns="0">
            <a:spAutoFit/>
          </a:bodyPr>
          <a:lstStyle/>
          <a:p>
            <a:pPr algn="l">
              <a:spcAft>
                <a:spcPts val="0"/>
              </a:spcAft>
            </a:pPr>
            <a:r>
              <a:rPr sz="1300" b="0" i="0">
                <a:solidFill>
                  <a:srgbClr val="5A6372"/>
                </a:solidFill>
                <a:latin typeface="Calibri"/>
              </a:rPr>
              <a:t>all validation errors in Russian</a:t>
            </a:r>
          </a:p>
        </p:txBody>
      </p:sp>
      <p:sp>
        <p:nvSpPr>
          <p:cNvPr id="14" name="Oval 13"/>
          <p:cNvSpPr/>
          <p:nvPr/>
        </p:nvSpPr>
        <p:spPr>
          <a:xfrm>
            <a:off x="548640" y="3058668"/>
            <a:ext cx="402336" cy="402336"/>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4</a:t>
            </a:r>
          </a:p>
        </p:txBody>
      </p:sp>
      <p:sp>
        <p:nvSpPr>
          <p:cNvPr id="15" name="TextBox 14"/>
          <p:cNvSpPr txBox="1"/>
          <p:nvPr/>
        </p:nvSpPr>
        <p:spPr>
          <a:xfrm>
            <a:off x="1188720" y="3022091"/>
            <a:ext cx="6035040" cy="475488"/>
          </a:xfrm>
          <a:prstGeom prst="rect">
            <a:avLst/>
          </a:prstGeom>
          <a:noFill/>
        </p:spPr>
        <p:txBody>
          <a:bodyPr wrap="square" anchor="ctr" lIns="0" rIns="0" tIns="0" bIns="0">
            <a:spAutoFit/>
          </a:bodyPr>
          <a:lstStyle/>
          <a:p>
            <a:pPr algn="l">
              <a:spcAft>
                <a:spcPts val="0"/>
              </a:spcAft>
            </a:pPr>
            <a:r>
              <a:rPr sz="1300" b="1" i="0">
                <a:solidFill>
                  <a:srgbClr val="1B2A41"/>
                </a:solidFill>
                <a:latin typeface="Courier New"/>
              </a:rPr>
              <a:t>Valid form → F5</a:t>
            </a:r>
          </a:p>
        </p:txBody>
      </p:sp>
      <p:sp>
        <p:nvSpPr>
          <p:cNvPr id="16" name="TextBox 15"/>
          <p:cNvSpPr txBox="1"/>
          <p:nvPr/>
        </p:nvSpPr>
        <p:spPr>
          <a:xfrm>
            <a:off x="7315200" y="3022091"/>
            <a:ext cx="4297680" cy="475488"/>
          </a:xfrm>
          <a:prstGeom prst="rect">
            <a:avLst/>
          </a:prstGeom>
          <a:noFill/>
        </p:spPr>
        <p:txBody>
          <a:bodyPr wrap="square" anchor="ctr" lIns="0" rIns="0" tIns="0" bIns="0">
            <a:spAutoFit/>
          </a:bodyPr>
          <a:lstStyle/>
          <a:p>
            <a:pPr algn="l">
              <a:spcAft>
                <a:spcPts val="0"/>
              </a:spcAft>
            </a:pPr>
            <a:r>
              <a:rPr sz="1300" b="0" i="0">
                <a:solidFill>
                  <a:srgbClr val="5A6372"/>
                </a:solidFill>
                <a:latin typeface="Calibri"/>
              </a:rPr>
              <a:t>redirect + flash, no duplicate; [AUDIT] and EMAIL in the log</a:t>
            </a:r>
          </a:p>
        </p:txBody>
      </p:sp>
      <p:sp>
        <p:nvSpPr>
          <p:cNvPr id="17" name="Oval 16"/>
          <p:cNvSpPr/>
          <p:nvPr/>
        </p:nvSpPr>
        <p:spPr>
          <a:xfrm>
            <a:off x="548640" y="3593591"/>
            <a:ext cx="402336" cy="402336"/>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5</a:t>
            </a:r>
          </a:p>
        </p:txBody>
      </p:sp>
      <p:sp>
        <p:nvSpPr>
          <p:cNvPr id="18" name="TextBox 17"/>
          <p:cNvSpPr txBox="1"/>
          <p:nvPr/>
        </p:nvSpPr>
        <p:spPr>
          <a:xfrm>
            <a:off x="1188720" y="3557015"/>
            <a:ext cx="6035040" cy="475488"/>
          </a:xfrm>
          <a:prstGeom prst="rect">
            <a:avLst/>
          </a:prstGeom>
          <a:noFill/>
        </p:spPr>
        <p:txBody>
          <a:bodyPr wrap="square" anchor="ctr" lIns="0" rIns="0" tIns="0" bIns="0">
            <a:spAutoFit/>
          </a:bodyPr>
          <a:lstStyle/>
          <a:p>
            <a:pPr algn="l">
              <a:spcAft>
                <a:spcPts val="0"/>
              </a:spcAft>
            </a:pPr>
            <a:r>
              <a:rPr sz="1300" b="1" i="0">
                <a:solidFill>
                  <a:srgbClr val="1B2A41"/>
                </a:solidFill>
                <a:latin typeface="Courier New"/>
              </a:rPr>
              <a:t>DELETE /api/books/bulk?ids=1,2&amp;viaProxy=false|true</a:t>
            </a:r>
          </a:p>
        </p:txBody>
      </p:sp>
      <p:sp>
        <p:nvSpPr>
          <p:cNvPr id="19" name="TextBox 18"/>
          <p:cNvSpPr txBox="1"/>
          <p:nvPr/>
        </p:nvSpPr>
        <p:spPr>
          <a:xfrm>
            <a:off x="7315200" y="3557015"/>
            <a:ext cx="4297680" cy="475488"/>
          </a:xfrm>
          <a:prstGeom prst="rect">
            <a:avLst/>
          </a:prstGeom>
          <a:noFill/>
        </p:spPr>
        <p:txBody>
          <a:bodyPr wrap="square" anchor="ctr" lIns="0" rIns="0" tIns="0" bIns="0">
            <a:spAutoFit/>
          </a:bodyPr>
          <a:lstStyle/>
          <a:p>
            <a:pPr algn="l">
              <a:spcAft>
                <a:spcPts val="0"/>
              </a:spcAft>
            </a:pPr>
            <a:r>
              <a:rPr sz="1300" b="0" i="0">
                <a:solidFill>
                  <a:srgbClr val="5A6372"/>
                </a:solidFill>
                <a:latin typeface="Calibri"/>
              </a:rPr>
              <a:t>/api/system/audit: 0 and 2 records</a:t>
            </a:r>
          </a:p>
        </p:txBody>
      </p:sp>
      <p:sp>
        <p:nvSpPr>
          <p:cNvPr id="20" name="Oval 19"/>
          <p:cNvSpPr/>
          <p:nvPr/>
        </p:nvSpPr>
        <p:spPr>
          <a:xfrm>
            <a:off x="548640" y="4128515"/>
            <a:ext cx="402336" cy="402336"/>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6</a:t>
            </a:r>
          </a:p>
        </p:txBody>
      </p:sp>
      <p:sp>
        <p:nvSpPr>
          <p:cNvPr id="21" name="TextBox 20"/>
          <p:cNvSpPr txBox="1"/>
          <p:nvPr/>
        </p:nvSpPr>
        <p:spPr>
          <a:xfrm>
            <a:off x="1188720" y="4091939"/>
            <a:ext cx="6035040" cy="475488"/>
          </a:xfrm>
          <a:prstGeom prst="rect">
            <a:avLst/>
          </a:prstGeom>
          <a:noFill/>
        </p:spPr>
        <p:txBody>
          <a:bodyPr wrap="square" anchor="ctr" lIns="0" rIns="0" tIns="0" bIns="0">
            <a:spAutoFit/>
          </a:bodyPr>
          <a:lstStyle/>
          <a:p>
            <a:pPr algn="l">
              <a:spcAft>
                <a:spcPts val="0"/>
              </a:spcAft>
            </a:pPr>
            <a:r>
              <a:rPr sz="1300" b="1" i="0">
                <a:solidFill>
                  <a:srgbClr val="1B2A41"/>
                </a:solidFill>
                <a:latin typeface="Courier New"/>
              </a:rPr>
              <a:t>books.http: POST → POST again → DELETE ×2</a:t>
            </a:r>
          </a:p>
        </p:txBody>
      </p:sp>
      <p:sp>
        <p:nvSpPr>
          <p:cNvPr id="22" name="TextBox 21"/>
          <p:cNvSpPr txBox="1"/>
          <p:nvPr/>
        </p:nvSpPr>
        <p:spPr>
          <a:xfrm>
            <a:off x="7315200" y="4091939"/>
            <a:ext cx="4297680" cy="475488"/>
          </a:xfrm>
          <a:prstGeom prst="rect">
            <a:avLst/>
          </a:prstGeom>
          <a:noFill/>
        </p:spPr>
        <p:txBody>
          <a:bodyPr wrap="square" anchor="ctr" lIns="0" rIns="0" tIns="0" bIns="0">
            <a:spAutoFit/>
          </a:bodyPr>
          <a:lstStyle/>
          <a:p>
            <a:pPr algn="l">
              <a:spcAft>
                <a:spcPts val="0"/>
              </a:spcAft>
            </a:pPr>
            <a:r>
              <a:rPr sz="1300" b="0" i="0">
                <a:solidFill>
                  <a:srgbClr val="5A6372"/>
                </a:solidFill>
                <a:latin typeface="Calibri"/>
              </a:rPr>
              <a:t>201 + Location, 409, 204, 404</a:t>
            </a:r>
          </a:p>
        </p:txBody>
      </p:sp>
      <p:sp>
        <p:nvSpPr>
          <p:cNvPr id="23" name="Oval 22"/>
          <p:cNvSpPr/>
          <p:nvPr/>
        </p:nvSpPr>
        <p:spPr>
          <a:xfrm>
            <a:off x="548640" y="4663440"/>
            <a:ext cx="402336" cy="402336"/>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7</a:t>
            </a:r>
          </a:p>
        </p:txBody>
      </p:sp>
      <p:sp>
        <p:nvSpPr>
          <p:cNvPr id="24" name="TextBox 23"/>
          <p:cNvSpPr txBox="1"/>
          <p:nvPr/>
        </p:nvSpPr>
        <p:spPr>
          <a:xfrm>
            <a:off x="1188720" y="4626864"/>
            <a:ext cx="6035040" cy="475488"/>
          </a:xfrm>
          <a:prstGeom prst="rect">
            <a:avLst/>
          </a:prstGeom>
          <a:noFill/>
        </p:spPr>
        <p:txBody>
          <a:bodyPr wrap="square" anchor="ctr" lIns="0" rIns="0" tIns="0" bIns="0">
            <a:spAutoFit/>
          </a:bodyPr>
          <a:lstStyle/>
          <a:p>
            <a:pPr algn="l">
              <a:spcAft>
                <a:spcPts val="0"/>
              </a:spcAft>
            </a:pPr>
            <a:r>
              <a:rPr sz="1300" b="1" i="0">
                <a:solidFill>
                  <a:srgbClr val="1B2A41"/>
                </a:solidFill>
                <a:latin typeface="Courier New"/>
              </a:rPr>
              <a:t>/swagger-ui.html → GET /api/books/999</a:t>
            </a:r>
          </a:p>
        </p:txBody>
      </p:sp>
      <p:sp>
        <p:nvSpPr>
          <p:cNvPr id="25" name="TextBox 24"/>
          <p:cNvSpPr txBox="1"/>
          <p:nvPr/>
        </p:nvSpPr>
        <p:spPr>
          <a:xfrm>
            <a:off x="7315200" y="4626864"/>
            <a:ext cx="4297680" cy="475488"/>
          </a:xfrm>
          <a:prstGeom prst="rect">
            <a:avLst/>
          </a:prstGeom>
          <a:noFill/>
        </p:spPr>
        <p:txBody>
          <a:bodyPr wrap="square" anchor="ctr" lIns="0" rIns="0" tIns="0" bIns="0">
            <a:spAutoFit/>
          </a:bodyPr>
          <a:lstStyle/>
          <a:p>
            <a:pPr algn="l">
              <a:spcAft>
                <a:spcPts val="0"/>
              </a:spcAft>
            </a:pPr>
            <a:r>
              <a:rPr sz="1300" b="0" i="0">
                <a:solidFill>
                  <a:srgbClr val="5A6372"/>
                </a:solidFill>
                <a:latin typeface="Calibri"/>
              </a:rPr>
              <a:t>404 problem detail inside Swagger UI</a:t>
            </a:r>
          </a:p>
        </p:txBody>
      </p:sp>
      <p:sp>
        <p:nvSpPr>
          <p:cNvPr id="26" name="Oval 25"/>
          <p:cNvSpPr/>
          <p:nvPr/>
        </p:nvSpPr>
        <p:spPr>
          <a:xfrm>
            <a:off x="548640" y="5198364"/>
            <a:ext cx="402336" cy="402336"/>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8</a:t>
            </a:r>
          </a:p>
        </p:txBody>
      </p:sp>
      <p:sp>
        <p:nvSpPr>
          <p:cNvPr id="27" name="TextBox 26"/>
          <p:cNvSpPr txBox="1"/>
          <p:nvPr/>
        </p:nvSpPr>
        <p:spPr>
          <a:xfrm>
            <a:off x="1188720" y="5161788"/>
            <a:ext cx="6035040" cy="475488"/>
          </a:xfrm>
          <a:prstGeom prst="rect">
            <a:avLst/>
          </a:prstGeom>
          <a:noFill/>
        </p:spPr>
        <p:txBody>
          <a:bodyPr wrap="square" anchor="ctr" lIns="0" rIns="0" tIns="0" bIns="0">
            <a:spAutoFit/>
          </a:bodyPr>
          <a:lstStyle/>
          <a:p>
            <a:pPr algn="l">
              <a:spcAft>
                <a:spcPts val="0"/>
              </a:spcAft>
            </a:pPr>
            <a:r>
              <a:rPr sz="1300" b="1" i="0">
                <a:solidFill>
                  <a:srgbClr val="1B2A41"/>
                </a:solidFill>
                <a:latin typeface="Courier New"/>
              </a:rPr>
              <a:t>/books/999 and /api/books/1</a:t>
            </a:r>
          </a:p>
        </p:txBody>
      </p:sp>
      <p:sp>
        <p:nvSpPr>
          <p:cNvPr id="28" name="TextBox 27"/>
          <p:cNvSpPr txBox="1"/>
          <p:nvPr/>
        </p:nvSpPr>
        <p:spPr>
          <a:xfrm>
            <a:off x="7315200" y="5161788"/>
            <a:ext cx="4297680" cy="475488"/>
          </a:xfrm>
          <a:prstGeom prst="rect">
            <a:avLst/>
          </a:prstGeom>
          <a:noFill/>
        </p:spPr>
        <p:txBody>
          <a:bodyPr wrap="square" anchor="ctr" lIns="0" rIns="0" tIns="0" bIns="0">
            <a:spAutoFit/>
          </a:bodyPr>
          <a:lstStyle/>
          <a:p>
            <a:pPr algn="l">
              <a:spcAft>
                <a:spcPts val="0"/>
              </a:spcAft>
            </a:pPr>
            <a:r>
              <a:rPr sz="1300" b="0" i="0">
                <a:solidFill>
                  <a:srgbClr val="5A6372"/>
                </a:solidFill>
                <a:latin typeface="Calibri"/>
              </a:rPr>
              <a:t>HTML 404 page vs HAL with _links</a:t>
            </a:r>
          </a:p>
        </p:txBody>
      </p:sp>
      <p:sp>
        <p:nvSpPr>
          <p:cNvPr id="29" name="Oval 28"/>
          <p:cNvSpPr/>
          <p:nvPr/>
        </p:nvSpPr>
        <p:spPr>
          <a:xfrm>
            <a:off x="548640" y="5733288"/>
            <a:ext cx="402336" cy="402336"/>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9</a:t>
            </a:r>
          </a:p>
        </p:txBody>
      </p:sp>
      <p:sp>
        <p:nvSpPr>
          <p:cNvPr id="30" name="TextBox 29"/>
          <p:cNvSpPr txBox="1"/>
          <p:nvPr/>
        </p:nvSpPr>
        <p:spPr>
          <a:xfrm>
            <a:off x="1188720" y="5696712"/>
            <a:ext cx="6035040" cy="475488"/>
          </a:xfrm>
          <a:prstGeom prst="rect">
            <a:avLst/>
          </a:prstGeom>
          <a:noFill/>
        </p:spPr>
        <p:txBody>
          <a:bodyPr wrap="square" anchor="ctr" lIns="0" rIns="0" tIns="0" bIns="0">
            <a:spAutoFit/>
          </a:bodyPr>
          <a:lstStyle/>
          <a:p>
            <a:pPr algn="l">
              <a:spcAft>
                <a:spcPts val="0"/>
              </a:spcAft>
            </a:pPr>
            <a:r>
              <a:rPr sz="1300" b="1" i="0">
                <a:solidFill>
                  <a:srgbClr val="1B2A41"/>
                </a:solidFill>
                <a:latin typeface="Courier New"/>
              </a:rPr>
              <a:t>-Dspring-boot.run.profiles=dev → /api/config</a:t>
            </a:r>
          </a:p>
        </p:txBody>
      </p:sp>
      <p:sp>
        <p:nvSpPr>
          <p:cNvPr id="31" name="TextBox 30"/>
          <p:cNvSpPr txBox="1"/>
          <p:nvPr/>
        </p:nvSpPr>
        <p:spPr>
          <a:xfrm>
            <a:off x="7315200" y="5696712"/>
            <a:ext cx="4297680" cy="475488"/>
          </a:xfrm>
          <a:prstGeom prst="rect">
            <a:avLst/>
          </a:prstGeom>
          <a:noFill/>
        </p:spPr>
        <p:txBody>
          <a:bodyPr wrap="square" anchor="ctr" lIns="0" rIns="0" tIns="0" bIns="0">
            <a:spAutoFit/>
          </a:bodyPr>
          <a:lstStyle/>
          <a:p>
            <a:pPr algn="l">
              <a:spcAft>
                <a:spcPts val="0"/>
              </a:spcAft>
            </a:pPr>
            <a:r>
              <a:rPr sz="1300" b="0" i="0">
                <a:solidFill>
                  <a:srgbClr val="5A6372"/>
                </a:solidFill>
                <a:latin typeface="Calibri"/>
              </a:rPr>
              <a:t>port 8081, PT30S, DEVELOPMENT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B2A41"/>
                </a:solidFill>
                <a:latin typeface="Cambria"/>
              </a:rPr>
              <a:t>Key defence questions</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A6372"/>
                </a:solidFill>
                <a:latin typeface="Calibri"/>
              </a:rPr>
              <a:t>Library Portal  ·  RWPSF 3305  ·  Kuat Bektursyn</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A6372"/>
                </a:solidFill>
                <a:latin typeface="Calibri"/>
              </a:rPr>
              <a:t>17</a:t>
            </a:r>
          </a:p>
        </p:txBody>
      </p:sp>
      <p:sp>
        <p:nvSpPr>
          <p:cNvPr id="5" name="Rounded Rectangle 4"/>
          <p:cNvSpPr/>
          <p:nvPr/>
        </p:nvSpPr>
        <p:spPr>
          <a:xfrm>
            <a:off x="548640" y="1463040"/>
            <a:ext cx="5394960" cy="105156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72768"/>
            <a:ext cx="493776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Why constructor injection?</a:t>
            </a:r>
          </a:p>
        </p:txBody>
      </p:sp>
      <p:sp>
        <p:nvSpPr>
          <p:cNvPr id="7" name="TextBox 6"/>
          <p:cNvSpPr txBox="1"/>
          <p:nvPr/>
        </p:nvSpPr>
        <p:spPr>
          <a:xfrm>
            <a:off x="777240" y="1965960"/>
            <a:ext cx="4937760" cy="45720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final fields, the object is always complete, easy to test</a:t>
            </a:r>
          </a:p>
        </p:txBody>
      </p:sp>
      <p:sp>
        <p:nvSpPr>
          <p:cNvPr id="8" name="Rounded Rectangle 7"/>
          <p:cNvSpPr/>
          <p:nvPr/>
        </p:nvSpPr>
        <p:spPr>
          <a:xfrm>
            <a:off x="6172200" y="1463040"/>
            <a:ext cx="5394960" cy="1051560"/>
          </a:xfrm>
          <a:prstGeom prst="roundRect">
            <a:avLst>
              <a:gd name="adj" fmla="val 8000"/>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72768"/>
            <a:ext cx="493776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Why 201 and a Location header?</a:t>
            </a:r>
          </a:p>
        </p:txBody>
      </p:sp>
      <p:sp>
        <p:nvSpPr>
          <p:cNvPr id="10" name="TextBox 9"/>
          <p:cNvSpPr txBox="1"/>
          <p:nvPr/>
        </p:nvSpPr>
        <p:spPr>
          <a:xfrm>
            <a:off x="6400800" y="1965960"/>
            <a:ext cx="4937760" cy="45720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a new resource was created; Location names its URI</a:t>
            </a:r>
          </a:p>
        </p:txBody>
      </p:sp>
      <p:sp>
        <p:nvSpPr>
          <p:cNvPr id="11" name="Rounded Rectangle 10"/>
          <p:cNvSpPr/>
          <p:nvPr/>
        </p:nvSpPr>
        <p:spPr>
          <a:xfrm>
            <a:off x="548640" y="2679192"/>
            <a:ext cx="5394960" cy="1051560"/>
          </a:xfrm>
          <a:prstGeom prst="roundRect">
            <a:avLst>
              <a:gd name="adj" fmla="val 8000"/>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788920"/>
            <a:ext cx="493776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Profile file or --argument?</a:t>
            </a:r>
          </a:p>
        </p:txBody>
      </p:sp>
      <p:sp>
        <p:nvSpPr>
          <p:cNvPr id="13" name="TextBox 12"/>
          <p:cNvSpPr txBox="1"/>
          <p:nvPr/>
        </p:nvSpPr>
        <p:spPr>
          <a:xfrm>
            <a:off x="777240" y="3182112"/>
            <a:ext cx="4937760" cy="45720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the command-line argument: a profile is just a PropertySource</a:t>
            </a:r>
          </a:p>
        </p:txBody>
      </p:sp>
      <p:sp>
        <p:nvSpPr>
          <p:cNvPr id="14" name="Rounded Rectangle 13"/>
          <p:cNvSpPr/>
          <p:nvPr/>
        </p:nvSpPr>
        <p:spPr>
          <a:xfrm>
            <a:off x="6172200" y="2679192"/>
            <a:ext cx="5394960" cy="105156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788920"/>
            <a:ext cx="493776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When 409 and not 400?</a:t>
            </a:r>
          </a:p>
        </p:txBody>
      </p:sp>
      <p:sp>
        <p:nvSpPr>
          <p:cNvPr id="16" name="TextBox 15"/>
          <p:cNvSpPr txBox="1"/>
          <p:nvPr/>
        </p:nvSpPr>
        <p:spPr>
          <a:xfrm>
            <a:off x="6400800" y="3182112"/>
            <a:ext cx="4937760" cy="45720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the request is valid but conflicts with the current state</a:t>
            </a:r>
          </a:p>
        </p:txBody>
      </p:sp>
      <p:sp>
        <p:nvSpPr>
          <p:cNvPr id="17" name="Rounded Rectangle 16"/>
          <p:cNvSpPr/>
          <p:nvPr/>
        </p:nvSpPr>
        <p:spPr>
          <a:xfrm>
            <a:off x="548640" y="3895344"/>
            <a:ext cx="5394960" cy="105156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05072"/>
            <a:ext cx="493776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Why is self-invocation not advised?</a:t>
            </a:r>
          </a:p>
        </p:txBody>
      </p:sp>
      <p:sp>
        <p:nvSpPr>
          <p:cNvPr id="19" name="TextBox 18"/>
          <p:cNvSpPr txBox="1"/>
          <p:nvPr/>
        </p:nvSpPr>
        <p:spPr>
          <a:xfrm>
            <a:off x="777240" y="4398264"/>
            <a:ext cx="4937760" cy="45720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this.method() skips the proxy → use a self reference</a:t>
            </a:r>
          </a:p>
        </p:txBody>
      </p:sp>
      <p:sp>
        <p:nvSpPr>
          <p:cNvPr id="20" name="Rounded Rectangle 19"/>
          <p:cNvSpPr/>
          <p:nvPr/>
        </p:nvSpPr>
        <p:spPr>
          <a:xfrm>
            <a:off x="6172200" y="3895344"/>
            <a:ext cx="5394960" cy="1051560"/>
          </a:xfrm>
          <a:prstGeom prst="roundRect">
            <a:avLst>
              <a:gd name="adj" fmla="val 8000"/>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005072"/>
            <a:ext cx="493776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What do 405 / 415 / 406 mean?</a:t>
            </a:r>
          </a:p>
        </p:txBody>
      </p:sp>
      <p:sp>
        <p:nvSpPr>
          <p:cNvPr id="22" name="TextBox 21"/>
          <p:cNvSpPr txBox="1"/>
          <p:nvPr/>
        </p:nvSpPr>
        <p:spPr>
          <a:xfrm>
            <a:off x="6400800" y="4398264"/>
            <a:ext cx="4937760" cy="45720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wrong method / body media type / response media type</a:t>
            </a:r>
          </a:p>
        </p:txBody>
      </p:sp>
      <p:sp>
        <p:nvSpPr>
          <p:cNvPr id="23" name="Rounded Rectangle 22"/>
          <p:cNvSpPr/>
          <p:nvPr/>
        </p:nvSpPr>
        <p:spPr>
          <a:xfrm>
            <a:off x="548640" y="5111496"/>
            <a:ext cx="5394960" cy="1051560"/>
          </a:xfrm>
          <a:prstGeom prst="roundRect">
            <a:avLst>
              <a:gd name="adj" fmla="val 8000"/>
            </a:avLst>
          </a:prstGeom>
          <a:solidFill>
            <a:srgbClr val="FFFFFF"/>
          </a:solidFill>
          <a:ln w="12700">
            <a:solidFill>
              <a:srgbClr val="D5DB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221224"/>
            <a:ext cx="493776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Why a separate BookForm?</a:t>
            </a:r>
          </a:p>
        </p:txBody>
      </p:sp>
      <p:sp>
        <p:nvSpPr>
          <p:cNvPr id="25" name="TextBox 24"/>
          <p:cNvSpPr txBox="1"/>
          <p:nvPr/>
        </p:nvSpPr>
        <p:spPr>
          <a:xfrm>
            <a:off x="777240" y="5614416"/>
            <a:ext cx="4937760" cy="45720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protects from mass assignment, keeps the user input</a:t>
            </a:r>
          </a:p>
        </p:txBody>
      </p:sp>
      <p:sp>
        <p:nvSpPr>
          <p:cNvPr id="26" name="Rounded Rectangle 25"/>
          <p:cNvSpPr/>
          <p:nvPr/>
        </p:nvSpPr>
        <p:spPr>
          <a:xfrm>
            <a:off x="6172200" y="5111496"/>
            <a:ext cx="5394960" cy="105156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5221224"/>
            <a:ext cx="4937760" cy="365760"/>
          </a:xfrm>
          <a:prstGeom prst="rect">
            <a:avLst/>
          </a:prstGeom>
          <a:noFill/>
        </p:spPr>
        <p:txBody>
          <a:bodyPr wrap="square" anchor="t" lIns="0" rIns="0" tIns="0" bIns="0">
            <a:spAutoFit/>
          </a:bodyPr>
          <a:lstStyle/>
          <a:p>
            <a:pPr algn="l">
              <a:spcAft>
                <a:spcPts val="0"/>
              </a:spcAft>
            </a:pPr>
            <a:r>
              <a:rPr sz="1500" b="1" i="0">
                <a:solidFill>
                  <a:srgbClr val="1B2A41"/>
                </a:solidFill>
                <a:latin typeface="Calibri"/>
              </a:rPr>
              <a:t>BindingResult not right after the form?</a:t>
            </a:r>
          </a:p>
        </p:txBody>
      </p:sp>
      <p:sp>
        <p:nvSpPr>
          <p:cNvPr id="28" name="TextBox 27"/>
          <p:cNvSpPr txBox="1"/>
          <p:nvPr/>
        </p:nvSpPr>
        <p:spPr>
          <a:xfrm>
            <a:off x="6400800" y="5614416"/>
            <a:ext cx="4937760" cy="457200"/>
          </a:xfrm>
          <a:prstGeom prst="rect">
            <a:avLst/>
          </a:prstGeom>
          <a:noFill/>
        </p:spPr>
        <p:txBody>
          <a:bodyPr wrap="square" anchor="t" lIns="0" rIns="0" tIns="0" bIns="0">
            <a:spAutoFit/>
          </a:bodyPr>
          <a:lstStyle/>
          <a:p>
            <a:pPr algn="l">
              <a:spcAft>
                <a:spcPts val="0"/>
              </a:spcAft>
            </a:pPr>
            <a:r>
              <a:rPr sz="1300" b="0" i="0">
                <a:solidFill>
                  <a:srgbClr val="5A6372"/>
                </a:solidFill>
                <a:latin typeface="Calibri"/>
              </a:rPr>
              <a:t>an exception and 400 instead of the form with errors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822960" y="914400"/>
            <a:ext cx="10515600" cy="914400"/>
          </a:xfrm>
          <a:prstGeom prst="rect">
            <a:avLst/>
          </a:prstGeom>
          <a:noFill/>
        </p:spPr>
        <p:txBody>
          <a:bodyPr wrap="square" anchor="t" lIns="0" rIns="0" tIns="0" bIns="0">
            <a:spAutoFit/>
          </a:bodyPr>
          <a:lstStyle/>
          <a:p>
            <a:pPr algn="l">
              <a:spcAft>
                <a:spcPts val="0"/>
              </a:spcAft>
            </a:pPr>
            <a:r>
              <a:rPr sz="4800" b="1" i="0">
                <a:solidFill>
                  <a:srgbClr val="FFFFFF"/>
                </a:solidFill>
                <a:latin typeface="Cambria"/>
              </a:rPr>
              <a:t>Summary</a:t>
            </a:r>
          </a:p>
        </p:txBody>
      </p:sp>
      <p:sp>
        <p:nvSpPr>
          <p:cNvPr id="3" name="Oval 2"/>
          <p:cNvSpPr/>
          <p:nvPr/>
        </p:nvSpPr>
        <p:spPr>
          <a:xfrm>
            <a:off x="822960" y="2286000"/>
            <a:ext cx="685800" cy="685800"/>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000">
                <a:solidFill>
                  <a:srgbClr val="FFFFFF"/>
                </a:solidFill>
                <a:latin typeface="Cambria"/>
              </a:rPr>
              <a:t>1</a:t>
            </a:r>
          </a:p>
        </p:txBody>
      </p:sp>
      <p:sp>
        <p:nvSpPr>
          <p:cNvPr id="4" name="TextBox 3"/>
          <p:cNvSpPr txBox="1"/>
          <p:nvPr/>
        </p:nvSpPr>
        <p:spPr>
          <a:xfrm>
            <a:off x="822960" y="3154680"/>
            <a:ext cx="3291840" cy="457200"/>
          </a:xfrm>
          <a:prstGeom prst="rect">
            <a:avLst/>
          </a:prstGeom>
          <a:noFill/>
        </p:spPr>
        <p:txBody>
          <a:bodyPr wrap="square" anchor="t" lIns="0" rIns="0" tIns="0" bIns="0">
            <a:spAutoFit/>
          </a:bodyPr>
          <a:lstStyle/>
          <a:p>
            <a:pPr algn="l">
              <a:spcAft>
                <a:spcPts val="0"/>
              </a:spcAft>
            </a:pPr>
            <a:r>
              <a:rPr sz="2200" b="1" i="0">
                <a:solidFill>
                  <a:srgbClr val="FFFFFF"/>
                </a:solidFill>
                <a:latin typeface="Calibri"/>
              </a:rPr>
              <a:t>One application</a:t>
            </a:r>
          </a:p>
        </p:txBody>
      </p:sp>
      <p:sp>
        <p:nvSpPr>
          <p:cNvPr id="5" name="TextBox 4"/>
          <p:cNvSpPr txBox="1"/>
          <p:nvPr/>
        </p:nvSpPr>
        <p:spPr>
          <a:xfrm>
            <a:off x="822960" y="3657600"/>
            <a:ext cx="3291840" cy="914400"/>
          </a:xfrm>
          <a:prstGeom prst="rect">
            <a:avLst/>
          </a:prstGeom>
          <a:noFill/>
        </p:spPr>
        <p:txBody>
          <a:bodyPr wrap="square" anchor="t" lIns="0" rIns="0" tIns="0" bIns="0">
            <a:spAutoFit/>
          </a:bodyPr>
          <a:lstStyle/>
          <a:p>
            <a:pPr algn="l">
              <a:spcAft>
                <a:spcPts val="0"/>
              </a:spcAft>
            </a:pPr>
            <a:r>
              <a:rPr sz="1500" b="0" i="0">
                <a:solidFill>
                  <a:srgbClr val="E4E8EF"/>
                </a:solidFill>
                <a:latin typeface="Calibri"/>
              </a:rPr>
              <a:t>a library catalogue instead of seven separate demos</a:t>
            </a:r>
          </a:p>
        </p:txBody>
      </p:sp>
      <p:sp>
        <p:nvSpPr>
          <p:cNvPr id="6" name="Oval 5"/>
          <p:cNvSpPr/>
          <p:nvPr/>
        </p:nvSpPr>
        <p:spPr>
          <a:xfrm>
            <a:off x="4434840" y="2286000"/>
            <a:ext cx="685800" cy="685800"/>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000">
                <a:solidFill>
                  <a:srgbClr val="FFFFFF"/>
                </a:solidFill>
                <a:latin typeface="Cambria"/>
              </a:rPr>
              <a:t>2</a:t>
            </a:r>
          </a:p>
        </p:txBody>
      </p:sp>
      <p:sp>
        <p:nvSpPr>
          <p:cNvPr id="7" name="TextBox 6"/>
          <p:cNvSpPr txBox="1"/>
          <p:nvPr/>
        </p:nvSpPr>
        <p:spPr>
          <a:xfrm>
            <a:off x="4434840" y="3154680"/>
            <a:ext cx="3291840" cy="457200"/>
          </a:xfrm>
          <a:prstGeom prst="rect">
            <a:avLst/>
          </a:prstGeom>
          <a:noFill/>
        </p:spPr>
        <p:txBody>
          <a:bodyPr wrap="square" anchor="t" lIns="0" rIns="0" tIns="0" bIns="0">
            <a:spAutoFit/>
          </a:bodyPr>
          <a:lstStyle/>
          <a:p>
            <a:pPr algn="l">
              <a:spcAft>
                <a:spcPts val="0"/>
              </a:spcAft>
            </a:pPr>
            <a:r>
              <a:rPr sz="2200" b="1" i="0">
                <a:solidFill>
                  <a:srgbClr val="FFFFFF"/>
                </a:solidFill>
                <a:latin typeface="Calibri"/>
              </a:rPr>
              <a:t>Seven variants</a:t>
            </a:r>
          </a:p>
        </p:txBody>
      </p:sp>
      <p:sp>
        <p:nvSpPr>
          <p:cNvPr id="8" name="TextBox 7"/>
          <p:cNvSpPr txBox="1"/>
          <p:nvPr/>
        </p:nvSpPr>
        <p:spPr>
          <a:xfrm>
            <a:off x="4434840" y="3657600"/>
            <a:ext cx="3291840" cy="914400"/>
          </a:xfrm>
          <a:prstGeom prst="rect">
            <a:avLst/>
          </a:prstGeom>
          <a:noFill/>
        </p:spPr>
        <p:txBody>
          <a:bodyPr wrap="square" anchor="t" lIns="0" rIns="0" tIns="0" bIns="0">
            <a:spAutoFit/>
          </a:bodyPr>
          <a:lstStyle/>
          <a:p>
            <a:pPr algn="l">
              <a:spcAft>
                <a:spcPts val="0"/>
              </a:spcAft>
            </a:pPr>
            <a:r>
              <a:rPr sz="1500" b="0" i="0">
                <a:solidFill>
                  <a:srgbClr val="E4E8EF"/>
                </a:solidFill>
                <a:latin typeface="Calibri"/>
              </a:rPr>
              <a:t>V7 · V8 · V7 · V8 · V6 · V7 · V7 — implemented and connected</a:t>
            </a:r>
          </a:p>
        </p:txBody>
      </p:sp>
      <p:sp>
        <p:nvSpPr>
          <p:cNvPr id="9" name="Oval 8"/>
          <p:cNvSpPr/>
          <p:nvPr/>
        </p:nvSpPr>
        <p:spPr>
          <a:xfrm>
            <a:off x="8046720" y="2286000"/>
            <a:ext cx="685800" cy="685800"/>
          </a:xfrm>
          <a:prstGeom prst="ellipse">
            <a:avLst/>
          </a:prstGeom>
          <a:solidFill>
            <a:srgbClr val="B08A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000">
                <a:solidFill>
                  <a:srgbClr val="FFFFFF"/>
                </a:solidFill>
                <a:latin typeface="Cambria"/>
              </a:rPr>
              <a:t>3</a:t>
            </a:r>
          </a:p>
        </p:txBody>
      </p:sp>
      <p:sp>
        <p:nvSpPr>
          <p:cNvPr id="10" name="TextBox 9"/>
          <p:cNvSpPr txBox="1"/>
          <p:nvPr/>
        </p:nvSpPr>
        <p:spPr>
          <a:xfrm>
            <a:off x="8046720" y="3154680"/>
            <a:ext cx="3291840" cy="457200"/>
          </a:xfrm>
          <a:prstGeom prst="rect">
            <a:avLst/>
          </a:prstGeom>
          <a:noFill/>
        </p:spPr>
        <p:txBody>
          <a:bodyPr wrap="square" anchor="t" lIns="0" rIns="0" tIns="0" bIns="0">
            <a:spAutoFit/>
          </a:bodyPr>
          <a:lstStyle/>
          <a:p>
            <a:pPr algn="l">
              <a:spcAft>
                <a:spcPts val="0"/>
              </a:spcAft>
            </a:pPr>
            <a:r>
              <a:rPr sz="2200" b="1" i="0">
                <a:solidFill>
                  <a:srgbClr val="FFFFFF"/>
                </a:solidFill>
                <a:latin typeface="Calibri"/>
              </a:rPr>
              <a:t>32 tests</a:t>
            </a:r>
          </a:p>
        </p:txBody>
      </p:sp>
      <p:sp>
        <p:nvSpPr>
          <p:cNvPr id="11" name="TextBox 10"/>
          <p:cNvSpPr txBox="1"/>
          <p:nvPr/>
        </p:nvSpPr>
        <p:spPr>
          <a:xfrm>
            <a:off x="8046720" y="3657600"/>
            <a:ext cx="3291840" cy="914400"/>
          </a:xfrm>
          <a:prstGeom prst="rect">
            <a:avLst/>
          </a:prstGeom>
          <a:noFill/>
        </p:spPr>
        <p:txBody>
          <a:bodyPr wrap="square" anchor="t" lIns="0" rIns="0" tIns="0" bIns="0">
            <a:spAutoFit/>
          </a:bodyPr>
          <a:lstStyle/>
          <a:p>
            <a:pPr algn="l">
              <a:spcAft>
                <a:spcPts val="0"/>
              </a:spcAft>
            </a:pPr>
            <a:r>
              <a:rPr sz="1500" b="0" i="0">
                <a:solidFill>
                  <a:srgbClr val="E4E8EF"/>
                </a:solidFill>
                <a:latin typeface="Calibri"/>
              </a:rPr>
              <a:t>every experiment from the reports is reproduced</a:t>
            </a:r>
          </a:p>
        </p:txBody>
      </p:sp>
      <p:sp>
        <p:nvSpPr>
          <p:cNvPr id="12" name="TextBox 11"/>
          <p:cNvSpPr txBox="1"/>
          <p:nvPr/>
        </p:nvSpPr>
        <p:spPr>
          <a:xfrm>
            <a:off x="822960" y="5120640"/>
            <a:ext cx="10515600" cy="548640"/>
          </a:xfrm>
          <a:prstGeom prst="rect">
            <a:avLst/>
          </a:prstGeom>
          <a:noFill/>
        </p:spPr>
        <p:txBody>
          <a:bodyPr wrap="square" anchor="t" lIns="0" rIns="0" tIns="0" bIns="0">
            <a:spAutoFit/>
          </a:bodyPr>
          <a:lstStyle/>
          <a:p>
            <a:pPr algn="l">
              <a:spcAft>
                <a:spcPts val="0"/>
              </a:spcAft>
            </a:pPr>
            <a:r>
              <a:rPr sz="2400" b="0" i="0">
                <a:solidFill>
                  <a:srgbClr val="FFFFFF"/>
                </a:solidFill>
                <a:latin typeface="Calibri"/>
              </a:rPr>
              <a:t>Thank you for your attention! Questions are welcome.</a:t>
            </a:r>
          </a:p>
        </p:txBody>
      </p:sp>
      <p:sp>
        <p:nvSpPr>
          <p:cNvPr id="13" name="TextBox 12"/>
          <p:cNvSpPr txBox="1"/>
          <p:nvPr/>
        </p:nvSpPr>
        <p:spPr>
          <a:xfrm>
            <a:off x="822960" y="5760720"/>
            <a:ext cx="10515600" cy="365760"/>
          </a:xfrm>
          <a:prstGeom prst="rect">
            <a:avLst/>
          </a:prstGeom>
          <a:noFill/>
        </p:spPr>
        <p:txBody>
          <a:bodyPr wrap="square" anchor="t" lIns="0" rIns="0" tIns="0" bIns="0">
            <a:spAutoFit/>
          </a:bodyPr>
          <a:lstStyle/>
          <a:p>
            <a:pPr algn="l">
              <a:spcAft>
                <a:spcPts val="0"/>
              </a:spcAft>
            </a:pPr>
            <a:r>
              <a:rPr sz="1600" b="0" i="0">
                <a:solidFill>
                  <a:srgbClr val="B08A3E"/>
                </a:solidFill>
                <a:latin typeface="Calibri"/>
              </a:rPr>
              <a:t>github.com/AkAyu44/library-portal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